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1.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2.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notesSlides/notesSlide3.xml" ContentType="application/vnd.openxmlformats-officedocument.presentationml.notesSlide+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41.xml" ContentType="application/vnd.openxmlformats-officedocument.presentationml.tags+xml"/>
  <Override PartName="/ppt/tags/tag242.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66"/>
  </p:notesMasterIdLst>
  <p:handoutMasterIdLst>
    <p:handoutMasterId r:id="rId67"/>
  </p:handoutMasterIdLst>
  <p:sldIdLst>
    <p:sldId id="1368" r:id="rId3"/>
    <p:sldId id="1369" r:id="rId4"/>
    <p:sldId id="1052" r:id="rId5"/>
    <p:sldId id="1214" r:id="rId6"/>
    <p:sldId id="1139" r:id="rId7"/>
    <p:sldId id="1054" r:id="rId8"/>
    <p:sldId id="1055" r:id="rId9"/>
    <p:sldId id="796" r:id="rId10"/>
    <p:sldId id="842" r:id="rId11"/>
    <p:sldId id="797" r:id="rId12"/>
    <p:sldId id="1056" r:id="rId13"/>
    <p:sldId id="1057" r:id="rId14"/>
    <p:sldId id="1058" r:id="rId15"/>
    <p:sldId id="1059" r:id="rId16"/>
    <p:sldId id="1060" r:id="rId17"/>
    <p:sldId id="1061" r:id="rId18"/>
    <p:sldId id="1063" r:id="rId19"/>
    <p:sldId id="798" r:id="rId20"/>
    <p:sldId id="1215" r:id="rId21"/>
    <p:sldId id="799" r:id="rId22"/>
    <p:sldId id="895" r:id="rId23"/>
    <p:sldId id="800" r:id="rId24"/>
    <p:sldId id="1314" r:id="rId25"/>
    <p:sldId id="1365" r:id="rId26"/>
    <p:sldId id="1359" r:id="rId27"/>
    <p:sldId id="1360" r:id="rId28"/>
    <p:sldId id="1361" r:id="rId29"/>
    <p:sldId id="1362" r:id="rId30"/>
    <p:sldId id="1363" r:id="rId31"/>
    <p:sldId id="1364" r:id="rId32"/>
    <p:sldId id="1366" r:id="rId33"/>
    <p:sldId id="1367" r:id="rId34"/>
    <p:sldId id="801" r:id="rId35"/>
    <p:sldId id="802" r:id="rId36"/>
    <p:sldId id="843" r:id="rId37"/>
    <p:sldId id="803" r:id="rId38"/>
    <p:sldId id="1291" r:id="rId39"/>
    <p:sldId id="1217" r:id="rId40"/>
    <p:sldId id="804" r:id="rId41"/>
    <p:sldId id="805" r:id="rId42"/>
    <p:sldId id="806" r:id="rId43"/>
    <p:sldId id="1064" r:id="rId44"/>
    <p:sldId id="1065" r:id="rId45"/>
    <p:sldId id="807" r:id="rId46"/>
    <p:sldId id="808" r:id="rId47"/>
    <p:sldId id="1010" r:id="rId48"/>
    <p:sldId id="1011" r:id="rId49"/>
    <p:sldId id="1012" r:id="rId50"/>
    <p:sldId id="809" r:id="rId51"/>
    <p:sldId id="1370" r:id="rId52"/>
    <p:sldId id="845" r:id="rId53"/>
    <p:sldId id="1013" r:id="rId54"/>
    <p:sldId id="1218" r:id="rId55"/>
    <p:sldId id="1315" r:id="rId56"/>
    <p:sldId id="810" r:id="rId57"/>
    <p:sldId id="811" r:id="rId58"/>
    <p:sldId id="846" r:id="rId59"/>
    <p:sldId id="813" r:id="rId60"/>
    <p:sldId id="814" r:id="rId61"/>
    <p:sldId id="815" r:id="rId62"/>
    <p:sldId id="816" r:id="rId63"/>
    <p:sldId id="1354" r:id="rId64"/>
    <p:sldId id="1371" r:id="rId65"/>
  </p:sldIdLst>
  <p:sldSz cx="9144000" cy="6858000" type="screen4x3"/>
  <p:notesSz cx="6797675" cy="9926638"/>
  <p:custDataLst>
    <p:tags r:id="rId68"/>
  </p:custDataLst>
  <p:defaultTextStyle>
    <a:defPPr>
      <a:defRPr lang="zh-CN"/>
    </a:defPPr>
    <a:lvl1pPr marL="0" lvl="0"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201" userDrawn="1">
          <p15:clr>
            <a:srgbClr val="A4A3A4"/>
          </p15:clr>
        </p15:guide>
        <p15:guide id="2" pos="571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zhou" initials="LZ" lastIdx="3" clrIdx="0"/>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B2B6BF"/>
    <a:srgbClr val="8DD1E2"/>
    <a:srgbClr val="8BCDDB"/>
    <a:srgbClr val="BE3A3A"/>
    <a:srgbClr val="0033CC"/>
    <a:srgbClr val="00FF00"/>
    <a:srgbClr val="000000"/>
    <a:srgbClr val="EBDEC9"/>
    <a:srgbClr val="8068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929" autoAdjust="0"/>
  </p:normalViewPr>
  <p:slideViewPr>
    <p:cSldViewPr showGuides="1">
      <p:cViewPr varScale="1">
        <p:scale>
          <a:sx n="70" d="100"/>
          <a:sy n="70" d="100"/>
        </p:scale>
        <p:origin x="590" y="82"/>
      </p:cViewPr>
      <p:guideLst>
        <p:guide orient="horz" pos="4201"/>
        <p:guide pos="571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200" d="100"/>
        <a:sy n="200" d="100"/>
      </p:scale>
      <p:origin x="0" y="-23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3A49B01-45F7-440E-A740-D2777376B3C6}" type="doc">
      <dgm:prSet loTypeId="urn:microsoft.com/office/officeart/2005/8/layout/pyramid4" loCatId="relationship" qsTypeId="urn:microsoft.com/office/officeart/2005/8/quickstyle/simple1#4" qsCatId="simple" csTypeId="urn:microsoft.com/office/officeart/2005/8/colors/colorful1#5" csCatId="colorful" phldr="1"/>
      <dgm:spPr/>
      <dgm:t>
        <a:bodyPr/>
        <a:lstStyle/>
        <a:p>
          <a:endParaRPr lang="zh-CN" altLang="en-US"/>
        </a:p>
      </dgm:t>
    </dgm:pt>
    <dgm:pt modelId="{F9ADC137-EF82-4020-81B4-5B3FA5B3442F}">
      <dgm:prSet phldrT="[文本]" phldr="0" custT="1"/>
      <dgm:spPr>
        <a:xfrm>
          <a:off x="2372320" y="0"/>
          <a:ext cx="2456160" cy="2456160"/>
        </a:xfrm>
        <a:prstGeom prst="triangle">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vert="horz" wrap="square"/>
        <a:lstStyle/>
        <a:p>
          <a:pPr>
            <a:lnSpc>
              <a:spcPct val="100000"/>
            </a:lnSpc>
            <a:spcBef>
              <a:spcPct val="0"/>
            </a:spcBef>
            <a:spcAft>
              <a:spcPct val="35000"/>
            </a:spcAft>
          </a:pPr>
          <a:r>
            <a:rPr lang="en-US" altLang="zh-CN" sz="1600" dirty="0">
              <a:solidFill>
                <a:sysClr val="window" lastClr="FFFFFF"/>
              </a:solidFill>
              <a:latin typeface="Calibri" panose="020F0502020204030204"/>
              <a:ea typeface="等线" panose="02010600030101010101" pitchFamily="2" charset="-122"/>
              <a:cs typeface="+mn-cs"/>
            </a:rPr>
            <a:t>Foreign Languages learning</a:t>
          </a:r>
        </a:p>
        <a:p>
          <a:pPr>
            <a:lnSpc>
              <a:spcPct val="100000"/>
            </a:lnSpc>
            <a:spcBef>
              <a:spcPct val="0"/>
            </a:spcBef>
            <a:spcAft>
              <a:spcPct val="35000"/>
            </a:spcAft>
          </a:pPr>
          <a:r>
            <a:rPr lang="zh-CN" altLang="en-US" sz="1600" dirty="0">
              <a:solidFill>
                <a:sysClr val="window" lastClr="FFFFFF"/>
              </a:solidFill>
              <a:latin typeface="Calibri" panose="020F0502020204030204"/>
              <a:ea typeface="等线" panose="02010600030101010101" pitchFamily="2" charset="-122"/>
              <a:cs typeface="+mn-cs"/>
            </a:rPr>
            <a:t>外语学习</a:t>
          </a:r>
        </a:p>
      </dgm:t>
    </dgm:pt>
    <dgm:pt modelId="{6722E13F-EB34-417A-9754-BE1C9A53D97B}" type="parTrans" cxnId="{05ADA529-5E3F-461B-ACF6-737506F7C22F}">
      <dgm:prSet/>
      <dgm:spPr/>
      <dgm:t>
        <a:bodyPr/>
        <a:lstStyle/>
        <a:p>
          <a:endParaRPr lang="zh-CN" altLang="en-US"/>
        </a:p>
      </dgm:t>
    </dgm:pt>
    <dgm:pt modelId="{030EC447-CB39-4FBC-9B4C-6048298EAFBA}" type="sibTrans" cxnId="{05ADA529-5E3F-461B-ACF6-737506F7C22F}">
      <dgm:prSet/>
      <dgm:spPr/>
      <dgm:t>
        <a:bodyPr/>
        <a:lstStyle/>
        <a:p>
          <a:endParaRPr lang="zh-CN" altLang="en-US"/>
        </a:p>
      </dgm:t>
    </dgm:pt>
    <dgm:pt modelId="{13F4AC1B-DA32-420D-AEC5-ED96FB981233}">
      <dgm:prSet phldrT="[文本]" phldr="0" custT="1"/>
      <dgm:spPr>
        <a:xfrm>
          <a:off x="1144239" y="2456160"/>
          <a:ext cx="2456160" cy="2456160"/>
        </a:xfrm>
        <a:prstGeom prst="triangl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vert="horz" wrap="square"/>
        <a:lstStyle/>
        <a:p>
          <a:pPr>
            <a:lnSpc>
              <a:spcPct val="100000"/>
            </a:lnSpc>
            <a:spcBef>
              <a:spcPct val="0"/>
            </a:spcBef>
            <a:spcAft>
              <a:spcPct val="35000"/>
            </a:spcAft>
          </a:pPr>
          <a:r>
            <a:rPr lang="en-US" altLang="zh-CN" sz="2000" dirty="0">
              <a:solidFill>
                <a:srgbClr val="FF0000"/>
              </a:solidFill>
              <a:latin typeface="Calibri" panose="020F0502020204030204"/>
              <a:ea typeface="等线" panose="02010600030101010101" pitchFamily="2" charset="-122"/>
              <a:cs typeface="+mn-cs"/>
            </a:rPr>
            <a:t>Style</a:t>
          </a:r>
        </a:p>
        <a:p>
          <a:pPr>
            <a:lnSpc>
              <a:spcPct val="100000"/>
            </a:lnSpc>
            <a:spcBef>
              <a:spcPct val="0"/>
            </a:spcBef>
            <a:spcAft>
              <a:spcPct val="35000"/>
            </a:spcAft>
          </a:pPr>
          <a:r>
            <a:rPr lang="en-US" altLang="zh-CN" sz="2000" dirty="0">
              <a:solidFill>
                <a:srgbClr val="FF0000"/>
              </a:solidFill>
              <a:latin typeface="Calibri" panose="020F0502020204030204"/>
              <a:ea typeface="等线" panose="02010600030101010101" pitchFamily="2" charset="-122"/>
              <a:cs typeface="+mn-cs"/>
            </a:rPr>
            <a:t>faith</a:t>
          </a:r>
        </a:p>
        <a:p>
          <a:pPr>
            <a:lnSpc>
              <a:spcPct val="100000"/>
            </a:lnSpc>
            <a:spcBef>
              <a:spcPct val="0"/>
            </a:spcBef>
            <a:spcAft>
              <a:spcPct val="35000"/>
            </a:spcAft>
          </a:pPr>
          <a:r>
            <a:rPr lang="zh-CN" altLang="en-US" sz="2000" dirty="0">
              <a:solidFill>
                <a:srgbClr val="FF0000"/>
              </a:solidFill>
              <a:latin typeface="Calibri" panose="020F0502020204030204"/>
              <a:ea typeface="等线" panose="02010600030101010101" pitchFamily="2" charset="-122"/>
              <a:cs typeface="+mn-cs"/>
            </a:rPr>
            <a:t>美学表达</a:t>
          </a:r>
        </a:p>
      </dgm:t>
    </dgm:pt>
    <dgm:pt modelId="{D9911C5C-8625-40EC-8323-B8BB5E85FBB7}" type="parTrans" cxnId="{B28E8D84-BA47-476D-969D-E05FA7519167}">
      <dgm:prSet/>
      <dgm:spPr/>
      <dgm:t>
        <a:bodyPr/>
        <a:lstStyle/>
        <a:p>
          <a:endParaRPr lang="zh-CN" altLang="en-US"/>
        </a:p>
      </dgm:t>
    </dgm:pt>
    <dgm:pt modelId="{FB436143-D955-498F-8758-8CAC01A3F988}" type="sibTrans" cxnId="{B28E8D84-BA47-476D-969D-E05FA7519167}">
      <dgm:prSet/>
      <dgm:spPr/>
      <dgm:t>
        <a:bodyPr/>
        <a:lstStyle/>
        <a:p>
          <a:endParaRPr lang="zh-CN" altLang="en-US"/>
        </a:p>
      </dgm:t>
    </dgm:pt>
    <dgm:pt modelId="{20BB02BA-8AF0-477A-A034-AD44BD78CE25}">
      <dgm:prSet phldrT="[文本]" phldr="0" custT="0"/>
      <dgm:spPr>
        <a:xfrm rot="10800000">
          <a:off x="2372320" y="2456160"/>
          <a:ext cx="2456160" cy="2456160"/>
        </a:xfrm>
        <a:prstGeom prst="triangle">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vert="horz" wrap="square"/>
        <a:lstStyle/>
        <a:p>
          <a:pPr>
            <a:lnSpc>
              <a:spcPct val="100000"/>
            </a:lnSpc>
            <a:spcBef>
              <a:spcPct val="0"/>
            </a:spcBef>
            <a:spcAft>
              <a:spcPct val="35000"/>
            </a:spcAft>
          </a:pPr>
          <a:r>
            <a:rPr lang="en-US" altLang="zh-CN" dirty="0">
              <a:solidFill>
                <a:srgbClr val="0070C0"/>
              </a:solidFill>
              <a:latin typeface="Calibri" panose="020F0502020204030204"/>
              <a:ea typeface="等线" panose="02010600030101010101" pitchFamily="2" charset="-122"/>
              <a:cs typeface="+mn-cs"/>
            </a:rPr>
            <a:t>Following</a:t>
          </a:r>
        </a:p>
        <a:p>
          <a:pPr>
            <a:lnSpc>
              <a:spcPct val="100000"/>
            </a:lnSpc>
            <a:spcBef>
              <a:spcPct val="0"/>
            </a:spcBef>
            <a:spcAft>
              <a:spcPct val="35000"/>
            </a:spcAft>
          </a:pPr>
          <a:r>
            <a:rPr lang="en-US" altLang="zh-CN" dirty="0">
              <a:solidFill>
                <a:srgbClr val="0070C0"/>
              </a:solidFill>
              <a:latin typeface="Calibri" panose="020F0502020204030204"/>
              <a:ea typeface="等线" panose="02010600030101010101" pitchFamily="2" charset="-122"/>
              <a:cs typeface="+mn-cs"/>
            </a:rPr>
            <a:t>attitude</a:t>
          </a:r>
        </a:p>
        <a:p>
          <a:pPr>
            <a:lnSpc>
              <a:spcPct val="100000"/>
            </a:lnSpc>
            <a:spcBef>
              <a:spcPct val="0"/>
            </a:spcBef>
            <a:spcAft>
              <a:spcPct val="35000"/>
            </a:spcAft>
          </a:pPr>
          <a:r>
            <a:rPr lang="zh-CN" altLang="en-US" dirty="0">
              <a:solidFill>
                <a:srgbClr val="0070C0"/>
              </a:solidFill>
              <a:latin typeface="Calibri" panose="020F0502020204030204"/>
              <a:ea typeface="等线" panose="02010600030101010101" pitchFamily="2" charset="-122"/>
              <a:cs typeface="+mn-cs"/>
            </a:rPr>
            <a:t>创新驱动</a:t>
          </a:r>
        </a:p>
      </dgm:t>
    </dgm:pt>
    <dgm:pt modelId="{FD9A0E22-D310-4332-8C60-D6B4B103A5AC}" type="parTrans" cxnId="{B7B0BE3A-B875-4998-9ED0-8AAE602D340B}">
      <dgm:prSet/>
      <dgm:spPr/>
      <dgm:t>
        <a:bodyPr/>
        <a:lstStyle/>
        <a:p>
          <a:endParaRPr lang="zh-CN" altLang="en-US"/>
        </a:p>
      </dgm:t>
    </dgm:pt>
    <dgm:pt modelId="{679C5A29-B546-429A-B953-575864EA2E8B}" type="sibTrans" cxnId="{B7B0BE3A-B875-4998-9ED0-8AAE602D340B}">
      <dgm:prSet/>
      <dgm:spPr/>
      <dgm:t>
        <a:bodyPr/>
        <a:lstStyle/>
        <a:p>
          <a:endParaRPr lang="zh-CN" altLang="en-US"/>
        </a:p>
      </dgm:t>
    </dgm:pt>
    <dgm:pt modelId="{B60A0857-5270-47A2-9F13-7B5EECF2330F}">
      <dgm:prSet phldrT="[文本]" phldr="0" custT="0"/>
      <dgm:spPr>
        <a:xfrm>
          <a:off x="3600400" y="2456160"/>
          <a:ext cx="2456160" cy="2456160"/>
        </a:xfrm>
        <a:prstGeom prst="triangle">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vert="horz" wrap="square"/>
        <a:lstStyle/>
        <a:p>
          <a:pPr>
            <a:lnSpc>
              <a:spcPct val="100000"/>
            </a:lnSpc>
            <a:spcBef>
              <a:spcPct val="0"/>
            </a:spcBef>
            <a:spcAft>
              <a:spcPct val="35000"/>
            </a:spcAft>
          </a:pPr>
          <a:r>
            <a:rPr lang="en-US" altLang="zh-CN" dirty="0">
              <a:solidFill>
                <a:schemeClr val="bg1"/>
              </a:solidFill>
              <a:latin typeface="Calibri" panose="020F0502020204030204"/>
              <a:ea typeface="等线" panose="02010600030101010101" pitchFamily="2" charset="-122"/>
              <a:cs typeface="+mn-cs"/>
            </a:rPr>
            <a:t>Scientific</a:t>
          </a:r>
        </a:p>
        <a:p>
          <a:pPr>
            <a:lnSpc>
              <a:spcPct val="100000"/>
            </a:lnSpc>
            <a:spcBef>
              <a:spcPct val="0"/>
            </a:spcBef>
            <a:spcAft>
              <a:spcPct val="35000"/>
            </a:spcAft>
          </a:pPr>
          <a:r>
            <a:rPr lang="en-US" altLang="zh-CN" dirty="0">
              <a:solidFill>
                <a:schemeClr val="bg1"/>
              </a:solidFill>
              <a:latin typeface="Calibri" panose="020F0502020204030204"/>
              <a:ea typeface="等线" panose="02010600030101010101" pitchFamily="2" charset="-122"/>
              <a:cs typeface="+mn-cs"/>
            </a:rPr>
            <a:t>horizon</a:t>
          </a:r>
        </a:p>
        <a:p>
          <a:pPr>
            <a:lnSpc>
              <a:spcPct val="100000"/>
            </a:lnSpc>
            <a:spcBef>
              <a:spcPct val="0"/>
            </a:spcBef>
            <a:spcAft>
              <a:spcPct val="35000"/>
            </a:spcAft>
          </a:pPr>
          <a:r>
            <a:rPr lang="zh-CN" altLang="en-US" dirty="0">
              <a:solidFill>
                <a:schemeClr val="bg1"/>
              </a:solidFill>
              <a:latin typeface="Calibri" panose="020F0502020204030204"/>
              <a:ea typeface="等线" panose="02010600030101010101" pitchFamily="2" charset="-122"/>
              <a:cs typeface="+mn-cs"/>
            </a:rPr>
            <a:t>科学视角</a:t>
          </a:r>
        </a:p>
      </dgm:t>
    </dgm:pt>
    <dgm:pt modelId="{23AA5EB8-7CC6-452C-AD85-75F05DE62C33}" type="parTrans" cxnId="{8EAC8D82-E471-4359-A349-ACC83D7AE8E3}">
      <dgm:prSet/>
      <dgm:spPr/>
      <dgm:t>
        <a:bodyPr/>
        <a:lstStyle/>
        <a:p>
          <a:endParaRPr lang="zh-CN" altLang="en-US"/>
        </a:p>
      </dgm:t>
    </dgm:pt>
    <dgm:pt modelId="{7EF2BFF3-D28B-4B98-9EDA-7919A813541B}" type="sibTrans" cxnId="{8EAC8D82-E471-4359-A349-ACC83D7AE8E3}">
      <dgm:prSet/>
      <dgm:spPr/>
      <dgm:t>
        <a:bodyPr/>
        <a:lstStyle/>
        <a:p>
          <a:endParaRPr lang="zh-CN" altLang="en-US"/>
        </a:p>
      </dgm:t>
    </dgm:pt>
    <dgm:pt modelId="{7A93CF20-C3DF-4734-8B25-65D681AC49BE}" type="pres">
      <dgm:prSet presAssocID="{03A49B01-45F7-440E-A740-D2777376B3C6}" presName="compositeShape" presStyleCnt="0">
        <dgm:presLayoutVars>
          <dgm:chMax val="9"/>
          <dgm:dir/>
          <dgm:resizeHandles val="exact"/>
        </dgm:presLayoutVars>
      </dgm:prSet>
      <dgm:spPr/>
    </dgm:pt>
    <dgm:pt modelId="{193ACF4D-9339-4A21-AF8C-497FA97EB46F}" type="pres">
      <dgm:prSet presAssocID="{03A49B01-45F7-440E-A740-D2777376B3C6}" presName="triangle1" presStyleLbl="node1" presStyleIdx="0" presStyleCnt="4">
        <dgm:presLayoutVars>
          <dgm:bulletEnabled val="1"/>
        </dgm:presLayoutVars>
      </dgm:prSet>
      <dgm:spPr/>
    </dgm:pt>
    <dgm:pt modelId="{E3B55782-0409-45CD-9AED-FEF48D094B60}" type="pres">
      <dgm:prSet presAssocID="{03A49B01-45F7-440E-A740-D2777376B3C6}" presName="triangle2" presStyleLbl="node1" presStyleIdx="1" presStyleCnt="4">
        <dgm:presLayoutVars>
          <dgm:bulletEnabled val="1"/>
        </dgm:presLayoutVars>
      </dgm:prSet>
      <dgm:spPr/>
    </dgm:pt>
    <dgm:pt modelId="{4889BCBE-E6D6-4BF5-87B1-26266A73E236}" type="pres">
      <dgm:prSet presAssocID="{03A49B01-45F7-440E-A740-D2777376B3C6}" presName="triangle3" presStyleLbl="node1" presStyleIdx="2" presStyleCnt="4">
        <dgm:presLayoutVars>
          <dgm:bulletEnabled val="1"/>
        </dgm:presLayoutVars>
      </dgm:prSet>
      <dgm:spPr/>
    </dgm:pt>
    <dgm:pt modelId="{45767B67-D049-46E2-866E-221BB06882FC}" type="pres">
      <dgm:prSet presAssocID="{03A49B01-45F7-440E-A740-D2777376B3C6}" presName="triangle4" presStyleLbl="node1" presStyleIdx="3" presStyleCnt="4">
        <dgm:presLayoutVars>
          <dgm:bulletEnabled val="1"/>
        </dgm:presLayoutVars>
      </dgm:prSet>
      <dgm:spPr/>
    </dgm:pt>
  </dgm:ptLst>
  <dgm:cxnLst>
    <dgm:cxn modelId="{05ADA529-5E3F-461B-ACF6-737506F7C22F}" srcId="{03A49B01-45F7-440E-A740-D2777376B3C6}" destId="{F9ADC137-EF82-4020-81B4-5B3FA5B3442F}" srcOrd="0" destOrd="0" parTransId="{6722E13F-EB34-417A-9754-BE1C9A53D97B}" sibTransId="{030EC447-CB39-4FBC-9B4C-6048298EAFBA}"/>
    <dgm:cxn modelId="{29C04437-D020-46BA-99C9-A18B01D895E7}" type="presOf" srcId="{20BB02BA-8AF0-477A-A034-AD44BD78CE25}" destId="{4889BCBE-E6D6-4BF5-87B1-26266A73E236}" srcOrd="0" destOrd="0" presId="urn:microsoft.com/office/officeart/2005/8/layout/pyramid4"/>
    <dgm:cxn modelId="{B7B0BE3A-B875-4998-9ED0-8AAE602D340B}" srcId="{03A49B01-45F7-440E-A740-D2777376B3C6}" destId="{20BB02BA-8AF0-477A-A034-AD44BD78CE25}" srcOrd="2" destOrd="0" parTransId="{FD9A0E22-D310-4332-8C60-D6B4B103A5AC}" sibTransId="{679C5A29-B546-429A-B953-575864EA2E8B}"/>
    <dgm:cxn modelId="{7031A53D-54C8-423F-B3A6-881B2E10A651}" type="presOf" srcId="{B60A0857-5270-47A2-9F13-7B5EECF2330F}" destId="{45767B67-D049-46E2-866E-221BB06882FC}" srcOrd="0" destOrd="0" presId="urn:microsoft.com/office/officeart/2005/8/layout/pyramid4"/>
    <dgm:cxn modelId="{4082ED74-9CC4-46B0-A623-8A4FF59F087D}" type="presOf" srcId="{03A49B01-45F7-440E-A740-D2777376B3C6}" destId="{7A93CF20-C3DF-4734-8B25-65D681AC49BE}" srcOrd="0" destOrd="0" presId="urn:microsoft.com/office/officeart/2005/8/layout/pyramid4"/>
    <dgm:cxn modelId="{8EAC8D82-E471-4359-A349-ACC83D7AE8E3}" srcId="{03A49B01-45F7-440E-A740-D2777376B3C6}" destId="{B60A0857-5270-47A2-9F13-7B5EECF2330F}" srcOrd="3" destOrd="0" parTransId="{23AA5EB8-7CC6-452C-AD85-75F05DE62C33}" sibTransId="{7EF2BFF3-D28B-4B98-9EDA-7919A813541B}"/>
    <dgm:cxn modelId="{B28E8D84-BA47-476D-969D-E05FA7519167}" srcId="{03A49B01-45F7-440E-A740-D2777376B3C6}" destId="{13F4AC1B-DA32-420D-AEC5-ED96FB981233}" srcOrd="1" destOrd="0" parTransId="{D9911C5C-8625-40EC-8323-B8BB5E85FBB7}" sibTransId="{FB436143-D955-498F-8758-8CAC01A3F988}"/>
    <dgm:cxn modelId="{71F823B5-1C62-4E55-84FB-4EDC5B8C07B2}" type="presOf" srcId="{13F4AC1B-DA32-420D-AEC5-ED96FB981233}" destId="{E3B55782-0409-45CD-9AED-FEF48D094B60}" srcOrd="0" destOrd="0" presId="urn:microsoft.com/office/officeart/2005/8/layout/pyramid4"/>
    <dgm:cxn modelId="{234EBABA-61AD-49BD-AE90-A298ED49ED34}" type="presOf" srcId="{F9ADC137-EF82-4020-81B4-5B3FA5B3442F}" destId="{193ACF4D-9339-4A21-AF8C-497FA97EB46F}" srcOrd="0" destOrd="0" presId="urn:microsoft.com/office/officeart/2005/8/layout/pyramid4"/>
    <dgm:cxn modelId="{D4D7BF3F-A2EB-430C-8558-FF82452A33BB}" type="presParOf" srcId="{7A93CF20-C3DF-4734-8B25-65D681AC49BE}" destId="{193ACF4D-9339-4A21-AF8C-497FA97EB46F}" srcOrd="0" destOrd="0" presId="urn:microsoft.com/office/officeart/2005/8/layout/pyramid4"/>
    <dgm:cxn modelId="{1C51972E-F12B-43F8-9190-011EC5BC2B37}" type="presParOf" srcId="{7A93CF20-C3DF-4734-8B25-65D681AC49BE}" destId="{E3B55782-0409-45CD-9AED-FEF48D094B60}" srcOrd="1" destOrd="0" presId="urn:microsoft.com/office/officeart/2005/8/layout/pyramid4"/>
    <dgm:cxn modelId="{A01FB01E-BA04-42EA-953D-29B8CFCF0443}" type="presParOf" srcId="{7A93CF20-C3DF-4734-8B25-65D681AC49BE}" destId="{4889BCBE-E6D6-4BF5-87B1-26266A73E236}" srcOrd="2" destOrd="0" presId="urn:microsoft.com/office/officeart/2005/8/layout/pyramid4"/>
    <dgm:cxn modelId="{FF34F8DE-5690-43FB-8665-25C7B2344407}" type="presParOf" srcId="{7A93CF20-C3DF-4734-8B25-65D681AC49BE}" destId="{45767B67-D049-46E2-866E-221BB06882FC}" srcOrd="3" destOrd="0" presId="urn:microsoft.com/office/officeart/2005/8/layout/pyramid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EC286-E54E-4E39-98F1-78382DA54AC9}" type="doc">
      <dgm:prSet loTypeId="urn:microsoft.com/office/officeart/2005/8/layout/hProcess9#3" loCatId="process" qsTypeId="urn:microsoft.com/office/officeart/2005/8/quickstyle/simple1#5" qsCatId="simple" csTypeId="urn:microsoft.com/office/officeart/2005/8/colors/colorful1#6" csCatId="colorful" phldr="1"/>
      <dgm:spPr/>
    </dgm:pt>
    <dgm:pt modelId="{3088F74C-6FB9-40CA-8526-2AD67683A25E}">
      <dgm:prSet phldrT="[文本]"/>
      <dgm:spPr>
        <a:xfrm>
          <a:off x="160752" y="648131"/>
          <a:ext cx="2592288" cy="864175"/>
        </a:xfrm>
        <a:prstGeom prst="roundRect">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ltLang="zh-CN" dirty="0">
              <a:solidFill>
                <a:sysClr val="window" lastClr="FFFFFF"/>
              </a:solidFill>
              <a:latin typeface="Calibri" panose="020F0502020204030204"/>
              <a:ea typeface="等线" panose="02010600030101010101" pitchFamily="2" charset="-122"/>
              <a:cs typeface="+mn-cs"/>
            </a:rPr>
            <a:t>Motivation</a:t>
          </a:r>
          <a:endParaRPr lang="zh-CN" altLang="en-US" dirty="0">
            <a:solidFill>
              <a:sysClr val="window" lastClr="FFFFFF"/>
            </a:solidFill>
            <a:latin typeface="Calibri" panose="020F0502020204030204"/>
            <a:ea typeface="等线" panose="02010600030101010101" pitchFamily="2" charset="-122"/>
            <a:cs typeface="+mn-cs"/>
          </a:endParaRPr>
        </a:p>
      </dgm:t>
    </dgm:pt>
    <dgm:pt modelId="{8FC06C0A-0E78-4355-99CA-A46DD004980E}" type="parTrans" cxnId="{879E4A2C-ED17-4726-9044-C2F318432FC6}">
      <dgm:prSet/>
      <dgm:spPr/>
      <dgm:t>
        <a:bodyPr/>
        <a:lstStyle/>
        <a:p>
          <a:endParaRPr lang="zh-CN" altLang="en-US"/>
        </a:p>
      </dgm:t>
    </dgm:pt>
    <dgm:pt modelId="{F40E355E-E4A5-4100-A883-4C65C9DDBE86}" type="sibTrans" cxnId="{879E4A2C-ED17-4726-9044-C2F318432FC6}">
      <dgm:prSet/>
      <dgm:spPr/>
      <dgm:t>
        <a:bodyPr/>
        <a:lstStyle/>
        <a:p>
          <a:endParaRPr lang="zh-CN" altLang="en-US"/>
        </a:p>
      </dgm:t>
    </dgm:pt>
    <dgm:pt modelId="{8F471E98-F395-4881-80B5-C875DD669125}">
      <dgm:prSet phldrT="[文本]"/>
      <dgm:spPr>
        <a:xfrm>
          <a:off x="3024335" y="648131"/>
          <a:ext cx="2592288" cy="864175"/>
        </a:xfrm>
        <a:prstGeom prst="roundRect">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ltLang="zh-CN" dirty="0">
              <a:solidFill>
                <a:sysClr val="window" lastClr="FFFFFF"/>
              </a:solidFill>
              <a:latin typeface="Calibri" panose="020F0502020204030204"/>
              <a:ea typeface="等线" panose="02010600030101010101" pitchFamily="2" charset="-122"/>
              <a:cs typeface="+mn-cs"/>
            </a:rPr>
            <a:t>Flow</a:t>
          </a:r>
          <a:endParaRPr lang="zh-CN" altLang="en-US" dirty="0">
            <a:solidFill>
              <a:sysClr val="window" lastClr="FFFFFF"/>
            </a:solidFill>
            <a:latin typeface="Calibri" panose="020F0502020204030204"/>
            <a:ea typeface="等线" panose="02010600030101010101" pitchFamily="2" charset="-122"/>
            <a:cs typeface="+mn-cs"/>
          </a:endParaRPr>
        </a:p>
      </dgm:t>
    </dgm:pt>
    <dgm:pt modelId="{FF5A039A-ADF8-4311-96D9-063347585336}" type="parTrans" cxnId="{01486AAB-C6C6-4894-87D9-3B99D247DA3D}">
      <dgm:prSet/>
      <dgm:spPr/>
      <dgm:t>
        <a:bodyPr/>
        <a:lstStyle/>
        <a:p>
          <a:endParaRPr lang="zh-CN" altLang="en-US"/>
        </a:p>
      </dgm:t>
    </dgm:pt>
    <dgm:pt modelId="{F36A3B4C-AA18-4B37-BFF0-0CFC1CF379BB}" type="sibTrans" cxnId="{01486AAB-C6C6-4894-87D9-3B99D247DA3D}">
      <dgm:prSet/>
      <dgm:spPr/>
      <dgm:t>
        <a:bodyPr/>
        <a:lstStyle/>
        <a:p>
          <a:endParaRPr lang="zh-CN" altLang="en-US"/>
        </a:p>
      </dgm:t>
    </dgm:pt>
    <dgm:pt modelId="{76495840-5B7C-4170-B780-FE611C201E71}">
      <dgm:prSet phldrT="[文本]"/>
      <dgm:spPr>
        <a:xfrm>
          <a:off x="5887919" y="648131"/>
          <a:ext cx="2592288" cy="864175"/>
        </a:xfrm>
        <a:prstGeom prst="roundRect">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ltLang="zh-CN" dirty="0">
              <a:solidFill>
                <a:sysClr val="window" lastClr="FFFFFF"/>
              </a:solidFill>
              <a:latin typeface="Calibri" panose="020F0502020204030204"/>
              <a:ea typeface="等线" panose="02010600030101010101" pitchFamily="2" charset="-122"/>
              <a:cs typeface="+mn-cs"/>
            </a:rPr>
            <a:t>Details</a:t>
          </a:r>
          <a:endParaRPr lang="zh-CN" altLang="en-US" dirty="0">
            <a:solidFill>
              <a:sysClr val="window" lastClr="FFFFFF"/>
            </a:solidFill>
            <a:latin typeface="Calibri" panose="020F0502020204030204"/>
            <a:ea typeface="等线" panose="02010600030101010101" pitchFamily="2" charset="-122"/>
            <a:cs typeface="+mn-cs"/>
          </a:endParaRPr>
        </a:p>
      </dgm:t>
    </dgm:pt>
    <dgm:pt modelId="{9A81F3CA-9D10-4CBA-9A16-8524B43B77A7}" type="parTrans" cxnId="{027C52F8-8A49-4B12-9B82-4C86DEDB889C}">
      <dgm:prSet/>
      <dgm:spPr/>
      <dgm:t>
        <a:bodyPr/>
        <a:lstStyle/>
        <a:p>
          <a:endParaRPr lang="zh-CN" altLang="en-US"/>
        </a:p>
      </dgm:t>
    </dgm:pt>
    <dgm:pt modelId="{1C654F1C-C944-4035-B080-04CD79BB7912}" type="sibTrans" cxnId="{027C52F8-8A49-4B12-9B82-4C86DEDB889C}">
      <dgm:prSet/>
      <dgm:spPr/>
      <dgm:t>
        <a:bodyPr/>
        <a:lstStyle/>
        <a:p>
          <a:endParaRPr lang="zh-CN" altLang="en-US"/>
        </a:p>
      </dgm:t>
    </dgm:pt>
    <dgm:pt modelId="{A77C85ED-4F6E-457C-BC69-F87729FDAD3D}" type="pres">
      <dgm:prSet presAssocID="{9DFEC286-E54E-4E39-98F1-78382DA54AC9}" presName="CompostProcess" presStyleCnt="0">
        <dgm:presLayoutVars>
          <dgm:dir/>
          <dgm:resizeHandles val="exact"/>
        </dgm:presLayoutVars>
      </dgm:prSet>
      <dgm:spPr/>
    </dgm:pt>
    <dgm:pt modelId="{BBA7FC2F-DB9B-4553-B316-BDC6A96B209F}" type="pres">
      <dgm:prSet presAssocID="{9DFEC286-E54E-4E39-98F1-78382DA54AC9}" presName="arrow" presStyleLbl="bgShp" presStyleIdx="0" presStyleCnt="1"/>
      <dgm:spPr>
        <a:xfrm>
          <a:off x="648071" y="0"/>
          <a:ext cx="7344816" cy="2160438"/>
        </a:xfrm>
        <a:prstGeom prst="rightArrow">
          <a:avLst/>
        </a:prstGeom>
        <a:solidFill>
          <a:srgbClr val="ED7D31">
            <a:tint val="40000"/>
            <a:hueOff val="0"/>
            <a:satOff val="0"/>
            <a:lumOff val="0"/>
            <a:alphaOff val="0"/>
          </a:srgbClr>
        </a:solidFill>
        <a:ln>
          <a:noFill/>
        </a:ln>
        <a:effectLst/>
      </dgm:spPr>
    </dgm:pt>
    <dgm:pt modelId="{AFA1E85A-A763-4E8A-BC50-90B88FC46324}" type="pres">
      <dgm:prSet presAssocID="{9DFEC286-E54E-4E39-98F1-78382DA54AC9}" presName="linearProcess" presStyleCnt="0"/>
      <dgm:spPr/>
    </dgm:pt>
    <dgm:pt modelId="{62D3A2BF-27BB-4934-8AF0-1EBC6AF32018}" type="pres">
      <dgm:prSet presAssocID="{3088F74C-6FB9-40CA-8526-2AD67683A25E}" presName="textNode" presStyleLbl="node1" presStyleIdx="0" presStyleCnt="3">
        <dgm:presLayoutVars>
          <dgm:bulletEnabled val="1"/>
        </dgm:presLayoutVars>
      </dgm:prSet>
      <dgm:spPr/>
    </dgm:pt>
    <dgm:pt modelId="{DF3F7DD7-DB9F-4413-B30C-4A14EB0A0F5F}" type="pres">
      <dgm:prSet presAssocID="{F40E355E-E4A5-4100-A883-4C65C9DDBE86}" presName="sibTrans" presStyleCnt="0"/>
      <dgm:spPr/>
    </dgm:pt>
    <dgm:pt modelId="{2A1CD058-64DB-46A5-9576-6B1383C8012E}" type="pres">
      <dgm:prSet presAssocID="{8F471E98-F395-4881-80B5-C875DD669125}" presName="textNode" presStyleLbl="node1" presStyleIdx="1" presStyleCnt="3">
        <dgm:presLayoutVars>
          <dgm:bulletEnabled val="1"/>
        </dgm:presLayoutVars>
      </dgm:prSet>
      <dgm:spPr/>
    </dgm:pt>
    <dgm:pt modelId="{B28FF95D-A47C-4D63-97F8-DAEC088953F6}" type="pres">
      <dgm:prSet presAssocID="{F36A3B4C-AA18-4B37-BFF0-0CFC1CF379BB}" presName="sibTrans" presStyleCnt="0"/>
      <dgm:spPr/>
    </dgm:pt>
    <dgm:pt modelId="{00E1CD75-EB6F-47D8-8184-9D1D29CA93B9}" type="pres">
      <dgm:prSet presAssocID="{76495840-5B7C-4170-B780-FE611C201E71}" presName="textNode" presStyleLbl="node1" presStyleIdx="2" presStyleCnt="3">
        <dgm:presLayoutVars>
          <dgm:bulletEnabled val="1"/>
        </dgm:presLayoutVars>
      </dgm:prSet>
      <dgm:spPr/>
    </dgm:pt>
  </dgm:ptLst>
  <dgm:cxnLst>
    <dgm:cxn modelId="{879E4A2C-ED17-4726-9044-C2F318432FC6}" srcId="{9DFEC286-E54E-4E39-98F1-78382DA54AC9}" destId="{3088F74C-6FB9-40CA-8526-2AD67683A25E}" srcOrd="0" destOrd="0" parTransId="{8FC06C0A-0E78-4355-99CA-A46DD004980E}" sibTransId="{F40E355E-E4A5-4100-A883-4C65C9DDBE86}"/>
    <dgm:cxn modelId="{9D14565F-69BA-4C95-A6FE-BA27A0D640A4}" type="presOf" srcId="{9DFEC286-E54E-4E39-98F1-78382DA54AC9}" destId="{A77C85ED-4F6E-457C-BC69-F87729FDAD3D}" srcOrd="0" destOrd="0" presId="urn:microsoft.com/office/officeart/2005/8/layout/hProcess9#3"/>
    <dgm:cxn modelId="{F1A82D8F-B485-4D0A-AFBC-8B602184FA49}" type="presOf" srcId="{3088F74C-6FB9-40CA-8526-2AD67683A25E}" destId="{62D3A2BF-27BB-4934-8AF0-1EBC6AF32018}" srcOrd="0" destOrd="0" presId="urn:microsoft.com/office/officeart/2005/8/layout/hProcess9#3"/>
    <dgm:cxn modelId="{5165D895-0E6B-4D5C-8AB2-0C6CF3E9C16B}" type="presOf" srcId="{76495840-5B7C-4170-B780-FE611C201E71}" destId="{00E1CD75-EB6F-47D8-8184-9D1D29CA93B9}" srcOrd="0" destOrd="0" presId="urn:microsoft.com/office/officeart/2005/8/layout/hProcess9#3"/>
    <dgm:cxn modelId="{01486AAB-C6C6-4894-87D9-3B99D247DA3D}" srcId="{9DFEC286-E54E-4E39-98F1-78382DA54AC9}" destId="{8F471E98-F395-4881-80B5-C875DD669125}" srcOrd="1" destOrd="0" parTransId="{FF5A039A-ADF8-4311-96D9-063347585336}" sibTransId="{F36A3B4C-AA18-4B37-BFF0-0CFC1CF379BB}"/>
    <dgm:cxn modelId="{C36491B5-F294-467B-9313-D7C55CE4D70C}" type="presOf" srcId="{8F471E98-F395-4881-80B5-C875DD669125}" destId="{2A1CD058-64DB-46A5-9576-6B1383C8012E}" srcOrd="0" destOrd="0" presId="urn:microsoft.com/office/officeart/2005/8/layout/hProcess9#3"/>
    <dgm:cxn modelId="{027C52F8-8A49-4B12-9B82-4C86DEDB889C}" srcId="{9DFEC286-E54E-4E39-98F1-78382DA54AC9}" destId="{76495840-5B7C-4170-B780-FE611C201E71}" srcOrd="2" destOrd="0" parTransId="{9A81F3CA-9D10-4CBA-9A16-8524B43B77A7}" sibTransId="{1C654F1C-C944-4035-B080-04CD79BB7912}"/>
    <dgm:cxn modelId="{72A638D2-11BB-4431-AD0C-C01AC32E04D9}" type="presParOf" srcId="{A77C85ED-4F6E-457C-BC69-F87729FDAD3D}" destId="{BBA7FC2F-DB9B-4553-B316-BDC6A96B209F}" srcOrd="0" destOrd="0" presId="urn:microsoft.com/office/officeart/2005/8/layout/hProcess9#3"/>
    <dgm:cxn modelId="{8300D0C4-3E1F-4684-BDFB-BE4491908029}" type="presParOf" srcId="{A77C85ED-4F6E-457C-BC69-F87729FDAD3D}" destId="{AFA1E85A-A763-4E8A-BC50-90B88FC46324}" srcOrd="1" destOrd="0" presId="urn:microsoft.com/office/officeart/2005/8/layout/hProcess9#3"/>
    <dgm:cxn modelId="{E01AF166-B32A-4987-B4AF-DD725731BB43}" type="presParOf" srcId="{AFA1E85A-A763-4E8A-BC50-90B88FC46324}" destId="{62D3A2BF-27BB-4934-8AF0-1EBC6AF32018}" srcOrd="0" destOrd="0" presId="urn:microsoft.com/office/officeart/2005/8/layout/hProcess9#3"/>
    <dgm:cxn modelId="{D50EC0A8-17FD-4F5E-8215-96BA3AC42701}" type="presParOf" srcId="{AFA1E85A-A763-4E8A-BC50-90B88FC46324}" destId="{DF3F7DD7-DB9F-4413-B30C-4A14EB0A0F5F}" srcOrd="1" destOrd="0" presId="urn:microsoft.com/office/officeart/2005/8/layout/hProcess9#3"/>
    <dgm:cxn modelId="{FD3C7A90-A546-40A9-B9B6-66F0F7D206F7}" type="presParOf" srcId="{AFA1E85A-A763-4E8A-BC50-90B88FC46324}" destId="{2A1CD058-64DB-46A5-9576-6B1383C8012E}" srcOrd="2" destOrd="0" presId="urn:microsoft.com/office/officeart/2005/8/layout/hProcess9#3"/>
    <dgm:cxn modelId="{546923B9-7645-419F-97E2-637DFE96A091}" type="presParOf" srcId="{AFA1E85A-A763-4E8A-BC50-90B88FC46324}" destId="{B28FF95D-A47C-4D63-97F8-DAEC088953F6}" srcOrd="3" destOrd="0" presId="urn:microsoft.com/office/officeart/2005/8/layout/hProcess9#3"/>
    <dgm:cxn modelId="{A396B8B5-8897-4B72-8A0F-5A7F84963138}" type="presParOf" srcId="{AFA1E85A-A763-4E8A-BC50-90B88FC46324}" destId="{00E1CD75-EB6F-47D8-8184-9D1D29CA93B9}" srcOrd="4" destOrd="0" presId="urn:microsoft.com/office/officeart/2005/8/layout/hProcess9#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FEC286-E54E-4E39-98F1-78382DA54AC9}" type="doc">
      <dgm:prSet loTypeId="urn:microsoft.com/office/officeart/2005/8/layout/hProcess9#4" loCatId="process" qsTypeId="urn:microsoft.com/office/officeart/2005/8/quickstyle/simple1#6" qsCatId="simple" csTypeId="urn:microsoft.com/office/officeart/2005/8/colors/colorful1#7" csCatId="colorful" phldr="1"/>
      <dgm:spPr/>
    </dgm:pt>
    <dgm:pt modelId="{3088F74C-6FB9-40CA-8526-2AD67683A25E}">
      <dgm:prSet phldrT="[文本]"/>
      <dgm:spPr>
        <a:xfrm>
          <a:off x="6539" y="648131"/>
          <a:ext cx="2715067" cy="864175"/>
        </a:xfrm>
        <a:prstGeom prst="roundRect">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ltLang="zh-CN" dirty="0">
              <a:solidFill>
                <a:sysClr val="window" lastClr="FFFFFF"/>
              </a:solidFill>
              <a:latin typeface="Calibri" panose="020F0502020204030204"/>
              <a:ea typeface="等线" panose="02010600030101010101" pitchFamily="2" charset="-122"/>
              <a:cs typeface="+mn-cs"/>
            </a:rPr>
            <a:t>Introduction</a:t>
          </a:r>
          <a:endParaRPr lang="zh-CN" altLang="en-US" dirty="0">
            <a:solidFill>
              <a:sysClr val="window" lastClr="FFFFFF"/>
            </a:solidFill>
            <a:latin typeface="Calibri" panose="020F0502020204030204"/>
            <a:ea typeface="等线" panose="02010600030101010101" pitchFamily="2" charset="-122"/>
            <a:cs typeface="+mn-cs"/>
          </a:endParaRPr>
        </a:p>
      </dgm:t>
    </dgm:pt>
    <dgm:pt modelId="{8FC06C0A-0E78-4355-99CA-A46DD004980E}" type="parTrans" cxnId="{879E4A2C-ED17-4726-9044-C2F318432FC6}">
      <dgm:prSet/>
      <dgm:spPr/>
      <dgm:t>
        <a:bodyPr/>
        <a:lstStyle/>
        <a:p>
          <a:endParaRPr lang="zh-CN" altLang="en-US"/>
        </a:p>
      </dgm:t>
    </dgm:pt>
    <dgm:pt modelId="{F40E355E-E4A5-4100-A883-4C65C9DDBE86}" type="sibTrans" cxnId="{879E4A2C-ED17-4726-9044-C2F318432FC6}">
      <dgm:prSet/>
      <dgm:spPr/>
      <dgm:t>
        <a:bodyPr/>
        <a:lstStyle/>
        <a:p>
          <a:endParaRPr lang="zh-CN" altLang="en-US"/>
        </a:p>
      </dgm:t>
    </dgm:pt>
    <dgm:pt modelId="{8F471E98-F395-4881-80B5-C875DD669125}">
      <dgm:prSet phldrT="[文本]"/>
      <dgm:spPr>
        <a:xfrm>
          <a:off x="2962946" y="648131"/>
          <a:ext cx="2715067" cy="864175"/>
        </a:xfrm>
        <a:prstGeom prst="roundRect">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ltLang="zh-CN" dirty="0">
              <a:solidFill>
                <a:sysClr val="window" lastClr="FFFFFF"/>
              </a:solidFill>
              <a:latin typeface="Calibri" panose="020F0502020204030204"/>
              <a:ea typeface="等线" panose="02010600030101010101" pitchFamily="2" charset="-122"/>
              <a:cs typeface="+mn-cs"/>
            </a:rPr>
            <a:t>Specification</a:t>
          </a:r>
          <a:endParaRPr lang="zh-CN" altLang="en-US" dirty="0">
            <a:solidFill>
              <a:sysClr val="window" lastClr="FFFFFF"/>
            </a:solidFill>
            <a:latin typeface="Calibri" panose="020F0502020204030204"/>
            <a:ea typeface="等线" panose="02010600030101010101" pitchFamily="2" charset="-122"/>
            <a:cs typeface="+mn-cs"/>
          </a:endParaRPr>
        </a:p>
      </dgm:t>
    </dgm:pt>
    <dgm:pt modelId="{FF5A039A-ADF8-4311-96D9-063347585336}" type="parTrans" cxnId="{01486AAB-C6C6-4894-87D9-3B99D247DA3D}">
      <dgm:prSet/>
      <dgm:spPr/>
      <dgm:t>
        <a:bodyPr/>
        <a:lstStyle/>
        <a:p>
          <a:endParaRPr lang="zh-CN" altLang="en-US"/>
        </a:p>
      </dgm:t>
    </dgm:pt>
    <dgm:pt modelId="{F36A3B4C-AA18-4B37-BFF0-0CFC1CF379BB}" type="sibTrans" cxnId="{01486AAB-C6C6-4894-87D9-3B99D247DA3D}">
      <dgm:prSet/>
      <dgm:spPr/>
      <dgm:t>
        <a:bodyPr/>
        <a:lstStyle/>
        <a:p>
          <a:endParaRPr lang="zh-CN" altLang="en-US"/>
        </a:p>
      </dgm:t>
    </dgm:pt>
    <dgm:pt modelId="{76495840-5B7C-4170-B780-FE611C201E71}">
      <dgm:prSet phldrT="[文本]"/>
      <dgm:spPr>
        <a:xfrm>
          <a:off x="5919352" y="648131"/>
          <a:ext cx="2715067" cy="864175"/>
        </a:xfrm>
        <a:prstGeom prst="roundRect">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ltLang="zh-CN" dirty="0">
              <a:solidFill>
                <a:sysClr val="window" lastClr="FFFFFF"/>
              </a:solidFill>
              <a:latin typeface="Calibri" panose="020F0502020204030204"/>
              <a:ea typeface="等线" panose="02010600030101010101" pitchFamily="2" charset="-122"/>
              <a:cs typeface="+mn-cs"/>
            </a:rPr>
            <a:t>Review</a:t>
          </a:r>
          <a:endParaRPr lang="zh-CN" altLang="en-US" dirty="0">
            <a:solidFill>
              <a:sysClr val="window" lastClr="FFFFFF"/>
            </a:solidFill>
            <a:latin typeface="Calibri" panose="020F0502020204030204"/>
            <a:ea typeface="等线" panose="02010600030101010101" pitchFamily="2" charset="-122"/>
            <a:cs typeface="+mn-cs"/>
          </a:endParaRPr>
        </a:p>
      </dgm:t>
    </dgm:pt>
    <dgm:pt modelId="{9A81F3CA-9D10-4CBA-9A16-8524B43B77A7}" type="parTrans" cxnId="{027C52F8-8A49-4B12-9B82-4C86DEDB889C}">
      <dgm:prSet/>
      <dgm:spPr/>
      <dgm:t>
        <a:bodyPr/>
        <a:lstStyle/>
        <a:p>
          <a:endParaRPr lang="zh-CN" altLang="en-US"/>
        </a:p>
      </dgm:t>
    </dgm:pt>
    <dgm:pt modelId="{1C654F1C-C944-4035-B080-04CD79BB7912}" type="sibTrans" cxnId="{027C52F8-8A49-4B12-9B82-4C86DEDB889C}">
      <dgm:prSet/>
      <dgm:spPr/>
      <dgm:t>
        <a:bodyPr/>
        <a:lstStyle/>
        <a:p>
          <a:endParaRPr lang="zh-CN" altLang="en-US"/>
        </a:p>
      </dgm:t>
    </dgm:pt>
    <dgm:pt modelId="{A77C85ED-4F6E-457C-BC69-F87729FDAD3D}" type="pres">
      <dgm:prSet presAssocID="{9DFEC286-E54E-4E39-98F1-78382DA54AC9}" presName="CompostProcess" presStyleCnt="0">
        <dgm:presLayoutVars>
          <dgm:dir/>
          <dgm:resizeHandles val="exact"/>
        </dgm:presLayoutVars>
      </dgm:prSet>
      <dgm:spPr/>
    </dgm:pt>
    <dgm:pt modelId="{BBA7FC2F-DB9B-4553-B316-BDC6A96B209F}" type="pres">
      <dgm:prSet presAssocID="{9DFEC286-E54E-4E39-98F1-78382DA54AC9}" presName="arrow" presStyleLbl="bgShp" presStyleIdx="0" presStyleCnt="1"/>
      <dgm:spPr>
        <a:xfrm>
          <a:off x="648071" y="0"/>
          <a:ext cx="7344816" cy="2160438"/>
        </a:xfrm>
        <a:prstGeom prst="rightArrow">
          <a:avLst/>
        </a:prstGeom>
        <a:solidFill>
          <a:srgbClr val="ED7D31">
            <a:tint val="40000"/>
            <a:hueOff val="0"/>
            <a:satOff val="0"/>
            <a:lumOff val="0"/>
            <a:alphaOff val="0"/>
          </a:srgbClr>
        </a:solidFill>
        <a:ln>
          <a:noFill/>
        </a:ln>
        <a:effectLst/>
      </dgm:spPr>
    </dgm:pt>
    <dgm:pt modelId="{AFA1E85A-A763-4E8A-BC50-90B88FC46324}" type="pres">
      <dgm:prSet presAssocID="{9DFEC286-E54E-4E39-98F1-78382DA54AC9}" presName="linearProcess" presStyleCnt="0"/>
      <dgm:spPr/>
    </dgm:pt>
    <dgm:pt modelId="{62D3A2BF-27BB-4934-8AF0-1EBC6AF32018}" type="pres">
      <dgm:prSet presAssocID="{3088F74C-6FB9-40CA-8526-2AD67683A25E}" presName="textNode" presStyleLbl="node1" presStyleIdx="0" presStyleCnt="3">
        <dgm:presLayoutVars>
          <dgm:bulletEnabled val="1"/>
        </dgm:presLayoutVars>
      </dgm:prSet>
      <dgm:spPr/>
    </dgm:pt>
    <dgm:pt modelId="{DF3F7DD7-DB9F-4413-B30C-4A14EB0A0F5F}" type="pres">
      <dgm:prSet presAssocID="{F40E355E-E4A5-4100-A883-4C65C9DDBE86}" presName="sibTrans" presStyleCnt="0"/>
      <dgm:spPr/>
    </dgm:pt>
    <dgm:pt modelId="{2A1CD058-64DB-46A5-9576-6B1383C8012E}" type="pres">
      <dgm:prSet presAssocID="{8F471E98-F395-4881-80B5-C875DD669125}" presName="textNode" presStyleLbl="node1" presStyleIdx="1" presStyleCnt="3">
        <dgm:presLayoutVars>
          <dgm:bulletEnabled val="1"/>
        </dgm:presLayoutVars>
      </dgm:prSet>
      <dgm:spPr/>
    </dgm:pt>
    <dgm:pt modelId="{B28FF95D-A47C-4D63-97F8-DAEC088953F6}" type="pres">
      <dgm:prSet presAssocID="{F36A3B4C-AA18-4B37-BFF0-0CFC1CF379BB}" presName="sibTrans" presStyleCnt="0"/>
      <dgm:spPr/>
    </dgm:pt>
    <dgm:pt modelId="{00E1CD75-EB6F-47D8-8184-9D1D29CA93B9}" type="pres">
      <dgm:prSet presAssocID="{76495840-5B7C-4170-B780-FE611C201E71}" presName="textNode" presStyleLbl="node1" presStyleIdx="2" presStyleCnt="3">
        <dgm:presLayoutVars>
          <dgm:bulletEnabled val="1"/>
        </dgm:presLayoutVars>
      </dgm:prSet>
      <dgm:spPr/>
    </dgm:pt>
  </dgm:ptLst>
  <dgm:cxnLst>
    <dgm:cxn modelId="{879E4A2C-ED17-4726-9044-C2F318432FC6}" srcId="{9DFEC286-E54E-4E39-98F1-78382DA54AC9}" destId="{3088F74C-6FB9-40CA-8526-2AD67683A25E}" srcOrd="0" destOrd="0" parTransId="{8FC06C0A-0E78-4355-99CA-A46DD004980E}" sibTransId="{F40E355E-E4A5-4100-A883-4C65C9DDBE86}"/>
    <dgm:cxn modelId="{9D14565F-69BA-4C95-A6FE-BA27A0D640A4}" type="presOf" srcId="{9DFEC286-E54E-4E39-98F1-78382DA54AC9}" destId="{A77C85ED-4F6E-457C-BC69-F87729FDAD3D}" srcOrd="0" destOrd="0" presId="urn:microsoft.com/office/officeart/2005/8/layout/hProcess9#4"/>
    <dgm:cxn modelId="{F1A82D8F-B485-4D0A-AFBC-8B602184FA49}" type="presOf" srcId="{3088F74C-6FB9-40CA-8526-2AD67683A25E}" destId="{62D3A2BF-27BB-4934-8AF0-1EBC6AF32018}" srcOrd="0" destOrd="0" presId="urn:microsoft.com/office/officeart/2005/8/layout/hProcess9#4"/>
    <dgm:cxn modelId="{5165D895-0E6B-4D5C-8AB2-0C6CF3E9C16B}" type="presOf" srcId="{76495840-5B7C-4170-B780-FE611C201E71}" destId="{00E1CD75-EB6F-47D8-8184-9D1D29CA93B9}" srcOrd="0" destOrd="0" presId="urn:microsoft.com/office/officeart/2005/8/layout/hProcess9#4"/>
    <dgm:cxn modelId="{01486AAB-C6C6-4894-87D9-3B99D247DA3D}" srcId="{9DFEC286-E54E-4E39-98F1-78382DA54AC9}" destId="{8F471E98-F395-4881-80B5-C875DD669125}" srcOrd="1" destOrd="0" parTransId="{FF5A039A-ADF8-4311-96D9-063347585336}" sibTransId="{F36A3B4C-AA18-4B37-BFF0-0CFC1CF379BB}"/>
    <dgm:cxn modelId="{C36491B5-F294-467B-9313-D7C55CE4D70C}" type="presOf" srcId="{8F471E98-F395-4881-80B5-C875DD669125}" destId="{2A1CD058-64DB-46A5-9576-6B1383C8012E}" srcOrd="0" destOrd="0" presId="urn:microsoft.com/office/officeart/2005/8/layout/hProcess9#4"/>
    <dgm:cxn modelId="{027C52F8-8A49-4B12-9B82-4C86DEDB889C}" srcId="{9DFEC286-E54E-4E39-98F1-78382DA54AC9}" destId="{76495840-5B7C-4170-B780-FE611C201E71}" srcOrd="2" destOrd="0" parTransId="{9A81F3CA-9D10-4CBA-9A16-8524B43B77A7}" sibTransId="{1C654F1C-C944-4035-B080-04CD79BB7912}"/>
    <dgm:cxn modelId="{72A638D2-11BB-4431-AD0C-C01AC32E04D9}" type="presParOf" srcId="{A77C85ED-4F6E-457C-BC69-F87729FDAD3D}" destId="{BBA7FC2F-DB9B-4553-B316-BDC6A96B209F}" srcOrd="0" destOrd="0" presId="urn:microsoft.com/office/officeart/2005/8/layout/hProcess9#4"/>
    <dgm:cxn modelId="{8300D0C4-3E1F-4684-BDFB-BE4491908029}" type="presParOf" srcId="{A77C85ED-4F6E-457C-BC69-F87729FDAD3D}" destId="{AFA1E85A-A763-4E8A-BC50-90B88FC46324}" srcOrd="1" destOrd="0" presId="urn:microsoft.com/office/officeart/2005/8/layout/hProcess9#4"/>
    <dgm:cxn modelId="{E01AF166-B32A-4987-B4AF-DD725731BB43}" type="presParOf" srcId="{AFA1E85A-A763-4E8A-BC50-90B88FC46324}" destId="{62D3A2BF-27BB-4934-8AF0-1EBC6AF32018}" srcOrd="0" destOrd="0" presId="urn:microsoft.com/office/officeart/2005/8/layout/hProcess9#4"/>
    <dgm:cxn modelId="{D50EC0A8-17FD-4F5E-8215-96BA3AC42701}" type="presParOf" srcId="{AFA1E85A-A763-4E8A-BC50-90B88FC46324}" destId="{DF3F7DD7-DB9F-4413-B30C-4A14EB0A0F5F}" srcOrd="1" destOrd="0" presId="urn:microsoft.com/office/officeart/2005/8/layout/hProcess9#4"/>
    <dgm:cxn modelId="{FD3C7A90-A546-40A9-B9B6-66F0F7D206F7}" type="presParOf" srcId="{AFA1E85A-A763-4E8A-BC50-90B88FC46324}" destId="{2A1CD058-64DB-46A5-9576-6B1383C8012E}" srcOrd="2" destOrd="0" presId="urn:microsoft.com/office/officeart/2005/8/layout/hProcess9#4"/>
    <dgm:cxn modelId="{546923B9-7645-419F-97E2-637DFE96A091}" type="presParOf" srcId="{AFA1E85A-A763-4E8A-BC50-90B88FC46324}" destId="{B28FF95D-A47C-4D63-97F8-DAEC088953F6}" srcOrd="3" destOrd="0" presId="urn:microsoft.com/office/officeart/2005/8/layout/hProcess9#4"/>
    <dgm:cxn modelId="{A396B8B5-8897-4B72-8A0F-5A7F84963138}" type="presParOf" srcId="{AFA1E85A-A763-4E8A-BC50-90B88FC46324}" destId="{00E1CD75-EB6F-47D8-8184-9D1D29CA93B9}" srcOrd="4" destOrd="0" presId="urn:microsoft.com/office/officeart/2005/8/layout/hProcess9#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6EF6EE-088E-443F-864E-27EAAE0A0E36}" type="doc">
      <dgm:prSet loTypeId="urn:microsoft.com/office/officeart/2005/8/layout/pyramid1#2" loCatId="pyramid" qsTypeId="urn:microsoft.com/office/officeart/2005/8/quickstyle/3d5#2" qsCatId="3D" csTypeId="urn:microsoft.com/office/officeart/2005/8/colors/colorful1#8" csCatId="colorful" phldr="1"/>
      <dgm:spPr/>
    </dgm:pt>
    <dgm:pt modelId="{EA957AFC-97EB-41FD-843A-498D4FF61A90}">
      <dgm:prSet phldrT="[文本]" custT="1"/>
      <dgm:spPr>
        <a:xfrm>
          <a:off x="2032000" y="0"/>
          <a:ext cx="2032000" cy="1354666"/>
        </a:xfrm>
        <a:prstGeom prst="trapezoid">
          <a:avLst>
            <a:gd name="adj" fmla="val 75000"/>
          </a:avLst>
        </a:prstGeom>
        <a:solidFill>
          <a:srgbClr val="ED7D31">
            <a:hueOff val="0"/>
            <a:satOff val="0"/>
            <a:lumOff val="0"/>
            <a:alphaOff val="0"/>
          </a:srgbClr>
        </a:solidFill>
        <a:ln>
          <a:noFill/>
        </a:ln>
        <a:effectLst/>
        <a:sp3d extrusionH="381000" contourW="38100" prstMaterial="matte">
          <a:contourClr>
            <a:sysClr val="window" lastClr="FFFFFF"/>
          </a:contourClr>
        </a:sp3d>
      </dgm:spPr>
      <dgm:t>
        <a:bodyPr/>
        <a:lstStyle/>
        <a:p>
          <a:pPr>
            <a:buNone/>
          </a:pPr>
          <a:r>
            <a:rPr lang="zh-CN" altLang="en-US" sz="2400" dirty="0">
              <a:solidFill>
                <a:sysClr val="windowText" lastClr="000000">
                  <a:hueOff val="0"/>
                  <a:satOff val="0"/>
                  <a:lumOff val="0"/>
                  <a:alphaOff val="0"/>
                </a:sysClr>
              </a:solidFill>
              <a:latin typeface="Calibri" panose="020F0502020204030204"/>
              <a:ea typeface="等线" panose="02010600030101010101" pitchFamily="2" charset="-122"/>
              <a:cs typeface="+mn-cs"/>
            </a:rPr>
            <a:t>专业</a:t>
          </a:r>
          <a:endParaRPr lang="en-US" altLang="zh-CN" sz="2400" dirty="0">
            <a:solidFill>
              <a:sysClr val="windowText" lastClr="000000">
                <a:hueOff val="0"/>
                <a:satOff val="0"/>
                <a:lumOff val="0"/>
                <a:alphaOff val="0"/>
              </a:sysClr>
            </a:solidFill>
            <a:latin typeface="Calibri" panose="020F0502020204030204"/>
            <a:ea typeface="等线" panose="02010600030101010101" pitchFamily="2" charset="-122"/>
            <a:cs typeface="+mn-cs"/>
          </a:endParaRPr>
        </a:p>
        <a:p>
          <a:pPr>
            <a:buNone/>
          </a:pPr>
          <a:r>
            <a:rPr lang="zh-CN" altLang="en-US" sz="2400" dirty="0">
              <a:solidFill>
                <a:sysClr val="windowText" lastClr="000000">
                  <a:hueOff val="0"/>
                  <a:satOff val="0"/>
                  <a:lumOff val="0"/>
                  <a:alphaOff val="0"/>
                </a:sysClr>
              </a:solidFill>
              <a:latin typeface="Calibri" panose="020F0502020204030204"/>
              <a:ea typeface="等线" panose="02010600030101010101" pitchFamily="2" charset="-122"/>
              <a:cs typeface="+mn-cs"/>
            </a:rPr>
            <a:t>英语</a:t>
          </a:r>
        </a:p>
      </dgm:t>
    </dgm:pt>
    <dgm:pt modelId="{C5F7887E-1651-4AB9-BCD6-92F81F86475A}" type="parTrans" cxnId="{AF7DF63B-D446-4F16-8372-02417FFE6505}">
      <dgm:prSet/>
      <dgm:spPr/>
      <dgm:t>
        <a:bodyPr/>
        <a:lstStyle/>
        <a:p>
          <a:endParaRPr lang="zh-CN" altLang="en-US"/>
        </a:p>
      </dgm:t>
    </dgm:pt>
    <dgm:pt modelId="{1A0A3648-475C-41B7-B31A-63EB511365BF}" type="sibTrans" cxnId="{AF7DF63B-D446-4F16-8372-02417FFE6505}">
      <dgm:prSet/>
      <dgm:spPr/>
      <dgm:t>
        <a:bodyPr/>
        <a:lstStyle/>
        <a:p>
          <a:endParaRPr lang="zh-CN" altLang="en-US"/>
        </a:p>
      </dgm:t>
    </dgm:pt>
    <dgm:pt modelId="{08AC827C-2DBB-49A2-AFFC-664648797412}">
      <dgm:prSet phldrT="[文本]" custT="1"/>
      <dgm:spPr>
        <a:xfrm>
          <a:off x="1015999" y="1354666"/>
          <a:ext cx="4064000" cy="1354666"/>
        </a:xfrm>
        <a:prstGeom prst="trapezoid">
          <a:avLst>
            <a:gd name="adj" fmla="val 75000"/>
          </a:avLst>
        </a:prstGeom>
        <a:solidFill>
          <a:srgbClr val="A5A5A5">
            <a:hueOff val="0"/>
            <a:satOff val="0"/>
            <a:lumOff val="0"/>
            <a:alphaOff val="0"/>
          </a:srgbClr>
        </a:solidFill>
        <a:ln>
          <a:noFill/>
        </a:ln>
        <a:effectLst/>
        <a:sp3d extrusionH="381000" contourW="38100" prstMaterial="matte">
          <a:contourClr>
            <a:sysClr val="window" lastClr="FFFFFF"/>
          </a:contourClr>
        </a:sp3d>
      </dgm:spPr>
      <dgm:t>
        <a:bodyPr/>
        <a:lstStyle/>
        <a:p>
          <a:pPr>
            <a:buNone/>
          </a:pPr>
          <a:r>
            <a:rPr lang="zh-CN" altLang="en-US" sz="3200" dirty="0">
              <a:solidFill>
                <a:sysClr val="windowText" lastClr="000000">
                  <a:hueOff val="0"/>
                  <a:satOff val="0"/>
                  <a:lumOff val="0"/>
                  <a:alphaOff val="0"/>
                </a:sysClr>
              </a:solidFill>
              <a:latin typeface="Calibri" panose="020F0502020204030204"/>
              <a:ea typeface="等线" panose="02010600030101010101" pitchFamily="2" charset="-122"/>
              <a:cs typeface="+mn-cs"/>
            </a:rPr>
            <a:t>托福雅思</a:t>
          </a:r>
        </a:p>
      </dgm:t>
    </dgm:pt>
    <dgm:pt modelId="{0C6ADBF2-3DDF-4A7A-B9C8-6C2AE7233A7D}" type="parTrans" cxnId="{2EAA77F9-DF5F-4F9B-94CB-0C8F9366C524}">
      <dgm:prSet/>
      <dgm:spPr/>
      <dgm:t>
        <a:bodyPr/>
        <a:lstStyle/>
        <a:p>
          <a:endParaRPr lang="zh-CN" altLang="en-US"/>
        </a:p>
      </dgm:t>
    </dgm:pt>
    <dgm:pt modelId="{C3461AA8-3CA8-4FC4-BC56-955D3179EE99}" type="sibTrans" cxnId="{2EAA77F9-DF5F-4F9B-94CB-0C8F9366C524}">
      <dgm:prSet/>
      <dgm:spPr/>
      <dgm:t>
        <a:bodyPr/>
        <a:lstStyle/>
        <a:p>
          <a:endParaRPr lang="zh-CN" altLang="en-US"/>
        </a:p>
      </dgm:t>
    </dgm:pt>
    <dgm:pt modelId="{44B8B561-49DC-4362-811F-585E957FDB26}">
      <dgm:prSet phldrT="[文本]" custT="1"/>
      <dgm:spPr>
        <a:xfrm>
          <a:off x="0" y="2709333"/>
          <a:ext cx="6096000" cy="1354666"/>
        </a:xfrm>
        <a:prstGeom prst="trapezoid">
          <a:avLst>
            <a:gd name="adj" fmla="val 75000"/>
          </a:avLst>
        </a:prstGeom>
        <a:solidFill>
          <a:srgbClr val="FFC000">
            <a:hueOff val="0"/>
            <a:satOff val="0"/>
            <a:lumOff val="0"/>
            <a:alphaOff val="0"/>
          </a:srgbClr>
        </a:solidFill>
        <a:ln>
          <a:noFill/>
        </a:ln>
        <a:effectLst/>
        <a:sp3d extrusionH="381000" contourW="38100" prstMaterial="matte">
          <a:contourClr>
            <a:sysClr val="window" lastClr="FFFFFF"/>
          </a:contourClr>
        </a:sp3d>
      </dgm:spPr>
      <dgm:t>
        <a:bodyPr/>
        <a:lstStyle/>
        <a:p>
          <a:pPr>
            <a:buNone/>
          </a:pPr>
          <a:r>
            <a:rPr lang="zh-CN" altLang="en-US" sz="4000" dirty="0">
              <a:solidFill>
                <a:sysClr val="windowText" lastClr="000000">
                  <a:hueOff val="0"/>
                  <a:satOff val="0"/>
                  <a:lumOff val="0"/>
                  <a:alphaOff val="0"/>
                </a:sysClr>
              </a:solidFill>
              <a:latin typeface="Calibri" panose="020F0502020204030204"/>
              <a:ea typeface="等线" panose="02010600030101010101" pitchFamily="2" charset="-122"/>
              <a:cs typeface="+mn-cs"/>
            </a:rPr>
            <a:t>大学英语四六级</a:t>
          </a:r>
        </a:p>
      </dgm:t>
    </dgm:pt>
    <dgm:pt modelId="{2F487FF7-1FD6-48B1-AFBD-BE4DEAC0FA8E}" type="parTrans" cxnId="{5C1F589A-37F5-4076-B475-D3F66A27659B}">
      <dgm:prSet/>
      <dgm:spPr/>
      <dgm:t>
        <a:bodyPr/>
        <a:lstStyle/>
        <a:p>
          <a:endParaRPr lang="zh-CN" altLang="en-US"/>
        </a:p>
      </dgm:t>
    </dgm:pt>
    <dgm:pt modelId="{EB0F67BA-ACF8-4FE7-953D-68C0361E47BE}" type="sibTrans" cxnId="{5C1F589A-37F5-4076-B475-D3F66A27659B}">
      <dgm:prSet/>
      <dgm:spPr/>
      <dgm:t>
        <a:bodyPr/>
        <a:lstStyle/>
        <a:p>
          <a:endParaRPr lang="zh-CN" altLang="en-US"/>
        </a:p>
      </dgm:t>
    </dgm:pt>
    <dgm:pt modelId="{4EDF6565-7579-4B03-92F4-CFE5933A9F0C}" type="pres">
      <dgm:prSet presAssocID="{A66EF6EE-088E-443F-864E-27EAAE0A0E36}" presName="Name0" presStyleCnt="0">
        <dgm:presLayoutVars>
          <dgm:dir/>
          <dgm:animLvl val="lvl"/>
          <dgm:resizeHandles val="exact"/>
        </dgm:presLayoutVars>
      </dgm:prSet>
      <dgm:spPr/>
    </dgm:pt>
    <dgm:pt modelId="{8C3F9EFF-5DAB-4FEA-AB8E-A49FFFF11C71}" type="pres">
      <dgm:prSet presAssocID="{EA957AFC-97EB-41FD-843A-498D4FF61A90}" presName="Name8" presStyleCnt="0"/>
      <dgm:spPr/>
    </dgm:pt>
    <dgm:pt modelId="{11BF3FEF-C295-4A2D-A2C9-1D445855C910}" type="pres">
      <dgm:prSet presAssocID="{EA957AFC-97EB-41FD-843A-498D4FF61A90}" presName="level" presStyleLbl="node1" presStyleIdx="0" presStyleCnt="3">
        <dgm:presLayoutVars>
          <dgm:chMax val="1"/>
          <dgm:bulletEnabled val="1"/>
        </dgm:presLayoutVars>
      </dgm:prSet>
      <dgm:spPr/>
    </dgm:pt>
    <dgm:pt modelId="{2601F291-E8A0-42A4-A72B-6A9C7C592C95}" type="pres">
      <dgm:prSet presAssocID="{EA957AFC-97EB-41FD-843A-498D4FF61A90}" presName="levelTx" presStyleLbl="revTx" presStyleIdx="0" presStyleCnt="0">
        <dgm:presLayoutVars>
          <dgm:chMax val="1"/>
          <dgm:bulletEnabled val="1"/>
        </dgm:presLayoutVars>
      </dgm:prSet>
      <dgm:spPr/>
    </dgm:pt>
    <dgm:pt modelId="{1A9EDF2A-50BD-4934-9B35-F3D5FA070DD8}" type="pres">
      <dgm:prSet presAssocID="{08AC827C-2DBB-49A2-AFFC-664648797412}" presName="Name8" presStyleCnt="0"/>
      <dgm:spPr/>
    </dgm:pt>
    <dgm:pt modelId="{D61CC2E0-9A18-4C55-A312-3BE144EFA4D9}" type="pres">
      <dgm:prSet presAssocID="{08AC827C-2DBB-49A2-AFFC-664648797412}" presName="level" presStyleLbl="node1" presStyleIdx="1" presStyleCnt="3">
        <dgm:presLayoutVars>
          <dgm:chMax val="1"/>
          <dgm:bulletEnabled val="1"/>
        </dgm:presLayoutVars>
      </dgm:prSet>
      <dgm:spPr/>
    </dgm:pt>
    <dgm:pt modelId="{17C6303F-3982-46CC-AF32-DA058292A5B7}" type="pres">
      <dgm:prSet presAssocID="{08AC827C-2DBB-49A2-AFFC-664648797412}" presName="levelTx" presStyleLbl="revTx" presStyleIdx="0" presStyleCnt="0">
        <dgm:presLayoutVars>
          <dgm:chMax val="1"/>
          <dgm:bulletEnabled val="1"/>
        </dgm:presLayoutVars>
      </dgm:prSet>
      <dgm:spPr/>
    </dgm:pt>
    <dgm:pt modelId="{B6CF4520-9581-4BC3-BB04-058F2BEA535A}" type="pres">
      <dgm:prSet presAssocID="{44B8B561-49DC-4362-811F-585E957FDB26}" presName="Name8" presStyleCnt="0"/>
      <dgm:spPr/>
    </dgm:pt>
    <dgm:pt modelId="{47D7BBA9-11AD-4506-9C3B-8D30D039AEFD}" type="pres">
      <dgm:prSet presAssocID="{44B8B561-49DC-4362-811F-585E957FDB26}" presName="level" presStyleLbl="node1" presStyleIdx="2" presStyleCnt="3" custLinFactNeighborX="13030" custLinFactNeighborY="47590">
        <dgm:presLayoutVars>
          <dgm:chMax val="1"/>
          <dgm:bulletEnabled val="1"/>
        </dgm:presLayoutVars>
      </dgm:prSet>
      <dgm:spPr/>
    </dgm:pt>
    <dgm:pt modelId="{2CEE95C3-966E-4594-B01D-010D43A882C1}" type="pres">
      <dgm:prSet presAssocID="{44B8B561-49DC-4362-811F-585E957FDB26}" presName="levelTx" presStyleLbl="revTx" presStyleIdx="0" presStyleCnt="0">
        <dgm:presLayoutVars>
          <dgm:chMax val="1"/>
          <dgm:bulletEnabled val="1"/>
        </dgm:presLayoutVars>
      </dgm:prSet>
      <dgm:spPr/>
    </dgm:pt>
  </dgm:ptLst>
  <dgm:cxnLst>
    <dgm:cxn modelId="{AF7DF63B-D446-4F16-8372-02417FFE6505}" srcId="{A66EF6EE-088E-443F-864E-27EAAE0A0E36}" destId="{EA957AFC-97EB-41FD-843A-498D4FF61A90}" srcOrd="0" destOrd="0" parTransId="{C5F7887E-1651-4AB9-BCD6-92F81F86475A}" sibTransId="{1A0A3648-475C-41B7-B31A-63EB511365BF}"/>
    <dgm:cxn modelId="{E80B5B5F-0830-47B8-8F2F-AA3D92235331}" type="presOf" srcId="{EA957AFC-97EB-41FD-843A-498D4FF61A90}" destId="{2601F291-E8A0-42A4-A72B-6A9C7C592C95}" srcOrd="1" destOrd="0" presId="urn:microsoft.com/office/officeart/2005/8/layout/pyramid1#2"/>
    <dgm:cxn modelId="{953CB172-B29D-4D0F-B89B-68484AAD3C8E}" type="presOf" srcId="{A66EF6EE-088E-443F-864E-27EAAE0A0E36}" destId="{4EDF6565-7579-4B03-92F4-CFE5933A9F0C}" srcOrd="0" destOrd="0" presId="urn:microsoft.com/office/officeart/2005/8/layout/pyramid1#2"/>
    <dgm:cxn modelId="{022B148F-CF92-446E-84C9-1F211F298A07}" type="presOf" srcId="{08AC827C-2DBB-49A2-AFFC-664648797412}" destId="{D61CC2E0-9A18-4C55-A312-3BE144EFA4D9}" srcOrd="0" destOrd="0" presId="urn:microsoft.com/office/officeart/2005/8/layout/pyramid1#2"/>
    <dgm:cxn modelId="{5C1F589A-37F5-4076-B475-D3F66A27659B}" srcId="{A66EF6EE-088E-443F-864E-27EAAE0A0E36}" destId="{44B8B561-49DC-4362-811F-585E957FDB26}" srcOrd="2" destOrd="0" parTransId="{2F487FF7-1FD6-48B1-AFBD-BE4DEAC0FA8E}" sibTransId="{EB0F67BA-ACF8-4FE7-953D-68C0361E47BE}"/>
    <dgm:cxn modelId="{3A2B56A6-FE48-4BDC-ABFE-6CB7C5C8FFE7}" type="presOf" srcId="{EA957AFC-97EB-41FD-843A-498D4FF61A90}" destId="{11BF3FEF-C295-4A2D-A2C9-1D445855C910}" srcOrd="0" destOrd="0" presId="urn:microsoft.com/office/officeart/2005/8/layout/pyramid1#2"/>
    <dgm:cxn modelId="{8CD050C5-DA28-4F6F-B935-B13F53A8E4C6}" type="presOf" srcId="{44B8B561-49DC-4362-811F-585E957FDB26}" destId="{47D7BBA9-11AD-4506-9C3B-8D30D039AEFD}" srcOrd="0" destOrd="0" presId="urn:microsoft.com/office/officeart/2005/8/layout/pyramid1#2"/>
    <dgm:cxn modelId="{197F7AE7-579B-472A-9C79-02947749EB4C}" type="presOf" srcId="{08AC827C-2DBB-49A2-AFFC-664648797412}" destId="{17C6303F-3982-46CC-AF32-DA058292A5B7}" srcOrd="1" destOrd="0" presId="urn:microsoft.com/office/officeart/2005/8/layout/pyramid1#2"/>
    <dgm:cxn modelId="{2EAA77F9-DF5F-4F9B-94CB-0C8F9366C524}" srcId="{A66EF6EE-088E-443F-864E-27EAAE0A0E36}" destId="{08AC827C-2DBB-49A2-AFFC-664648797412}" srcOrd="1" destOrd="0" parTransId="{0C6ADBF2-3DDF-4A7A-B9C8-6C2AE7233A7D}" sibTransId="{C3461AA8-3CA8-4FC4-BC56-955D3179EE99}"/>
    <dgm:cxn modelId="{4A17BDFA-A0EF-4355-B167-A68CD219258C}" type="presOf" srcId="{44B8B561-49DC-4362-811F-585E957FDB26}" destId="{2CEE95C3-966E-4594-B01D-010D43A882C1}" srcOrd="1" destOrd="0" presId="urn:microsoft.com/office/officeart/2005/8/layout/pyramid1#2"/>
    <dgm:cxn modelId="{30F80287-E841-4F9C-9AAA-3BD836EA4C98}" type="presParOf" srcId="{4EDF6565-7579-4B03-92F4-CFE5933A9F0C}" destId="{8C3F9EFF-5DAB-4FEA-AB8E-A49FFFF11C71}" srcOrd="0" destOrd="0" presId="urn:microsoft.com/office/officeart/2005/8/layout/pyramid1#2"/>
    <dgm:cxn modelId="{3882F169-A0C2-487A-A6DB-DB5FE81BBA8B}" type="presParOf" srcId="{8C3F9EFF-5DAB-4FEA-AB8E-A49FFFF11C71}" destId="{11BF3FEF-C295-4A2D-A2C9-1D445855C910}" srcOrd="0" destOrd="0" presId="urn:microsoft.com/office/officeart/2005/8/layout/pyramid1#2"/>
    <dgm:cxn modelId="{811B3F2C-2BD3-41B0-84DA-F2DAA528358D}" type="presParOf" srcId="{8C3F9EFF-5DAB-4FEA-AB8E-A49FFFF11C71}" destId="{2601F291-E8A0-42A4-A72B-6A9C7C592C95}" srcOrd="1" destOrd="0" presId="urn:microsoft.com/office/officeart/2005/8/layout/pyramid1#2"/>
    <dgm:cxn modelId="{833C2CA0-6366-4F25-8133-701BF124451C}" type="presParOf" srcId="{4EDF6565-7579-4B03-92F4-CFE5933A9F0C}" destId="{1A9EDF2A-50BD-4934-9B35-F3D5FA070DD8}" srcOrd="1" destOrd="0" presId="urn:microsoft.com/office/officeart/2005/8/layout/pyramid1#2"/>
    <dgm:cxn modelId="{3788C061-0286-420D-AE38-9BAE2035D00D}" type="presParOf" srcId="{1A9EDF2A-50BD-4934-9B35-F3D5FA070DD8}" destId="{D61CC2E0-9A18-4C55-A312-3BE144EFA4D9}" srcOrd="0" destOrd="0" presId="urn:microsoft.com/office/officeart/2005/8/layout/pyramid1#2"/>
    <dgm:cxn modelId="{2C542AEA-E708-4412-97BE-798A58F846DC}" type="presParOf" srcId="{1A9EDF2A-50BD-4934-9B35-F3D5FA070DD8}" destId="{17C6303F-3982-46CC-AF32-DA058292A5B7}" srcOrd="1" destOrd="0" presId="urn:microsoft.com/office/officeart/2005/8/layout/pyramid1#2"/>
    <dgm:cxn modelId="{380CC444-92A4-4A1C-99B8-C152DF9035B6}" type="presParOf" srcId="{4EDF6565-7579-4B03-92F4-CFE5933A9F0C}" destId="{B6CF4520-9581-4BC3-BB04-058F2BEA535A}" srcOrd="2" destOrd="0" presId="urn:microsoft.com/office/officeart/2005/8/layout/pyramid1#2"/>
    <dgm:cxn modelId="{335013D6-5659-4BB7-AC0A-A3B8662C439E}" type="presParOf" srcId="{B6CF4520-9581-4BC3-BB04-058F2BEA535A}" destId="{47D7BBA9-11AD-4506-9C3B-8D30D039AEFD}" srcOrd="0" destOrd="0" presId="urn:microsoft.com/office/officeart/2005/8/layout/pyramid1#2"/>
    <dgm:cxn modelId="{537B3137-E483-4A95-889C-D9A7E3C1FCF4}" type="presParOf" srcId="{B6CF4520-9581-4BC3-BB04-058F2BEA535A}" destId="{2CEE95C3-966E-4594-B01D-010D43A882C1}" srcOrd="1" destOrd="0" presId="urn:microsoft.com/office/officeart/2005/8/layout/pyramid1#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3ACF4D-9339-4A21-AF8C-497FA97EB46F}">
      <dsp:nvSpPr>
        <dsp:cNvPr id="0" name=""/>
        <dsp:cNvSpPr/>
      </dsp:nvSpPr>
      <dsp:spPr>
        <a:xfrm>
          <a:off x="2372319" y="0"/>
          <a:ext cx="2456160" cy="2456160"/>
        </a:xfrm>
        <a:prstGeom prst="triangle">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00000"/>
            </a:lnSpc>
            <a:spcBef>
              <a:spcPct val="0"/>
            </a:spcBef>
            <a:spcAft>
              <a:spcPct val="35000"/>
            </a:spcAft>
            <a:buNone/>
          </a:pPr>
          <a:r>
            <a:rPr lang="en-US" altLang="zh-CN" sz="1600" kern="1200" dirty="0">
              <a:solidFill>
                <a:sysClr val="window" lastClr="FFFFFF"/>
              </a:solidFill>
              <a:latin typeface="Calibri" panose="020F0502020204030204"/>
              <a:ea typeface="等线" panose="02010600030101010101" pitchFamily="2" charset="-122"/>
              <a:cs typeface="+mn-cs"/>
            </a:rPr>
            <a:t>Foreign Languages learning</a:t>
          </a:r>
        </a:p>
        <a:p>
          <a:pPr marL="0" lvl="0" indent="0" algn="ctr" defTabSz="711200">
            <a:lnSpc>
              <a:spcPct val="100000"/>
            </a:lnSpc>
            <a:spcBef>
              <a:spcPct val="0"/>
            </a:spcBef>
            <a:spcAft>
              <a:spcPct val="35000"/>
            </a:spcAft>
            <a:buNone/>
          </a:pPr>
          <a:r>
            <a:rPr lang="zh-CN" altLang="en-US" sz="1600" kern="1200" dirty="0">
              <a:solidFill>
                <a:sysClr val="window" lastClr="FFFFFF"/>
              </a:solidFill>
              <a:latin typeface="Calibri" panose="020F0502020204030204"/>
              <a:ea typeface="等线" panose="02010600030101010101" pitchFamily="2" charset="-122"/>
              <a:cs typeface="+mn-cs"/>
            </a:rPr>
            <a:t>外语学习</a:t>
          </a:r>
        </a:p>
      </dsp:txBody>
      <dsp:txXfrm>
        <a:off x="2986359" y="1228080"/>
        <a:ext cx="1228080" cy="1228080"/>
      </dsp:txXfrm>
    </dsp:sp>
    <dsp:sp modelId="{E3B55782-0409-45CD-9AED-FEF48D094B60}">
      <dsp:nvSpPr>
        <dsp:cNvPr id="0" name=""/>
        <dsp:cNvSpPr/>
      </dsp:nvSpPr>
      <dsp:spPr>
        <a:xfrm>
          <a:off x="1144238" y="2456160"/>
          <a:ext cx="2456160" cy="2456160"/>
        </a:xfrm>
        <a:prstGeom prst="triangl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00000"/>
            </a:lnSpc>
            <a:spcBef>
              <a:spcPct val="0"/>
            </a:spcBef>
            <a:spcAft>
              <a:spcPct val="35000"/>
            </a:spcAft>
            <a:buNone/>
          </a:pPr>
          <a:r>
            <a:rPr lang="en-US" altLang="zh-CN" sz="2000" kern="1200" dirty="0">
              <a:solidFill>
                <a:srgbClr val="FF0000"/>
              </a:solidFill>
              <a:latin typeface="Calibri" panose="020F0502020204030204"/>
              <a:ea typeface="等线" panose="02010600030101010101" pitchFamily="2" charset="-122"/>
              <a:cs typeface="+mn-cs"/>
            </a:rPr>
            <a:t>Style</a:t>
          </a:r>
        </a:p>
        <a:p>
          <a:pPr marL="0" lvl="0" indent="0" algn="ctr" defTabSz="889000">
            <a:lnSpc>
              <a:spcPct val="100000"/>
            </a:lnSpc>
            <a:spcBef>
              <a:spcPct val="0"/>
            </a:spcBef>
            <a:spcAft>
              <a:spcPct val="35000"/>
            </a:spcAft>
            <a:buNone/>
          </a:pPr>
          <a:r>
            <a:rPr lang="en-US" altLang="zh-CN" sz="2000" kern="1200" dirty="0">
              <a:solidFill>
                <a:srgbClr val="FF0000"/>
              </a:solidFill>
              <a:latin typeface="Calibri" panose="020F0502020204030204"/>
              <a:ea typeface="等线" panose="02010600030101010101" pitchFamily="2" charset="-122"/>
              <a:cs typeface="+mn-cs"/>
            </a:rPr>
            <a:t>faith</a:t>
          </a:r>
        </a:p>
        <a:p>
          <a:pPr marL="0" lvl="0" indent="0" algn="ctr" defTabSz="889000">
            <a:lnSpc>
              <a:spcPct val="100000"/>
            </a:lnSpc>
            <a:spcBef>
              <a:spcPct val="0"/>
            </a:spcBef>
            <a:spcAft>
              <a:spcPct val="35000"/>
            </a:spcAft>
            <a:buNone/>
          </a:pPr>
          <a:r>
            <a:rPr lang="zh-CN" altLang="en-US" sz="2000" kern="1200" dirty="0">
              <a:solidFill>
                <a:srgbClr val="FF0000"/>
              </a:solidFill>
              <a:latin typeface="Calibri" panose="020F0502020204030204"/>
              <a:ea typeface="等线" panose="02010600030101010101" pitchFamily="2" charset="-122"/>
              <a:cs typeface="+mn-cs"/>
            </a:rPr>
            <a:t>美学表达</a:t>
          </a:r>
        </a:p>
      </dsp:txBody>
      <dsp:txXfrm>
        <a:off x="1758278" y="3684240"/>
        <a:ext cx="1228080" cy="1228080"/>
      </dsp:txXfrm>
    </dsp:sp>
    <dsp:sp modelId="{4889BCBE-E6D6-4BF5-87B1-26266A73E236}">
      <dsp:nvSpPr>
        <dsp:cNvPr id="0" name=""/>
        <dsp:cNvSpPr/>
      </dsp:nvSpPr>
      <dsp:spPr>
        <a:xfrm rot="10800000">
          <a:off x="2372319" y="2456160"/>
          <a:ext cx="2456160" cy="2456160"/>
        </a:xfrm>
        <a:prstGeom prst="triangle">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ct val="35000"/>
            </a:spcAft>
            <a:buNone/>
          </a:pPr>
          <a:r>
            <a:rPr lang="en-US" altLang="zh-CN" sz="1800" kern="1200" dirty="0">
              <a:solidFill>
                <a:srgbClr val="0070C0"/>
              </a:solidFill>
              <a:latin typeface="Calibri" panose="020F0502020204030204"/>
              <a:ea typeface="等线" panose="02010600030101010101" pitchFamily="2" charset="-122"/>
              <a:cs typeface="+mn-cs"/>
            </a:rPr>
            <a:t>Following</a:t>
          </a:r>
        </a:p>
        <a:p>
          <a:pPr marL="0" lvl="0" indent="0" algn="ctr" defTabSz="800100">
            <a:lnSpc>
              <a:spcPct val="100000"/>
            </a:lnSpc>
            <a:spcBef>
              <a:spcPct val="0"/>
            </a:spcBef>
            <a:spcAft>
              <a:spcPct val="35000"/>
            </a:spcAft>
            <a:buNone/>
          </a:pPr>
          <a:r>
            <a:rPr lang="en-US" altLang="zh-CN" sz="1800" kern="1200" dirty="0">
              <a:solidFill>
                <a:srgbClr val="0070C0"/>
              </a:solidFill>
              <a:latin typeface="Calibri" panose="020F0502020204030204"/>
              <a:ea typeface="等线" panose="02010600030101010101" pitchFamily="2" charset="-122"/>
              <a:cs typeface="+mn-cs"/>
            </a:rPr>
            <a:t>attitude</a:t>
          </a:r>
        </a:p>
        <a:p>
          <a:pPr marL="0" lvl="0" indent="0" algn="ctr" defTabSz="800100">
            <a:lnSpc>
              <a:spcPct val="100000"/>
            </a:lnSpc>
            <a:spcBef>
              <a:spcPct val="0"/>
            </a:spcBef>
            <a:spcAft>
              <a:spcPct val="35000"/>
            </a:spcAft>
            <a:buNone/>
          </a:pPr>
          <a:r>
            <a:rPr lang="zh-CN" altLang="en-US" sz="1800" kern="1200" dirty="0">
              <a:solidFill>
                <a:srgbClr val="0070C0"/>
              </a:solidFill>
              <a:latin typeface="Calibri" panose="020F0502020204030204"/>
              <a:ea typeface="等线" panose="02010600030101010101" pitchFamily="2" charset="-122"/>
              <a:cs typeface="+mn-cs"/>
            </a:rPr>
            <a:t>创新驱动</a:t>
          </a:r>
        </a:p>
      </dsp:txBody>
      <dsp:txXfrm rot="10800000">
        <a:off x="2986359" y="2456160"/>
        <a:ext cx="1228080" cy="1228080"/>
      </dsp:txXfrm>
    </dsp:sp>
    <dsp:sp modelId="{45767B67-D049-46E2-866E-221BB06882FC}">
      <dsp:nvSpPr>
        <dsp:cNvPr id="0" name=""/>
        <dsp:cNvSpPr/>
      </dsp:nvSpPr>
      <dsp:spPr>
        <a:xfrm>
          <a:off x="3600399" y="2456160"/>
          <a:ext cx="2456160" cy="2456160"/>
        </a:xfrm>
        <a:prstGeom prst="triangle">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ct val="35000"/>
            </a:spcAft>
            <a:buNone/>
          </a:pPr>
          <a:r>
            <a:rPr lang="en-US" altLang="zh-CN" sz="1800" kern="1200" dirty="0">
              <a:solidFill>
                <a:schemeClr val="bg1"/>
              </a:solidFill>
              <a:latin typeface="Calibri" panose="020F0502020204030204"/>
              <a:ea typeface="等线" panose="02010600030101010101" pitchFamily="2" charset="-122"/>
              <a:cs typeface="+mn-cs"/>
            </a:rPr>
            <a:t>Scientific</a:t>
          </a:r>
        </a:p>
        <a:p>
          <a:pPr marL="0" lvl="0" indent="0" algn="ctr" defTabSz="800100">
            <a:lnSpc>
              <a:spcPct val="100000"/>
            </a:lnSpc>
            <a:spcBef>
              <a:spcPct val="0"/>
            </a:spcBef>
            <a:spcAft>
              <a:spcPct val="35000"/>
            </a:spcAft>
            <a:buNone/>
          </a:pPr>
          <a:r>
            <a:rPr lang="en-US" altLang="zh-CN" sz="1800" kern="1200" dirty="0">
              <a:solidFill>
                <a:schemeClr val="bg1"/>
              </a:solidFill>
              <a:latin typeface="Calibri" panose="020F0502020204030204"/>
              <a:ea typeface="等线" panose="02010600030101010101" pitchFamily="2" charset="-122"/>
              <a:cs typeface="+mn-cs"/>
            </a:rPr>
            <a:t>horizon</a:t>
          </a:r>
        </a:p>
        <a:p>
          <a:pPr marL="0" lvl="0" indent="0" algn="ctr" defTabSz="800100">
            <a:lnSpc>
              <a:spcPct val="100000"/>
            </a:lnSpc>
            <a:spcBef>
              <a:spcPct val="0"/>
            </a:spcBef>
            <a:spcAft>
              <a:spcPct val="35000"/>
            </a:spcAft>
            <a:buNone/>
          </a:pPr>
          <a:r>
            <a:rPr lang="zh-CN" altLang="en-US" sz="1800" kern="1200" dirty="0">
              <a:solidFill>
                <a:schemeClr val="bg1"/>
              </a:solidFill>
              <a:latin typeface="Calibri" panose="020F0502020204030204"/>
              <a:ea typeface="等线" panose="02010600030101010101" pitchFamily="2" charset="-122"/>
              <a:cs typeface="+mn-cs"/>
            </a:rPr>
            <a:t>科学视角</a:t>
          </a:r>
        </a:p>
      </dsp:txBody>
      <dsp:txXfrm>
        <a:off x="4214439" y="3684240"/>
        <a:ext cx="1228080" cy="1228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A7FC2F-DB9B-4553-B316-BDC6A96B209F}">
      <dsp:nvSpPr>
        <dsp:cNvPr id="0" name=""/>
        <dsp:cNvSpPr/>
      </dsp:nvSpPr>
      <dsp:spPr>
        <a:xfrm>
          <a:off x="648072" y="0"/>
          <a:ext cx="7344816" cy="2160436"/>
        </a:xfrm>
        <a:prstGeom prst="rightArrow">
          <a:avLst/>
        </a:prstGeom>
        <a:solidFill>
          <a:srgbClr val="ED7D31">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62D3A2BF-27BB-4934-8AF0-1EBC6AF32018}">
      <dsp:nvSpPr>
        <dsp:cNvPr id="0" name=""/>
        <dsp:cNvSpPr/>
      </dsp:nvSpPr>
      <dsp:spPr bwMode="white">
        <a:xfrm>
          <a:off x="160752" y="648130"/>
          <a:ext cx="2592288" cy="864174"/>
        </a:xfrm>
        <a:prstGeom prst="roundRect">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altLang="zh-CN" sz="3600" kern="1200" dirty="0">
              <a:solidFill>
                <a:sysClr val="window" lastClr="FFFFFF"/>
              </a:solidFill>
              <a:latin typeface="Calibri" panose="020F0502020204030204"/>
              <a:ea typeface="等线" panose="02010600030101010101" pitchFamily="2" charset="-122"/>
              <a:cs typeface="+mn-cs"/>
            </a:rPr>
            <a:t>Motivation</a:t>
          </a:r>
          <a:endParaRPr lang="zh-CN" altLang="en-US" sz="3600" kern="1200" dirty="0">
            <a:solidFill>
              <a:sysClr val="window" lastClr="FFFFFF"/>
            </a:solidFill>
            <a:latin typeface="Calibri" panose="020F0502020204030204"/>
            <a:ea typeface="等线" panose="02010600030101010101" pitchFamily="2" charset="-122"/>
            <a:cs typeface="+mn-cs"/>
          </a:endParaRPr>
        </a:p>
      </dsp:txBody>
      <dsp:txXfrm>
        <a:off x="202937" y="690315"/>
        <a:ext cx="2507918" cy="779804"/>
      </dsp:txXfrm>
    </dsp:sp>
    <dsp:sp modelId="{2A1CD058-64DB-46A5-9576-6B1383C8012E}">
      <dsp:nvSpPr>
        <dsp:cNvPr id="0" name=""/>
        <dsp:cNvSpPr/>
      </dsp:nvSpPr>
      <dsp:spPr bwMode="white">
        <a:xfrm>
          <a:off x="3024336" y="648130"/>
          <a:ext cx="2592288" cy="864174"/>
        </a:xfrm>
        <a:prstGeom prst="roundRect">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altLang="zh-CN" sz="3600" kern="1200" dirty="0">
              <a:solidFill>
                <a:sysClr val="window" lastClr="FFFFFF"/>
              </a:solidFill>
              <a:latin typeface="Calibri" panose="020F0502020204030204"/>
              <a:ea typeface="等线" panose="02010600030101010101" pitchFamily="2" charset="-122"/>
              <a:cs typeface="+mn-cs"/>
            </a:rPr>
            <a:t>Flow</a:t>
          </a:r>
          <a:endParaRPr lang="zh-CN" altLang="en-US" sz="3600" kern="1200" dirty="0">
            <a:solidFill>
              <a:sysClr val="window" lastClr="FFFFFF"/>
            </a:solidFill>
            <a:latin typeface="Calibri" panose="020F0502020204030204"/>
            <a:ea typeface="等线" panose="02010600030101010101" pitchFamily="2" charset="-122"/>
            <a:cs typeface="+mn-cs"/>
          </a:endParaRPr>
        </a:p>
      </dsp:txBody>
      <dsp:txXfrm>
        <a:off x="3066521" y="690315"/>
        <a:ext cx="2507918" cy="779804"/>
      </dsp:txXfrm>
    </dsp:sp>
    <dsp:sp modelId="{00E1CD75-EB6F-47D8-8184-9D1D29CA93B9}">
      <dsp:nvSpPr>
        <dsp:cNvPr id="0" name=""/>
        <dsp:cNvSpPr/>
      </dsp:nvSpPr>
      <dsp:spPr bwMode="white">
        <a:xfrm>
          <a:off x="5887920" y="648130"/>
          <a:ext cx="2592288" cy="864174"/>
        </a:xfrm>
        <a:prstGeom prst="roundRect">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altLang="zh-CN" sz="3600" kern="1200" dirty="0">
              <a:solidFill>
                <a:sysClr val="window" lastClr="FFFFFF"/>
              </a:solidFill>
              <a:latin typeface="Calibri" panose="020F0502020204030204"/>
              <a:ea typeface="等线" panose="02010600030101010101" pitchFamily="2" charset="-122"/>
              <a:cs typeface="+mn-cs"/>
            </a:rPr>
            <a:t>Details</a:t>
          </a:r>
          <a:endParaRPr lang="zh-CN" altLang="en-US" sz="3600" kern="1200" dirty="0">
            <a:solidFill>
              <a:sysClr val="window" lastClr="FFFFFF"/>
            </a:solidFill>
            <a:latin typeface="Calibri" panose="020F0502020204030204"/>
            <a:ea typeface="等线" panose="02010600030101010101" pitchFamily="2" charset="-122"/>
            <a:cs typeface="+mn-cs"/>
          </a:endParaRPr>
        </a:p>
      </dsp:txBody>
      <dsp:txXfrm>
        <a:off x="5930105" y="690315"/>
        <a:ext cx="2507918" cy="7798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A7FC2F-DB9B-4553-B316-BDC6A96B209F}">
      <dsp:nvSpPr>
        <dsp:cNvPr id="0" name=""/>
        <dsp:cNvSpPr/>
      </dsp:nvSpPr>
      <dsp:spPr>
        <a:xfrm>
          <a:off x="639932" y="0"/>
          <a:ext cx="7252574" cy="2160438"/>
        </a:xfrm>
        <a:prstGeom prst="rightArrow">
          <a:avLst/>
        </a:prstGeom>
        <a:solidFill>
          <a:srgbClr val="ED7D31">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62D3A2BF-27BB-4934-8AF0-1EBC6AF32018}">
      <dsp:nvSpPr>
        <dsp:cNvPr id="0" name=""/>
        <dsp:cNvSpPr/>
      </dsp:nvSpPr>
      <dsp:spPr bwMode="white">
        <a:xfrm>
          <a:off x="6457" y="648131"/>
          <a:ext cx="2680969" cy="864175"/>
        </a:xfrm>
        <a:prstGeom prst="roundRect">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solidFill>
                <a:sysClr val="window" lastClr="FFFFFF"/>
              </a:solidFill>
              <a:latin typeface="Calibri" panose="020F0502020204030204"/>
              <a:ea typeface="等线" panose="02010600030101010101" pitchFamily="2" charset="-122"/>
              <a:cs typeface="+mn-cs"/>
            </a:rPr>
            <a:t>Introduction</a:t>
          </a:r>
          <a:endParaRPr lang="zh-CN" altLang="en-US" sz="3500" kern="1200" dirty="0">
            <a:solidFill>
              <a:sysClr val="window" lastClr="FFFFFF"/>
            </a:solidFill>
            <a:latin typeface="Calibri" panose="020F0502020204030204"/>
            <a:ea typeface="等线" panose="02010600030101010101" pitchFamily="2" charset="-122"/>
            <a:cs typeface="+mn-cs"/>
          </a:endParaRPr>
        </a:p>
      </dsp:txBody>
      <dsp:txXfrm>
        <a:off x="48643" y="690317"/>
        <a:ext cx="2596597" cy="779803"/>
      </dsp:txXfrm>
    </dsp:sp>
    <dsp:sp modelId="{2A1CD058-64DB-46A5-9576-6B1383C8012E}">
      <dsp:nvSpPr>
        <dsp:cNvPr id="0" name=""/>
        <dsp:cNvSpPr/>
      </dsp:nvSpPr>
      <dsp:spPr bwMode="white">
        <a:xfrm>
          <a:off x="2925735" y="648131"/>
          <a:ext cx="2680969" cy="864175"/>
        </a:xfrm>
        <a:prstGeom prst="roundRect">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solidFill>
                <a:sysClr val="window" lastClr="FFFFFF"/>
              </a:solidFill>
              <a:latin typeface="Calibri" panose="020F0502020204030204"/>
              <a:ea typeface="等线" panose="02010600030101010101" pitchFamily="2" charset="-122"/>
              <a:cs typeface="+mn-cs"/>
            </a:rPr>
            <a:t>Specification</a:t>
          </a:r>
          <a:endParaRPr lang="zh-CN" altLang="en-US" sz="3500" kern="1200" dirty="0">
            <a:solidFill>
              <a:sysClr val="window" lastClr="FFFFFF"/>
            </a:solidFill>
            <a:latin typeface="Calibri" panose="020F0502020204030204"/>
            <a:ea typeface="等线" panose="02010600030101010101" pitchFamily="2" charset="-122"/>
            <a:cs typeface="+mn-cs"/>
          </a:endParaRPr>
        </a:p>
      </dsp:txBody>
      <dsp:txXfrm>
        <a:off x="2967921" y="690317"/>
        <a:ext cx="2596597" cy="779803"/>
      </dsp:txXfrm>
    </dsp:sp>
    <dsp:sp modelId="{00E1CD75-EB6F-47D8-8184-9D1D29CA93B9}">
      <dsp:nvSpPr>
        <dsp:cNvPr id="0" name=""/>
        <dsp:cNvSpPr/>
      </dsp:nvSpPr>
      <dsp:spPr bwMode="white">
        <a:xfrm>
          <a:off x="5845013" y="648131"/>
          <a:ext cx="2680969" cy="864175"/>
        </a:xfrm>
        <a:prstGeom prst="roundRect">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solidFill>
                <a:sysClr val="window" lastClr="FFFFFF"/>
              </a:solidFill>
              <a:latin typeface="Calibri" panose="020F0502020204030204"/>
              <a:ea typeface="等线" panose="02010600030101010101" pitchFamily="2" charset="-122"/>
              <a:cs typeface="+mn-cs"/>
            </a:rPr>
            <a:t>Review</a:t>
          </a:r>
          <a:endParaRPr lang="zh-CN" altLang="en-US" sz="3500" kern="1200" dirty="0">
            <a:solidFill>
              <a:sysClr val="window" lastClr="FFFFFF"/>
            </a:solidFill>
            <a:latin typeface="Calibri" panose="020F0502020204030204"/>
            <a:ea typeface="等线" panose="02010600030101010101" pitchFamily="2" charset="-122"/>
            <a:cs typeface="+mn-cs"/>
          </a:endParaRPr>
        </a:p>
      </dsp:txBody>
      <dsp:txXfrm>
        <a:off x="5887199" y="690317"/>
        <a:ext cx="2596597" cy="7798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BF3FEF-C295-4A2D-A2C9-1D445855C910}">
      <dsp:nvSpPr>
        <dsp:cNvPr id="0" name=""/>
        <dsp:cNvSpPr/>
      </dsp:nvSpPr>
      <dsp:spPr bwMode="white">
        <a:xfrm>
          <a:off x="2032000" y="0"/>
          <a:ext cx="2032000" cy="1354666"/>
        </a:xfrm>
        <a:prstGeom prst="trapezoid">
          <a:avLst>
            <a:gd name="adj" fmla="val 75000"/>
          </a:avLst>
        </a:prstGeom>
        <a:solidFill>
          <a:srgbClr val="ED7D31">
            <a:hueOff val="0"/>
            <a:satOff val="0"/>
            <a:lumOff val="0"/>
            <a:alphaOff val="0"/>
          </a:srgbClr>
        </a:solidFill>
        <a:ln>
          <a:noFill/>
        </a:ln>
        <a:effectLst/>
        <a:sp3d extrusionH="381000" contourW="38100" prstMaterial="matte">
          <a:contourClr>
            <a:sysClr val="window" lastClr="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专业</a:t>
          </a:r>
          <a:endParaRPr lang="en-US" altLang="zh-CN" sz="2400" kern="1200" dirty="0">
            <a:solidFill>
              <a:sysClr val="windowText" lastClr="000000">
                <a:hueOff val="0"/>
                <a:satOff val="0"/>
                <a:lumOff val="0"/>
                <a:alphaOff val="0"/>
              </a:sysClr>
            </a:solidFill>
            <a:latin typeface="Calibri" panose="020F0502020204030204"/>
            <a:ea typeface="等线" panose="02010600030101010101" pitchFamily="2" charset="-122"/>
            <a:cs typeface="+mn-cs"/>
          </a:endParaRPr>
        </a:p>
        <a:p>
          <a:pPr marL="0" lvl="0" indent="0" algn="ctr" defTabSz="1066800">
            <a:lnSpc>
              <a:spcPct val="90000"/>
            </a:lnSpc>
            <a:spcBef>
              <a:spcPct val="0"/>
            </a:spcBef>
            <a:spcAft>
              <a:spcPct val="35000"/>
            </a:spcAft>
            <a:buNone/>
          </a:pPr>
          <a:r>
            <a:rPr lang="zh-CN" altLang="en-US" sz="24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英语</a:t>
          </a:r>
        </a:p>
      </dsp:txBody>
      <dsp:txXfrm>
        <a:off x="2709333" y="451555"/>
        <a:ext cx="677334" cy="903111"/>
      </dsp:txXfrm>
    </dsp:sp>
    <dsp:sp modelId="{D61CC2E0-9A18-4C55-A312-3BE144EFA4D9}">
      <dsp:nvSpPr>
        <dsp:cNvPr id="0" name=""/>
        <dsp:cNvSpPr/>
      </dsp:nvSpPr>
      <dsp:spPr bwMode="white">
        <a:xfrm>
          <a:off x="1015999" y="1354666"/>
          <a:ext cx="4064000" cy="1354666"/>
        </a:xfrm>
        <a:prstGeom prst="trapezoid">
          <a:avLst>
            <a:gd name="adj" fmla="val 75000"/>
          </a:avLst>
        </a:prstGeom>
        <a:solidFill>
          <a:srgbClr val="A5A5A5">
            <a:hueOff val="0"/>
            <a:satOff val="0"/>
            <a:lumOff val="0"/>
            <a:alphaOff val="0"/>
          </a:srgbClr>
        </a:solidFill>
        <a:ln>
          <a:noFill/>
        </a:ln>
        <a:effectLst/>
        <a:sp3d extrusionH="381000" contourW="38100" prstMaterial="matte">
          <a:contourClr>
            <a:sysClr val="window" lastClr="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zh-CN" altLang="en-US" sz="32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托福雅思</a:t>
          </a:r>
        </a:p>
      </dsp:txBody>
      <dsp:txXfrm>
        <a:off x="2404532" y="1702016"/>
        <a:ext cx="1286934" cy="1007316"/>
      </dsp:txXfrm>
    </dsp:sp>
    <dsp:sp modelId="{47D7BBA9-11AD-4506-9C3B-8D30D039AEFD}">
      <dsp:nvSpPr>
        <dsp:cNvPr id="0" name=""/>
        <dsp:cNvSpPr/>
      </dsp:nvSpPr>
      <dsp:spPr bwMode="white">
        <a:xfrm>
          <a:off x="0" y="2709333"/>
          <a:ext cx="6096000" cy="1354666"/>
        </a:xfrm>
        <a:prstGeom prst="trapezoid">
          <a:avLst>
            <a:gd name="adj" fmla="val 75000"/>
          </a:avLst>
        </a:prstGeom>
        <a:solidFill>
          <a:srgbClr val="FFC000">
            <a:hueOff val="0"/>
            <a:satOff val="0"/>
            <a:lumOff val="0"/>
            <a:alphaOff val="0"/>
          </a:srgbClr>
        </a:solidFill>
        <a:ln>
          <a:noFill/>
        </a:ln>
        <a:effectLst/>
        <a:sp3d extrusionH="381000" contourW="38100" prstMaterial="matte">
          <a:contourClr>
            <a:sysClr val="window" lastClr="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zh-CN" altLang="en-US" sz="40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大学英语四六级</a:t>
          </a:r>
        </a:p>
      </dsp:txBody>
      <dsp:txXfrm>
        <a:off x="1744132" y="2940900"/>
        <a:ext cx="2607734" cy="1123099"/>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2.xml><?xml version="1.0" encoding="utf-8"?>
<dgm:layoutDef xmlns:dgm="http://schemas.openxmlformats.org/drawingml/2006/diagram" xmlns:a="http://schemas.openxmlformats.org/drawingml/2006/main" uniqueId="urn:microsoft.com/office/officeart/2005/8/layout/hProcess9#3">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4">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pyramid1#2">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3d5#2">
  <dgm:title val=""/>
  <dgm:desc val=""/>
  <dgm:catLst>
    <dgm:cat type="3D" pri="11500"/>
  </dgm:catLst>
  <dgm:scene3d>
    <a:camera prst="isometricOffAxis2Left" zoom="95000"/>
    <a:lightRig rig="flat" dir="t"/>
  </dgm:scene3d>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1" name="Rectangle 3"/>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2" name="Rectangle 4"/>
          <p:cNvSpPr>
            <a:spLocks noGrp="1" noChangeArrowheads="1"/>
          </p:cNvSpPr>
          <p:nvPr>
            <p:ph type="ftr" sz="quarter" idx="2"/>
          </p:nvPr>
        </p:nvSpPr>
        <p:spPr bwMode="auto">
          <a:xfrm>
            <a:off x="0" y="9428163"/>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3" name="Rectangle 5"/>
          <p:cNvSpPr>
            <a:spLocks noGrp="1" noChangeArrowheads="1"/>
          </p:cNvSpPr>
          <p:nvPr>
            <p:ph type="sldNum" sz="quarter" idx="3"/>
          </p:nvPr>
        </p:nvSpPr>
        <p:spPr bwMode="auto">
          <a:xfrm>
            <a:off x="3849688" y="9428163"/>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AC0171B-D8FC-4939-AC72-973132F9D0D0}"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917575" y="744538"/>
            <a:ext cx="4962525" cy="3722687"/>
          </a:xfrm>
          <a:prstGeom prst="rect">
            <a:avLst/>
          </a:prstGeom>
          <a:noFill/>
          <a:ln w="9525" cap="flat" cmpd="sng">
            <a:solidFill>
              <a:srgbClr val="000000"/>
            </a:solidFill>
            <a:prstDash val="solid"/>
            <a:miter/>
            <a:headEnd type="none" w="med" len="med"/>
            <a:tailEnd type="none" w="med" len="med"/>
          </a:ln>
        </p:spPr>
      </p:sp>
      <p:sp>
        <p:nvSpPr>
          <p:cNvPr id="181253"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81254" name="Rectangle 6"/>
          <p:cNvSpPr>
            <a:spLocks noGrp="1" noChangeArrowheads="1"/>
          </p:cNvSpPr>
          <p:nvPr>
            <p:ph type="ftr" sz="quarter" idx="4"/>
          </p:nvPr>
        </p:nvSpPr>
        <p:spPr bwMode="auto">
          <a:xfrm>
            <a:off x="0" y="9428163"/>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5" name="Rectangle 7"/>
          <p:cNvSpPr>
            <a:spLocks noGrp="1" noChangeArrowheads="1"/>
          </p:cNvSpPr>
          <p:nvPr>
            <p:ph type="sldNum" sz="quarter" idx="5"/>
          </p:nvPr>
        </p:nvSpPr>
        <p:spPr bwMode="auto">
          <a:xfrm>
            <a:off x="3849688" y="9428163"/>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E94EF796-F2B6-4889-80F4-1E118E56F526}"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通识教育</a:t>
            </a:r>
            <a:endParaRPr lang="en-US" altLang="zh-CN" dirty="0"/>
          </a:p>
          <a:p>
            <a:r>
              <a:rPr lang="en-US" altLang="zh-CN" dirty="0"/>
              <a:t>1. </a:t>
            </a:r>
            <a:r>
              <a:rPr lang="zh-CN" altLang="en-US" dirty="0"/>
              <a:t>个人能力而言：培养可迁移的核心能力</a:t>
            </a:r>
          </a:p>
          <a:p>
            <a:r>
              <a:rPr lang="zh-CN" altLang="en-US" dirty="0"/>
              <a:t>批判性思维与复杂问题解决能力</a:t>
            </a:r>
          </a:p>
          <a:p>
            <a:r>
              <a:rPr lang="zh-CN" altLang="en-US" dirty="0"/>
              <a:t>卓越的沟通与表达能力</a:t>
            </a:r>
          </a:p>
          <a:p>
            <a:r>
              <a:rPr lang="zh-CN" altLang="en-US" dirty="0"/>
              <a:t>构建广阔的知识图谱</a:t>
            </a:r>
          </a:p>
          <a:p>
            <a:r>
              <a:rPr lang="en-US" altLang="zh-CN" dirty="0"/>
              <a:t>2. </a:t>
            </a:r>
            <a:r>
              <a:rPr lang="zh-CN" altLang="en-US" dirty="0"/>
              <a:t>对职业生涯而言：增强适应性与创造力，抵御“职业风险”</a:t>
            </a:r>
          </a:p>
          <a:p>
            <a:r>
              <a:rPr lang="zh-CN" altLang="en-US" dirty="0"/>
              <a:t>适应快速变化的未来：通识教育培养的底层能力（学习能力、思辨能力、沟通能力）</a:t>
            </a:r>
          </a:p>
          <a:p>
            <a:r>
              <a:rPr lang="zh-CN" altLang="en-US" dirty="0"/>
              <a:t>培养跨界创新能力</a:t>
            </a:r>
          </a:p>
          <a:p>
            <a:r>
              <a:rPr lang="en-US" altLang="zh-CN" dirty="0"/>
              <a:t>3. </a:t>
            </a:r>
            <a:r>
              <a:rPr lang="zh-CN" altLang="en-US" dirty="0"/>
              <a:t>对社会与公民而言：培养负责任的领导者与共同体成员</a:t>
            </a:r>
          </a:p>
          <a:p>
            <a:r>
              <a:rPr lang="zh-CN" altLang="en-US" dirty="0"/>
              <a:t>塑造健全的人格与价值观</a:t>
            </a:r>
          </a:p>
          <a:p>
            <a:r>
              <a:rPr lang="zh-CN" altLang="en-US" dirty="0"/>
              <a:t>培养 </a:t>
            </a:r>
            <a:r>
              <a:rPr lang="en-US" altLang="zh-CN" dirty="0"/>
              <a:t>informed citizen</a:t>
            </a:r>
            <a:r>
              <a:rPr lang="zh-CN" altLang="en-US" dirty="0"/>
              <a:t>（知情公民）</a:t>
            </a:r>
          </a:p>
        </p:txBody>
      </p:sp>
    </p:spTree>
    <p:extLst>
      <p:ext uri="{BB962C8B-B14F-4D97-AF65-F5344CB8AC3E}">
        <p14:creationId xmlns:p14="http://schemas.microsoft.com/office/powerpoint/2010/main" val="342403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第一讲 概述（2学时）：理解专业写作的目的和意义，概述课程基本要求及课程考核方式。</a:t>
            </a:r>
          </a:p>
          <a:p>
            <a:r>
              <a:rPr lang="zh-CN" altLang="en-US"/>
              <a:t>第二讲 文献检索与文献综述写作（2学时）：讲述文献检索资源，掌握并示范专业文献检索方法；了解文献综述的意义，掌握文献综述的写作要求，讲解文献综述范文。</a:t>
            </a:r>
          </a:p>
          <a:p>
            <a:r>
              <a:rPr lang="zh-CN" altLang="en-US"/>
              <a:t>第三讲 科技论文与报告写作（2学时）：了解科技报告特点和科技报告分类，掌握科技报告写作要求，通过讲解科技报告范文和学生已完成课程/实验报告，培养学生严谨求实、批判创新的写作思维。</a:t>
            </a:r>
          </a:p>
          <a:p>
            <a:r>
              <a:rPr lang="zh-CN" altLang="en-US"/>
              <a:t>第四讲 论文、专利写作规范（2学时）：了解包括科技论文与学位论文的写作目的及特点，重点掌握学位论文的写作规范；了解知识产权保护含义、专利基本知识及申请步骤；通过讲解学位论文和专利范例，培养学生良好的写作规范。</a:t>
            </a:r>
          </a:p>
          <a:p>
            <a:r>
              <a:rPr lang="zh-CN" altLang="en-US"/>
              <a:t>第五讲与第六讲 综述写作范文、科技论文及专利范文讲解（4学时）：研讨教学，针对文献检索和综述论文，针对已提交的文献综述报告或范文，示范讲解科技论文撰写的常见问题。</a:t>
            </a:r>
          </a:p>
          <a:p>
            <a:r>
              <a:rPr lang="zh-CN" altLang="en-US"/>
              <a:t>第七讲至第八讲 课程汇报与研讨（4学时）：以课堂汇报与研讨方式，每位同学以5分钟时间，课堂汇报完成的限定题目文献综述（或修改后的课程/实验报告，或新技术名词的百科全书解释）。</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D8A058A-8328-4D5A-8329-D53094A13098}" type="slidenum">
              <a:rPr lang="zh-CN" altLang="en-US" smtClean="0"/>
              <a:t>26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徐寿（1818—1884）</a:t>
            </a:r>
          </a:p>
          <a:p>
            <a:endParaRPr lang="zh-CN" altLang="en-US"/>
          </a:p>
          <a:p>
            <a:r>
              <a:rPr lang="zh-CN" altLang="en-US"/>
              <a:t>除了是第一个发《Nature》的中国人，徐寿还有许多与清朝格格不入的“第一”。</a:t>
            </a:r>
          </a:p>
          <a:p>
            <a:endParaRPr lang="zh-CN" altLang="en-US"/>
          </a:p>
          <a:p>
            <a:r>
              <a:rPr lang="zh-CN" altLang="en-US"/>
              <a:t>中国第一台蒸汽机、第一艘轮船、第一艘军舰、第一所教授科技知识的学校、第一场科学讲座、第一本科技期刊、第一批化学翻译本......</a:t>
            </a:r>
          </a:p>
          <a:p>
            <a:endParaRPr lang="zh-CN" altLang="en-US"/>
          </a:p>
          <a:p>
            <a:r>
              <a:rPr lang="zh-CN" altLang="en-US"/>
              <a:t>徐寿的声学发现</a:t>
            </a:r>
          </a:p>
          <a:p>
            <a:r>
              <a:rPr lang="zh-CN" altLang="en-US"/>
              <a:t>在1881年3月10日的Nature, 的确可以找到这篇“论文”，有照片为证，发表在当期的448页，讨论中国的声学问题：</a:t>
            </a:r>
          </a:p>
          <a:p>
            <a:r>
              <a:rPr lang="zh-CN" altLang="en-US"/>
              <a:t>这篇题为Acoustics in China的“论文”，编辑在开头就注明了，其实是一封读者来信，是晚清著名传教士John Fryer在1880年6月1日由上海写给著名的物理学家、英国皇家学会会员John Tyndall教授，同时投给Nature发表的。而收到这封信的W.H. Stone博士，在1881年1月8号，还对这封信做了点评，附在信后一并发表。以下是论文的延续照片：</a:t>
            </a: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Thorp H H. ChatGPT is fun, but not an author[J]. Science, 2023, 379(6630): 313-313.</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543364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tags" Target="../tags/tag21.xml"/><Relationship Id="rId18" Type="http://schemas.openxmlformats.org/officeDocument/2006/relationships/image" Target="../media/image5.png"/><Relationship Id="rId3" Type="http://schemas.openxmlformats.org/officeDocument/2006/relationships/tags" Target="../tags/tag11.xml"/><Relationship Id="rId21" Type="http://schemas.openxmlformats.org/officeDocument/2006/relationships/image" Target="../media/image8.png"/><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image" Target="../media/image4.jpeg"/><Relationship Id="rId25" Type="http://schemas.openxmlformats.org/officeDocument/2006/relationships/image" Target="../media/image12.png"/><Relationship Id="rId2" Type="http://schemas.openxmlformats.org/officeDocument/2006/relationships/tags" Target="../tags/tag10.xml"/><Relationship Id="rId16" Type="http://schemas.openxmlformats.org/officeDocument/2006/relationships/slideMaster" Target="../slideMasters/slideMaster2.xml"/><Relationship Id="rId20" Type="http://schemas.openxmlformats.org/officeDocument/2006/relationships/image" Target="../media/image7.pn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24" Type="http://schemas.openxmlformats.org/officeDocument/2006/relationships/image" Target="../media/image11.png"/><Relationship Id="rId5" Type="http://schemas.openxmlformats.org/officeDocument/2006/relationships/tags" Target="../tags/tag13.xml"/><Relationship Id="rId15" Type="http://schemas.openxmlformats.org/officeDocument/2006/relationships/tags" Target="../tags/tag23.xml"/><Relationship Id="rId23" Type="http://schemas.openxmlformats.org/officeDocument/2006/relationships/image" Target="../media/image10.png"/><Relationship Id="rId10" Type="http://schemas.openxmlformats.org/officeDocument/2006/relationships/tags" Target="../tags/tag18.xml"/><Relationship Id="rId19" Type="http://schemas.openxmlformats.org/officeDocument/2006/relationships/image" Target="../media/image6.png"/><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Master" Target="../slideMasters/slideMaster2.xml"/><Relationship Id="rId5" Type="http://schemas.openxmlformats.org/officeDocument/2006/relationships/tags" Target="../tags/tag28.xml"/><Relationship Id="rId4" Type="http://schemas.openxmlformats.org/officeDocument/2006/relationships/tags" Target="../tags/tag27.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image" Target="../media/image13.png"/><Relationship Id="rId5" Type="http://schemas.openxmlformats.org/officeDocument/2006/relationships/tags" Target="../tags/tag33.xml"/><Relationship Id="rId10" Type="http://schemas.openxmlformats.org/officeDocument/2006/relationships/slideMaster" Target="../slideMasters/slideMaster2.xml"/><Relationship Id="rId4" Type="http://schemas.openxmlformats.org/officeDocument/2006/relationships/tags" Target="../tags/tag32.xml"/><Relationship Id="rId9" Type="http://schemas.openxmlformats.org/officeDocument/2006/relationships/tags" Target="../tags/tag37.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slideMaster" Target="../slideMasters/slideMaster2.xml"/><Relationship Id="rId4" Type="http://schemas.openxmlformats.org/officeDocument/2006/relationships/tags" Target="../tags/tag55.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1.xml"/><Relationship Id="rId7"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slideMaster" Target="../slideMasters/slideMaster2.xml"/><Relationship Id="rId5" Type="http://schemas.openxmlformats.org/officeDocument/2006/relationships/tags" Target="../tags/tag69.xml"/><Relationship Id="rId4" Type="http://schemas.openxmlformats.org/officeDocument/2006/relationships/tags" Target="../tags/tag68.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slideMaster" Target="../slideMasters/slideMaster2.xml"/><Relationship Id="rId4" Type="http://schemas.openxmlformats.org/officeDocument/2006/relationships/tags" Target="../tags/tag73.xml"/></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6.xml"/><Relationship Id="rId7" Type="http://schemas.openxmlformats.org/officeDocument/2006/relationships/tags" Target="../tags/tag80.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9"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83.xml"/><Relationship Id="rId7" Type="http://schemas.openxmlformats.org/officeDocument/2006/relationships/image" Target="../media/image15.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slideMaster" Target="../slideMasters/slideMaster2.xml"/><Relationship Id="rId5" Type="http://schemas.openxmlformats.org/officeDocument/2006/relationships/tags" Target="../tags/tag85.xml"/><Relationship Id="rId4" Type="http://schemas.openxmlformats.org/officeDocument/2006/relationships/tags" Target="../tags/tag84.xml"/></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88.xml"/><Relationship Id="rId7" Type="http://schemas.openxmlformats.org/officeDocument/2006/relationships/tags" Target="../tags/tag9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9"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5" Type="http://schemas.openxmlformats.org/officeDocument/2006/relationships/tags" Target="../tags/tag97.xml"/><Relationship Id="rId10" Type="http://schemas.openxmlformats.org/officeDocument/2006/relationships/image" Target="../media/image15.png"/><Relationship Id="rId4" Type="http://schemas.openxmlformats.org/officeDocument/2006/relationships/tags" Target="../tags/tag96.xml"/><Relationship Id="rId9"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08.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10" Type="http://schemas.openxmlformats.org/officeDocument/2006/relationships/image" Target="../media/image15.png"/><Relationship Id="rId4" Type="http://schemas.openxmlformats.org/officeDocument/2006/relationships/tags" Target="../tags/tag104.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16.xml"/><Relationship Id="rId3" Type="http://schemas.openxmlformats.org/officeDocument/2006/relationships/tags" Target="../tags/tag111.xml"/><Relationship Id="rId7" Type="http://schemas.openxmlformats.org/officeDocument/2006/relationships/tags" Target="../tags/tag115.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5" Type="http://schemas.openxmlformats.org/officeDocument/2006/relationships/tags" Target="../tags/tag113.xml"/><Relationship Id="rId10" Type="http://schemas.openxmlformats.org/officeDocument/2006/relationships/image" Target="../media/image15.png"/><Relationship Id="rId4" Type="http://schemas.openxmlformats.org/officeDocument/2006/relationships/tags" Target="../tags/tag112.xml"/><Relationship Id="rId9"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124.xml"/><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image" Target="../media/image15.png"/><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slideMaster" Target="../slideMasters/slideMaster2.xml"/><Relationship Id="rId5" Type="http://schemas.openxmlformats.org/officeDocument/2006/relationships/tags" Target="../tags/tag121.xml"/><Relationship Id="rId10" Type="http://schemas.openxmlformats.org/officeDocument/2006/relationships/tags" Target="../tags/tag126.xml"/><Relationship Id="rId4" Type="http://schemas.openxmlformats.org/officeDocument/2006/relationships/tags" Target="../tags/tag120.xml"/><Relationship Id="rId9" Type="http://schemas.openxmlformats.org/officeDocument/2006/relationships/tags" Target="../tags/tag125.xml"/></Relationships>
</file>

<file path=ppt/slideLayouts/_rels/slideLayout3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9.xml"/><Relationship Id="rId7" Type="http://schemas.openxmlformats.org/officeDocument/2006/relationships/tags" Target="../tags/tag133.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9"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rgbClr val="906D58"/>
        </a:solidFill>
        <a:effectLst/>
      </p:bgPr>
    </p:bg>
    <p:spTree>
      <p:nvGrpSpPr>
        <p:cNvPr id="1" name=""/>
        <p:cNvGrpSpPr/>
        <p:nvPr/>
      </p:nvGrpSpPr>
      <p:grpSpPr>
        <a:xfrm>
          <a:off x="0" y="0"/>
          <a:ext cx="0" cy="0"/>
          <a:chOff x="0" y="0"/>
          <a:chExt cx="0" cy="0"/>
        </a:xfrm>
      </p:grpSpPr>
      <p:sp>
        <p:nvSpPr>
          <p:cNvPr id="12" name="Rectangle 2" descr="Canvas"/>
          <p:cNvSpPr>
            <a:spLocks noChangeArrowheads="1"/>
          </p:cNvSpPr>
          <p:nvPr/>
        </p:nvSpPr>
        <p:spPr bwMode="white">
          <a:xfrm>
            <a:off x="550863" y="4763"/>
            <a:ext cx="8640763" cy="68929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2051" name="Picture 3" descr="minispir"/>
          <p:cNvPicPr>
            <a:picLocks noChangeAspect="1"/>
          </p:cNvPicPr>
          <p:nvPr/>
        </p:nvPicPr>
        <p:blipFill>
          <a:blip r:embed="rId3"/>
          <a:stretch>
            <a:fillRect/>
          </a:stretch>
        </p:blipFill>
        <p:spPr>
          <a:xfrm>
            <a:off x="-36512" y="0"/>
            <a:ext cx="1181100" cy="4375150"/>
          </a:xfrm>
          <a:prstGeom prst="rect">
            <a:avLst/>
          </a:prstGeom>
          <a:noFill/>
          <a:ln w="9525">
            <a:noFill/>
          </a:ln>
        </p:spPr>
      </p:pic>
      <p:pic>
        <p:nvPicPr>
          <p:cNvPr id="2052" name="Picture 5" descr="minispir"/>
          <p:cNvPicPr>
            <a:picLocks noChangeAspect="1"/>
          </p:cNvPicPr>
          <p:nvPr/>
        </p:nvPicPr>
        <p:blipFill>
          <a:blip r:embed="rId3"/>
          <a:srcRect t="39999"/>
          <a:stretch>
            <a:fillRect/>
          </a:stretch>
        </p:blipFill>
        <p:spPr>
          <a:xfrm>
            <a:off x="-23812" y="4017963"/>
            <a:ext cx="1211262" cy="2878137"/>
          </a:xfrm>
          <a:prstGeom prst="rect">
            <a:avLst/>
          </a:prstGeom>
          <a:noFill/>
          <a:ln w="9525">
            <a:noFill/>
          </a:ln>
        </p:spPr>
      </p:pic>
      <p:sp>
        <p:nvSpPr>
          <p:cNvPr id="15" name="Rectangle 4" descr="Canvas"/>
          <p:cNvSpPr>
            <a:spLocks noChangeArrowheads="1"/>
          </p:cNvSpPr>
          <p:nvPr/>
        </p:nvSpPr>
        <p:spPr bwMode="white">
          <a:xfrm>
            <a:off x="539750" y="0"/>
            <a:ext cx="1041400" cy="188913"/>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Rectangle 4" descr="Canvas"/>
          <p:cNvSpPr>
            <a:spLocks noChangeArrowheads="1"/>
          </p:cNvSpPr>
          <p:nvPr/>
        </p:nvSpPr>
        <p:spPr bwMode="white">
          <a:xfrm>
            <a:off x="582613" y="6707188"/>
            <a:ext cx="1041400" cy="188913"/>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Rectangle 4" descr="Canvas"/>
          <p:cNvSpPr>
            <a:spLocks noChangeArrowheads="1"/>
          </p:cNvSpPr>
          <p:nvPr/>
        </p:nvSpPr>
        <p:spPr bwMode="white">
          <a:xfrm>
            <a:off x="1042988" y="4221163"/>
            <a:ext cx="576263" cy="215900"/>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Rectangle 4" descr="Canvas"/>
          <p:cNvSpPr>
            <a:spLocks noChangeArrowheads="1"/>
          </p:cNvSpPr>
          <p:nvPr/>
        </p:nvSpPr>
        <p:spPr bwMode="white">
          <a:xfrm>
            <a:off x="611188" y="4221163"/>
            <a:ext cx="576263" cy="63500"/>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descr="Canvas"/>
          <p:cNvSpPr>
            <a:spLocks noChangeArrowheads="1"/>
          </p:cNvSpPr>
          <p:nvPr/>
        </p:nvSpPr>
        <p:spPr bwMode="white">
          <a:xfrm>
            <a:off x="582613" y="4221163"/>
            <a:ext cx="142875" cy="360363"/>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4" descr="Canvas"/>
          <p:cNvSpPr>
            <a:spLocks noChangeArrowheads="1"/>
          </p:cNvSpPr>
          <p:nvPr/>
        </p:nvSpPr>
        <p:spPr bwMode="white">
          <a:xfrm>
            <a:off x="971550" y="4283075"/>
            <a:ext cx="215900" cy="153988"/>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2" name="Rectangle 6"/>
          <p:cNvSpPr>
            <a:spLocks noGrp="1" noChangeArrowheads="1"/>
          </p:cNvSpPr>
          <p:nvPr>
            <p:ph type="ctrTitle"/>
          </p:nvPr>
        </p:nvSpPr>
        <p:spPr>
          <a:xfrm>
            <a:off x="914400" y="2057400"/>
            <a:ext cx="7721600" cy="1143000"/>
          </a:xfrm>
        </p:spPr>
        <p:txBody>
          <a:bodyPr/>
          <a:lstStyle>
            <a:lvl1pPr>
              <a:defRPr/>
            </a:lvl1pPr>
          </a:lstStyle>
          <a:p>
            <a:pPr fontAlgn="base"/>
            <a:r>
              <a:rPr lang="zh-CN" altLang="en-US" strike="noStrike" noProof="1"/>
              <a:t>单击此处编辑母版标题样式</a:t>
            </a:r>
          </a:p>
        </p:txBody>
      </p:sp>
      <p:sp>
        <p:nvSpPr>
          <p:cNvPr id="4103" name="Rectangle 7"/>
          <p:cNvSpPr>
            <a:spLocks noGrp="1" noChangeArrowheads="1"/>
          </p:cNvSpPr>
          <p:nvPr>
            <p:ph type="subTitle" idx="1"/>
          </p:nvPr>
        </p:nvSpPr>
        <p:spPr>
          <a:xfrm>
            <a:off x="1625600" y="3886200"/>
            <a:ext cx="6400800" cy="1771650"/>
          </a:xfrm>
        </p:spPr>
        <p:txBody>
          <a:bodyPr/>
          <a:lstStyle>
            <a:lvl1pPr marL="0" indent="0" algn="ctr">
              <a:buFontTx/>
              <a:buNone/>
              <a:defRPr/>
            </a:lvl1pPr>
          </a:lstStyle>
          <a:p>
            <a:pPr fontAlgn="base"/>
            <a:r>
              <a:rPr lang="zh-CN" altLang="en-US" strike="noStrike" noProof="1"/>
              <a:t>单击此处编辑母版副标题样式</a:t>
            </a:r>
          </a:p>
        </p:txBody>
      </p:sp>
      <p:sp>
        <p:nvSpPr>
          <p:cNvPr id="21" name="Rectangle 8"/>
          <p:cNvSpPr>
            <a:spLocks noGrp="1" noChangeArrowheads="1"/>
          </p:cNvSpPr>
          <p:nvPr>
            <p:ph type="dt" sz="quarter" idx="2"/>
          </p:nvPr>
        </p:nvSpPr>
        <p:spPr bwMode="auto">
          <a:xfrm>
            <a:off x="1084263" y="60960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9"/>
          <p:cNvSpPr>
            <a:spLocks noGrp="1" noChangeArrowheads="1"/>
          </p:cNvSpPr>
          <p:nvPr>
            <p:ph type="ftr" sz="quarter" idx="3"/>
          </p:nvPr>
        </p:nvSpPr>
        <p:spPr bwMode="auto">
          <a:xfrm>
            <a:off x="3522663" y="6096000"/>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10"/>
          <p:cNvSpPr>
            <a:spLocks noGrp="1" noChangeArrowheads="1"/>
          </p:cNvSpPr>
          <p:nvPr>
            <p:ph type="sldNum" sz="quarter" idx="4"/>
          </p:nvPr>
        </p:nvSpPr>
        <p:spPr bwMode="auto">
          <a:xfrm>
            <a:off x="6951663" y="60960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726A712-4FE7-4D4C-AD39-932D29579A5C}"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1066800" y="1268413"/>
            <a:ext cx="3733800" cy="45989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953000" y="1268413"/>
            <a:ext cx="3733800" cy="45989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381000"/>
            <a:ext cx="1905000" cy="54864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1066800" y="381000"/>
            <a:ext cx="5562600" cy="54864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066800" y="381000"/>
            <a:ext cx="7620000" cy="54864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66800" y="381000"/>
            <a:ext cx="7620000" cy="81597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1066800" y="1268413"/>
            <a:ext cx="3733800" cy="45989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953000" y="1268413"/>
            <a:ext cx="3733800" cy="22225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953000" y="3643313"/>
            <a:ext cx="3733800" cy="2224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9150" y="4076700"/>
            <a:ext cx="3886200" cy="21002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7" name="页脚占位符 6"/>
          <p:cNvSpPr>
            <a:spLocks noGrp="1"/>
          </p:cNvSpPr>
          <p:nvPr>
            <p:ph type="ftr" sz="quarter" idx="11"/>
          </p:nvPr>
        </p:nvSpPr>
        <p:spPr/>
        <p:txBody>
          <a:bodyPr/>
          <a:lstStyle/>
          <a:p>
            <a:pPr lvl="0"/>
            <a:endParaRPr lang="zh-CN" altLang="en-US" dirty="0"/>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17">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0" y="0"/>
            <a:ext cx="9144000" cy="6858000"/>
            <a:chOff x="0" y="0"/>
            <a:chExt cx="12192000" cy="6858000"/>
          </a:xfrm>
        </p:grpSpPr>
        <p:grpSp>
          <p:nvGrpSpPr>
            <p:cNvPr id="7" name="组合 6"/>
            <p:cNvGrpSpPr/>
            <p:nvPr/>
          </p:nvGrpSpPr>
          <p:grpSpPr>
            <a:xfrm>
              <a:off x="0" y="0"/>
              <a:ext cx="12192000" cy="6858000"/>
              <a:chOff x="0" y="0"/>
              <a:chExt cx="12192000" cy="6858000"/>
            </a:xfrm>
          </p:grpSpPr>
          <p:grpSp>
            <p:nvGrpSpPr>
              <p:cNvPr id="8" name="组合 7"/>
              <p:cNvGrpSpPr/>
              <p:nvPr/>
            </p:nvGrpSpPr>
            <p:grpSpPr>
              <a:xfrm>
                <a:off x="8545007" y="0"/>
                <a:ext cx="3646993" cy="6858000"/>
                <a:chOff x="8545007" y="0"/>
                <a:chExt cx="3646993" cy="6858000"/>
              </a:xfrm>
            </p:grpSpPr>
            <p:pic>
              <p:nvPicPr>
                <p:cNvPr id="10" name="图片 9"/>
                <p:cNvPicPr>
                  <a:picLocks noChangeAspect="1"/>
                </p:cNvPicPr>
                <p:nvPr>
                  <p:custDataLst>
                    <p:tags r:id="rId14"/>
                  </p:custDataLst>
                </p:nvPr>
              </p:nvPicPr>
              <p:blipFill>
                <a:blip r:embed="rId18"/>
                <a:stretch>
                  <a:fillRect/>
                </a:stretch>
              </p:blipFill>
              <p:spPr>
                <a:xfrm>
                  <a:off x="8545007" y="0"/>
                  <a:ext cx="3646993" cy="2982191"/>
                </a:xfrm>
                <a:prstGeom prst="rect">
                  <a:avLst/>
                </a:prstGeom>
              </p:spPr>
            </p:pic>
            <p:pic>
              <p:nvPicPr>
                <p:cNvPr id="11" name="图片 10"/>
                <p:cNvPicPr>
                  <a:picLocks noChangeAspect="1"/>
                </p:cNvPicPr>
                <p:nvPr>
                  <p:custDataLst>
                    <p:tags r:id="rId15"/>
                  </p:custDataLst>
                </p:nvPr>
              </p:nvPicPr>
              <p:blipFill>
                <a:blip r:embed="rId19" cstate="print">
                  <a:extLst>
                    <a:ext uri="{28A0092B-C50C-407E-A947-70E740481C1C}">
                      <a14:useLocalDpi xmlns:a14="http://schemas.microsoft.com/office/drawing/2010/main" val="0"/>
                    </a:ext>
                  </a:extLst>
                </a:blip>
                <a:stretch>
                  <a:fillRect/>
                </a:stretch>
              </p:blipFill>
              <p:spPr>
                <a:xfrm>
                  <a:off x="9102436" y="4066720"/>
                  <a:ext cx="2925924" cy="2791280"/>
                </a:xfrm>
                <a:prstGeom prst="rect">
                  <a:avLst/>
                </a:prstGeom>
              </p:spPr>
            </p:pic>
          </p:grpSp>
          <p:pic>
            <p:nvPicPr>
              <p:cNvPr id="9" name="图片 8"/>
              <p:cNvPicPr>
                <a:picLocks noChangeAspect="1"/>
              </p:cNvPicPr>
              <p:nvPr>
                <p:custDataLst>
                  <p:tags r:id="rId13"/>
                </p:custDataLst>
              </p:nvPr>
            </p:nvPicPr>
            <p:blipFill>
              <a:blip r:embed="rId20"/>
              <a:stretch>
                <a:fillRect/>
              </a:stretch>
            </p:blipFill>
            <p:spPr>
              <a:xfrm>
                <a:off x="0" y="0"/>
                <a:ext cx="7137443" cy="6858000"/>
              </a:xfrm>
              <a:prstGeom prst="rect">
                <a:avLst/>
              </a:prstGeom>
            </p:spPr>
          </p:pic>
        </p:grpSp>
        <p:pic>
          <p:nvPicPr>
            <p:cNvPr id="12" name="图片 11"/>
            <p:cNvPicPr>
              <a:picLocks noChangeAspect="1"/>
            </p:cNvPicPr>
            <p:nvPr>
              <p:custDataLst>
                <p:tags r:id="rId12"/>
              </p:custDataLst>
            </p:nvPr>
          </p:nvPicPr>
          <p:blipFill>
            <a:blip r:embed="rId21"/>
            <a:stretch>
              <a:fillRect/>
            </a:stretch>
          </p:blipFill>
          <p:spPr>
            <a:xfrm>
              <a:off x="812461" y="1029461"/>
              <a:ext cx="4909467" cy="4653606"/>
            </a:xfrm>
            <a:prstGeom prst="rect">
              <a:avLst/>
            </a:prstGeom>
          </p:spPr>
        </p:pic>
      </p:grpSp>
      <p:sp>
        <p:nvSpPr>
          <p:cNvPr id="4" name="日期占位符 3"/>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2026/9/14</a:t>
            </a:fld>
            <a:endParaRPr lang="zh-CN" altLang="en-US"/>
          </a:p>
        </p:txBody>
      </p:sp>
      <p:sp>
        <p:nvSpPr>
          <p:cNvPr id="5" name="页脚占位符 4"/>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grpSp>
        <p:nvGrpSpPr>
          <p:cNvPr id="14" name="组合 13"/>
          <p:cNvGrpSpPr/>
          <p:nvPr>
            <p:custDataLst>
              <p:tags r:id="rId5"/>
            </p:custDataLst>
          </p:nvPr>
        </p:nvGrpSpPr>
        <p:grpSpPr>
          <a:xfrm>
            <a:off x="3586441" y="2188860"/>
            <a:ext cx="4894709" cy="1030733"/>
            <a:chOff x="4781921" y="2017071"/>
            <a:chExt cx="6526279" cy="1374310"/>
          </a:xfrm>
        </p:grpSpPr>
        <p:pic>
          <p:nvPicPr>
            <p:cNvPr id="15" name="图片 14"/>
            <p:cNvPicPr>
              <a:picLocks noChangeAspect="1"/>
            </p:cNvPicPr>
            <p:nvPr>
              <p:custDataLst>
                <p:tags r:id="rId10"/>
              </p:custDataLst>
            </p:nvPr>
          </p:nvPicPr>
          <p:blipFill>
            <a:blip r:embed="rId22"/>
            <a:stretch>
              <a:fillRect/>
            </a:stretch>
          </p:blipFill>
          <p:spPr>
            <a:xfrm>
              <a:off x="4931680" y="2017071"/>
              <a:ext cx="6376520" cy="595076"/>
            </a:xfrm>
            <a:prstGeom prst="rect">
              <a:avLst/>
            </a:prstGeom>
          </p:spPr>
        </p:pic>
        <p:pic>
          <p:nvPicPr>
            <p:cNvPr id="16" name="图片 15"/>
            <p:cNvPicPr>
              <a:picLocks noChangeAspect="1"/>
            </p:cNvPicPr>
            <p:nvPr>
              <p:custDataLst>
                <p:tags r:id="rId11"/>
              </p:custDataLst>
            </p:nvPr>
          </p:nvPicPr>
          <p:blipFill>
            <a:blip r:embed="rId23"/>
            <a:stretch>
              <a:fillRect/>
            </a:stretch>
          </p:blipFill>
          <p:spPr>
            <a:xfrm>
              <a:off x="4781921" y="2943045"/>
              <a:ext cx="6462076" cy="448336"/>
            </a:xfrm>
            <a:prstGeom prst="rect">
              <a:avLst/>
            </a:prstGeom>
          </p:spPr>
        </p:pic>
      </p:grpSp>
      <p:pic>
        <p:nvPicPr>
          <p:cNvPr id="17" name="图片 16"/>
          <p:cNvPicPr>
            <a:picLocks noChangeAspect="1"/>
          </p:cNvPicPr>
          <p:nvPr>
            <p:custDataLst>
              <p:tags r:id="rId6"/>
            </p:custDataLst>
          </p:nvPr>
        </p:nvPicPr>
        <p:blipFill>
          <a:blip r:embed="rId24"/>
          <a:stretch>
            <a:fillRect/>
          </a:stretch>
        </p:blipFill>
        <p:spPr>
          <a:xfrm>
            <a:off x="3276286" y="2666598"/>
            <a:ext cx="5059183" cy="1179623"/>
          </a:xfrm>
          <a:prstGeom prst="rect">
            <a:avLst/>
          </a:prstGeom>
        </p:spPr>
      </p:pic>
      <p:pic>
        <p:nvPicPr>
          <p:cNvPr id="18" name="图片 17"/>
          <p:cNvPicPr>
            <a:picLocks noChangeAspect="1"/>
          </p:cNvPicPr>
          <p:nvPr>
            <p:custDataLst>
              <p:tags r:id="rId7"/>
            </p:custDataLst>
          </p:nvPr>
        </p:nvPicPr>
        <p:blipFill>
          <a:blip r:embed="rId25"/>
          <a:stretch>
            <a:fillRect/>
          </a:stretch>
        </p:blipFill>
        <p:spPr>
          <a:xfrm rot="10800000" flipV="1">
            <a:off x="3524259" y="3233189"/>
            <a:ext cx="112112" cy="225369"/>
          </a:xfrm>
          <a:prstGeom prst="rect">
            <a:avLst/>
          </a:prstGeom>
        </p:spPr>
      </p:pic>
      <p:sp>
        <p:nvSpPr>
          <p:cNvPr id="3" name="副标题 2"/>
          <p:cNvSpPr>
            <a:spLocks noGrp="1"/>
          </p:cNvSpPr>
          <p:nvPr>
            <p:ph type="subTitle" idx="1" hasCustomPrompt="1"/>
            <p:custDataLst>
              <p:tags r:id="rId8"/>
            </p:custDataLst>
          </p:nvPr>
        </p:nvSpPr>
        <p:spPr>
          <a:xfrm>
            <a:off x="3627905" y="3552912"/>
            <a:ext cx="4761279" cy="509267"/>
          </a:xfrm>
        </p:spPr>
        <p:txBody>
          <a:bodyPr>
            <a:normAutofit/>
          </a:bodyPr>
          <a:lstStyle>
            <a:lvl1pPr marL="0" indent="0" algn="ctr">
              <a:buNone/>
              <a:defRPr sz="1015">
                <a:solidFill>
                  <a:schemeClr val="bg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编辑副标题</a:t>
            </a:r>
          </a:p>
        </p:txBody>
      </p:sp>
      <p:sp>
        <p:nvSpPr>
          <p:cNvPr id="2" name="标题 1"/>
          <p:cNvSpPr>
            <a:spLocks noGrp="1"/>
          </p:cNvSpPr>
          <p:nvPr>
            <p:ph type="ctrTitle" hasCustomPrompt="1"/>
            <p:custDataLst>
              <p:tags r:id="rId9"/>
            </p:custDataLst>
          </p:nvPr>
        </p:nvSpPr>
        <p:spPr>
          <a:xfrm>
            <a:off x="3627905" y="2335611"/>
            <a:ext cx="4761279" cy="779977"/>
          </a:xfrm>
        </p:spPr>
        <p:txBody>
          <a:bodyPr anchor="ctr">
            <a:normAutofit/>
          </a:bodyPr>
          <a:lstStyle>
            <a:lvl1pPr algn="ctr">
              <a:defRPr sz="2700" b="1">
                <a:solidFill>
                  <a:schemeClr val="bg1"/>
                </a:solidFill>
                <a:effectLst/>
              </a:defRPr>
            </a:lvl1pPr>
          </a:lstStyle>
          <a:p>
            <a:r>
              <a:rPr lang="zh-CN" altLang="en-US" dirty="0"/>
              <a:t>编辑标题</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35610" y="0"/>
            <a:ext cx="8079740" cy="994410"/>
          </a:xfrm>
        </p:spPr>
        <p:txBody>
          <a:bodyPr/>
          <a:lstStyle>
            <a:lvl1pPr>
              <a:defRPr>
                <a:latin typeface="方正粗黑宋简体" panose="02000000000000000000" charset="-122"/>
                <a:ea typeface="方正粗黑宋简体" panose="02000000000000000000" charset="-122"/>
              </a:defRPr>
            </a:lvl1pPr>
          </a:lstStyle>
          <a:p>
            <a:r>
              <a:rPr lang="zh-CN" altLang="en-US"/>
              <a:t>单击此处编辑母版标题样式</a:t>
            </a:r>
          </a:p>
        </p:txBody>
      </p:sp>
      <p:sp>
        <p:nvSpPr>
          <p:cNvPr id="3" name="内容占位符 2"/>
          <p:cNvSpPr>
            <a:spLocks noGrp="1"/>
          </p:cNvSpPr>
          <p:nvPr>
            <p:ph idx="1"/>
            <p:custDataLst>
              <p:tags r:id="rId2"/>
            </p:custDataLst>
          </p:nvPr>
        </p:nvSpPr>
        <p:spPr>
          <a:xfrm>
            <a:off x="461010" y="1014730"/>
            <a:ext cx="8655050" cy="5358130"/>
          </a:xfrm>
        </p:spPr>
        <p:txBody>
          <a:bodyPr/>
          <a:lstStyle>
            <a:lvl1pPr eaLnBrk="1" fontAlgn="auto" latinLnBrk="0" hangingPunct="1">
              <a:lnSpc>
                <a:spcPct val="100000"/>
              </a:lnSpc>
              <a:spcBef>
                <a:spcPts val="600"/>
              </a:spcBef>
              <a:defRPr sz="2400">
                <a:solidFill>
                  <a:srgbClr val="0000FF"/>
                </a:solidFill>
              </a:defRPr>
            </a:lvl1pPr>
            <a:lvl2pPr eaLnBrk="1" fontAlgn="auto" latinLnBrk="0" hangingPunct="1">
              <a:lnSpc>
                <a:spcPct val="100000"/>
              </a:lnSpc>
              <a:spcBef>
                <a:spcPts val="600"/>
              </a:spcBef>
              <a:defRPr sz="2000">
                <a:gradFill>
                  <a:gsLst>
                    <a:gs pos="0">
                      <a:srgbClr val="012D86"/>
                    </a:gs>
                    <a:gs pos="100000">
                      <a:srgbClr val="0E2557"/>
                    </a:gs>
                  </a:gsLst>
                  <a:lin scaled="0"/>
                </a:gradFill>
              </a:defRPr>
            </a:lvl2pPr>
            <a:lvl3pPr eaLnBrk="1" fontAlgn="auto" latinLnBrk="0" hangingPunct="1">
              <a:lnSpc>
                <a:spcPct val="100000"/>
              </a:lnSpc>
              <a:spcBef>
                <a:spcPts val="600"/>
              </a:spcBef>
              <a:defRPr sz="1800">
                <a:solidFill>
                  <a:srgbClr val="FF0000"/>
                </a:solidFill>
              </a:defRPr>
            </a:lvl3pPr>
            <a:lvl4pPr eaLnBrk="1" fontAlgn="auto" latinLnBrk="0" hangingPunct="1">
              <a:lnSpc>
                <a:spcPct val="100000"/>
              </a:lnSpc>
              <a:spcBef>
                <a:spcPts val="600"/>
              </a:spcBef>
              <a:defRPr sz="1600">
                <a:solidFill>
                  <a:srgbClr val="BE3A3A"/>
                </a:solidFill>
              </a:defRPr>
            </a:lvl4pPr>
            <a:lvl5pPr eaLnBrk="1" fontAlgn="auto" latinLnBrk="0" hangingPunct="1">
              <a:lnSpc>
                <a:spcPct val="100000"/>
              </a:lnSpc>
              <a:spcBef>
                <a:spcPts val="600"/>
              </a:spcBef>
              <a:defRPr sz="1400">
                <a:gradFill>
                  <a:gsLst>
                    <a:gs pos="0">
                      <a:srgbClr val="7B32B2"/>
                    </a:gs>
                    <a:gs pos="100000">
                      <a:srgbClr val="401A5D"/>
                    </a:gs>
                  </a:gsLst>
                  <a:lin scaled="0"/>
                </a:gra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3B358A95-C3A6-445A-9253-6EEA2DB226D8}" type="datetimeFigureOut">
              <a:rPr lang="zh-CN" altLang="en-US" smtClean="0"/>
              <a:t>2026/9/14</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椭圆 6"/>
          <p:cNvSpPr/>
          <p:nvPr>
            <p:custDataLst>
              <p:tags r:id="rId1"/>
            </p:custDataLst>
          </p:nvPr>
        </p:nvSpPr>
        <p:spPr>
          <a:xfrm>
            <a:off x="1174711" y="2326714"/>
            <a:ext cx="2204573" cy="220457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8" name="图片 7"/>
          <p:cNvPicPr>
            <a:picLocks noChangeAspect="1"/>
          </p:cNvPicPr>
          <p:nvPr>
            <p:custDataLst>
              <p:tags r:id="rId2"/>
            </p:custDataLst>
          </p:nvPr>
        </p:nvPicPr>
        <p:blipFill>
          <a:blip r:embed="rId11"/>
          <a:stretch>
            <a:fillRect/>
          </a:stretch>
        </p:blipFill>
        <p:spPr>
          <a:xfrm>
            <a:off x="508538" y="1877974"/>
            <a:ext cx="3272606" cy="3102052"/>
          </a:xfrm>
          <a:prstGeom prst="rect">
            <a:avLst/>
          </a:prstGeom>
          <a:noFill/>
        </p:spPr>
      </p:pic>
      <p:sp>
        <p:nvSpPr>
          <p:cNvPr id="11" name="文本框 10"/>
          <p:cNvSpPr txBox="1"/>
          <p:nvPr>
            <p:custDataLst>
              <p:tags r:id="rId3"/>
            </p:custDataLst>
          </p:nvPr>
        </p:nvSpPr>
        <p:spPr>
          <a:xfrm>
            <a:off x="1104212" y="2369798"/>
            <a:ext cx="2226298" cy="2364710"/>
          </a:xfrm>
          <a:prstGeom prst="rect">
            <a:avLst/>
          </a:prstGeom>
          <a:noFill/>
        </p:spPr>
        <p:txBody>
          <a:bodyPr wrap="square" rtlCol="0" anchor="ctr">
            <a:normAutofit/>
          </a:bodyPr>
          <a:lstStyle/>
          <a:p>
            <a:pPr marL="0" marR="0" indent="0" algn="ctr" defTabSz="914400" rtl="0" eaLnBrk="1" fontAlgn="auto" latinLnBrk="0" hangingPunct="1">
              <a:lnSpc>
                <a:spcPct val="100000"/>
              </a:lnSpc>
              <a:spcBef>
                <a:spcPts val="0"/>
              </a:spcBef>
              <a:spcAft>
                <a:spcPts val="0"/>
              </a:spcAft>
              <a:buClrTx/>
              <a:buSzTx/>
              <a:buFontTx/>
              <a:buNone/>
            </a:pPr>
            <a:r>
              <a:rPr lang="en-US" altLang="zh-CN"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rPr>
              <a:t>1</a:t>
            </a:r>
            <a:endParaRPr lang="zh-CN" altLang="en-US"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endParaRPr>
          </a:p>
          <a:p>
            <a:pPr algn="ctr"/>
            <a:endParaRPr lang="zh-CN" altLang="en-US" sz="1575" dirty="0">
              <a:solidFill>
                <a:schemeClr val="accent1"/>
              </a:solidFill>
              <a:latin typeface="+mn-lt"/>
            </a:endParaRPr>
          </a:p>
        </p:txBody>
      </p:sp>
      <p:sp>
        <p:nvSpPr>
          <p:cNvPr id="4" name="日期占位符 3"/>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2026/9/14</a:t>
            </a:fld>
            <a:endParaRPr lang="zh-CN" altLang="en-US"/>
          </a:p>
        </p:txBody>
      </p:sp>
      <p:sp>
        <p:nvSpPr>
          <p:cNvPr id="5" name="页脚占位符 4"/>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cxnSp>
        <p:nvCxnSpPr>
          <p:cNvPr id="10" name="直接连接符 9"/>
          <p:cNvCxnSpPr/>
          <p:nvPr>
            <p:custDataLst>
              <p:tags r:id="rId7"/>
            </p:custDataLst>
          </p:nvPr>
        </p:nvCxnSpPr>
        <p:spPr>
          <a:xfrm>
            <a:off x="3771792" y="3510454"/>
            <a:ext cx="465259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idx="1" hasCustomPrompt="1"/>
            <p:custDataLst>
              <p:tags r:id="rId8"/>
            </p:custDataLst>
          </p:nvPr>
        </p:nvSpPr>
        <p:spPr>
          <a:xfrm>
            <a:off x="3413349" y="3695478"/>
            <a:ext cx="5378830" cy="621410"/>
          </a:xfrm>
        </p:spPr>
        <p:txBody>
          <a:bodyPr>
            <a:normAutofit/>
          </a:bodyPr>
          <a:lstStyle>
            <a:lvl1pPr marL="0" indent="0" algn="ctr">
              <a:buNone/>
              <a:defRPr sz="1015">
                <a:solidFill>
                  <a:schemeClr val="tx1"/>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a:t>单击此处编辑副标题</a:t>
            </a:r>
          </a:p>
        </p:txBody>
      </p:sp>
      <p:sp>
        <p:nvSpPr>
          <p:cNvPr id="2" name="标题 1"/>
          <p:cNvSpPr>
            <a:spLocks noGrp="1"/>
          </p:cNvSpPr>
          <p:nvPr>
            <p:ph type="title" hasCustomPrompt="1"/>
            <p:custDataLst>
              <p:tags r:id="rId9"/>
            </p:custDataLst>
          </p:nvPr>
        </p:nvSpPr>
        <p:spPr>
          <a:xfrm>
            <a:off x="3413349" y="1619469"/>
            <a:ext cx="5378830" cy="1551026"/>
          </a:xfrm>
        </p:spPr>
        <p:txBody>
          <a:bodyPr anchor="b">
            <a:normAutofit/>
          </a:bodyPr>
          <a:lstStyle>
            <a:lvl1pPr algn="ctr">
              <a:defRPr sz="3715" b="1">
                <a:effectLst/>
              </a:defRPr>
            </a:lvl1pPr>
          </a:lstStyle>
          <a:p>
            <a:r>
              <a:rPr lang="zh-CN" altLang="en-US" dirty="0"/>
              <a:t>单击此处编辑标题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6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530820"/>
            <a:ext cx="7886700" cy="994172"/>
          </a:xfrm>
        </p:spPr>
        <p:txBody>
          <a:bodyPr/>
          <a:lstStyle/>
          <a:p>
            <a:r>
              <a:rPr lang="zh-CN" altLang="en-US"/>
              <a:t>单击此处编辑母版标题样式</a:t>
            </a:r>
          </a:p>
        </p:txBody>
      </p:sp>
      <p:sp>
        <p:nvSpPr>
          <p:cNvPr id="3" name="内容占位符 2"/>
          <p:cNvSpPr>
            <a:spLocks noGrp="1"/>
          </p:cNvSpPr>
          <p:nvPr>
            <p:ph sz="half" idx="1"/>
            <p:custDataLst>
              <p:tags r:id="rId2"/>
            </p:custDataLst>
          </p:nvPr>
        </p:nvSpPr>
        <p:spPr>
          <a:xfrm>
            <a:off x="628650" y="2369542"/>
            <a:ext cx="3886200" cy="326350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4629150" y="2369542"/>
            <a:ext cx="3886200" cy="3263503"/>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2026/9/14</a:t>
            </a:fld>
            <a:endParaRPr lang="zh-CN" altLang="en-US"/>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1" y="530820"/>
            <a:ext cx="7886700" cy="994172"/>
          </a:xfrm>
        </p:spPr>
        <p:txBody>
          <a:bodyPr/>
          <a:lstStyle/>
          <a:p>
            <a:r>
              <a:rPr lang="zh-CN" altLang="en-US"/>
              <a:t>单击此处编辑母版标题样式</a:t>
            </a:r>
          </a:p>
        </p:txBody>
      </p:sp>
      <p:sp>
        <p:nvSpPr>
          <p:cNvPr id="3" name="文本占位符 2"/>
          <p:cNvSpPr>
            <a:spLocks noGrp="1"/>
          </p:cNvSpPr>
          <p:nvPr>
            <p:ph type="body" idx="1"/>
            <p:custDataLst>
              <p:tags r:id="rId2"/>
            </p:custDataLst>
          </p:nvPr>
        </p:nvSpPr>
        <p:spPr>
          <a:xfrm>
            <a:off x="629841" y="1848026"/>
            <a:ext cx="3868340"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629841" y="2965649"/>
            <a:ext cx="3868340"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4629150" y="1848026"/>
            <a:ext cx="3887391"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4629150" y="2965649"/>
            <a:ext cx="3887391"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a:xfrm>
            <a:off x="628650" y="6401991"/>
            <a:ext cx="2057400" cy="273844"/>
          </a:xfrm>
        </p:spPr>
        <p:txBody>
          <a:bodyPr/>
          <a:lstStyle/>
          <a:p>
            <a:fld id="{3B358A95-C3A6-445A-9253-6EEA2DB226D8}" type="datetimeFigureOut">
              <a:rPr lang="zh-CN" altLang="en-US" smtClean="0"/>
              <a:t>2026/9/14</a:t>
            </a:fld>
            <a:endParaRPr lang="zh-CN" altLang="en-US"/>
          </a:p>
        </p:txBody>
      </p:sp>
      <p:sp>
        <p:nvSpPr>
          <p:cNvPr id="8" name="页脚占位符 7"/>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132080"/>
            <a:ext cx="7886700" cy="657225"/>
          </a:xfrm>
        </p:spPr>
        <p:txBody>
          <a:bodyPr vert="horz" lIns="101600" tIns="38100" rIns="76200" bIns="38100" rtlCol="0" anchor="t" anchorCtr="0">
            <a:no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dirty="0">
                <a:solidFill>
                  <a:schemeClr val="tx1"/>
                </a:solidFill>
                <a:uFillTx/>
                <a:latin typeface="方正粗黑宋简体" panose="02000000000000000000" charset="-122"/>
                <a:ea typeface="方正粗黑宋简体" panose="02000000000000000000"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28650" y="6401991"/>
            <a:ext cx="2057400" cy="273844"/>
          </a:xfrm>
        </p:spPr>
        <p:txBody>
          <a:bodyPr/>
          <a:lstStyle/>
          <a:p>
            <a:fld id="{3B358A95-C3A6-445A-9253-6EEA2DB226D8}" type="datetimeFigureOut">
              <a:rPr lang="zh-CN" altLang="en-US" smtClean="0"/>
              <a:t>2026/9/14</a:t>
            </a:fld>
            <a:endParaRPr lang="zh-CN" altLang="en-US"/>
          </a:p>
        </p:txBody>
      </p:sp>
      <p:sp>
        <p:nvSpPr>
          <p:cNvPr id="3" name="页脚占位符 2"/>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0" y="657225"/>
            <a:ext cx="3123900" cy="1200150"/>
          </a:xfrm>
        </p:spPr>
        <p:txBody>
          <a:bodyPr anchor="t" anchorCtr="0">
            <a:normAutofit/>
          </a:bodyPr>
          <a:lstStyle>
            <a:lvl1pPr>
              <a:defRPr sz="2475"/>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3888000" y="1132650"/>
            <a:ext cx="4627800" cy="40527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zh-CN" altLang="en-US" dirty="0"/>
          </a:p>
        </p:txBody>
      </p:sp>
      <p:sp>
        <p:nvSpPr>
          <p:cNvPr id="4" name="文本占位符 3"/>
          <p:cNvSpPr>
            <a:spLocks noGrp="1"/>
          </p:cNvSpPr>
          <p:nvPr>
            <p:ph type="body" sz="half" idx="2"/>
            <p:custDataLst>
              <p:tags r:id="rId3"/>
            </p:custDataLst>
          </p:nvPr>
        </p:nvSpPr>
        <p:spPr>
          <a:xfrm>
            <a:off x="629840" y="2592397"/>
            <a:ext cx="3123900" cy="2801489"/>
          </a:xfrm>
        </p:spPr>
        <p:txBody>
          <a:bodyPr>
            <a:normAutofit/>
          </a:bodyPr>
          <a:lstStyle>
            <a:lvl1pPr marL="0" indent="0">
              <a:buNone/>
              <a:defRPr sz="1015"/>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9EFD9D74-47D9-4702-A33C-335B63B48DBF}" type="datetimeFigureOut">
              <a:rPr lang="zh-CN" altLang="en-US" smtClean="0"/>
              <a:t>2026/9/14</a:t>
            </a:fld>
            <a:endParaRPr lang="zh-CN" altLang="en-US" dirty="0"/>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725747" y="1091605"/>
            <a:ext cx="789603" cy="4358879"/>
          </a:xfrm>
        </p:spPr>
        <p:txBody>
          <a:bodyPr vert="eaVert">
            <a:normAutofit/>
          </a:bodyPr>
          <a:lstStyle>
            <a:lvl1pPr>
              <a:defRPr sz="2025"/>
            </a:lvl1pPr>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a:xfrm>
            <a:off x="628650" y="1091605"/>
            <a:ext cx="6803183"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D997B5FA-0921-464F-AAE1-844C04324D75}" type="datetimeFigureOut">
              <a:rPr lang="zh-CN" altLang="en-US" smtClean="0"/>
              <a:t>2026/9/14</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401991"/>
            <a:ext cx="2057400" cy="273844"/>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28650" y="1246414"/>
            <a:ext cx="7886700" cy="416922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3293369" y="2495952"/>
            <a:ext cx="4404947" cy="994172"/>
          </a:xfrm>
        </p:spPr>
        <p:txBody>
          <a:bodyPr anchor="b">
            <a:normAutofit/>
          </a:bodyPr>
          <a:lstStyle>
            <a:lvl1pPr algn="l">
              <a:defRPr sz="3040" b="1">
                <a:solidFill>
                  <a:schemeClr val="tx1"/>
                </a:solidFill>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2026/9/14</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pic>
        <p:nvPicPr>
          <p:cNvPr id="6" name="图片 5"/>
          <p:cNvPicPr>
            <a:picLocks noChangeAspect="1"/>
          </p:cNvPicPr>
          <p:nvPr>
            <p:custDataLst>
              <p:tags r:id="rId5"/>
            </p:custDataLst>
          </p:nvPr>
        </p:nvPicPr>
        <p:blipFill>
          <a:blip r:embed="rId9"/>
          <a:stretch>
            <a:fillRect/>
          </a:stretch>
        </p:blipFill>
        <p:spPr>
          <a:xfrm>
            <a:off x="1901536" y="2349199"/>
            <a:ext cx="2456303" cy="2328291"/>
          </a:xfrm>
          <a:prstGeom prst="rect">
            <a:avLst/>
          </a:prstGeom>
        </p:spPr>
      </p:pic>
      <p:cxnSp>
        <p:nvCxnSpPr>
          <p:cNvPr id="7" name="直接连接符 6"/>
          <p:cNvCxnSpPr/>
          <p:nvPr>
            <p:custDataLst>
              <p:tags r:id="rId6"/>
            </p:custDataLst>
          </p:nvPr>
        </p:nvCxnSpPr>
        <p:spPr>
          <a:xfrm>
            <a:off x="3344169" y="3729639"/>
            <a:ext cx="24685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副标题 2"/>
          <p:cNvSpPr>
            <a:spLocks noGrp="1"/>
          </p:cNvSpPr>
          <p:nvPr>
            <p:ph type="subTitle" idx="1" hasCustomPrompt="1"/>
            <p:custDataLst>
              <p:tags r:id="rId7"/>
            </p:custDataLst>
          </p:nvPr>
        </p:nvSpPr>
        <p:spPr>
          <a:xfrm>
            <a:off x="3293369" y="3888337"/>
            <a:ext cx="4404947" cy="509267"/>
          </a:xfrm>
        </p:spPr>
        <p:txBody>
          <a:bodyPr>
            <a:normAutofit/>
          </a:bodyPr>
          <a:lstStyle>
            <a:lvl1pPr marL="0" indent="0" algn="l">
              <a:buNone/>
              <a:defRPr sz="1015">
                <a:solidFill>
                  <a:schemeClr val="tx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单击编辑副标题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1"/>
            </p:custDataLst>
          </p:nvPr>
        </p:nvPicPr>
        <p:blipFill>
          <a:blip r:embed="rId7"/>
          <a:stretch>
            <a:fillRect/>
          </a:stretch>
        </p:blipFill>
        <p:spPr>
          <a:xfrm>
            <a:off x="48577" y="249238"/>
            <a:ext cx="1127284" cy="1068705"/>
          </a:xfrm>
          <a:prstGeom prst="rect">
            <a:avLst/>
          </a:prstGeom>
        </p:spPr>
      </p:pic>
      <p:sp>
        <p:nvSpPr>
          <p:cNvPr id="2" name="标题 1"/>
          <p:cNvSpPr>
            <a:spLocks noGrp="1"/>
          </p:cNvSpPr>
          <p:nvPr>
            <p:ph type="title"/>
            <p:custDataLst>
              <p:tags r:id="rId2"/>
            </p:custDataLst>
          </p:nvPr>
        </p:nvSpPr>
        <p:spPr>
          <a:xfrm>
            <a:off x="628650" y="530820"/>
            <a:ext cx="7886700" cy="994172"/>
          </a:xfrm>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10" name="图片 9"/>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961200" y="1339650"/>
            <a:ext cx="7219800" cy="542700"/>
          </a:xfrm>
        </p:spPr>
        <p:txBody>
          <a:bodyPr anchor="ctr"/>
          <a:lstStyle>
            <a:lvl1pP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6"/>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dirty="0">
              <a:sym typeface="+mn-ea"/>
            </a:endParaRPr>
          </a:p>
        </p:txBody>
      </p:sp>
      <p:pic>
        <p:nvPicPr>
          <p:cNvPr id="10" name="图片 9"/>
          <p:cNvPicPr>
            <a:picLocks noChangeAspect="1"/>
          </p:cNvPicPr>
          <p:nvPr userDrawn="1">
            <p:custDataLst>
              <p:tags r:id="rId2"/>
            </p:custDataLst>
          </p:nvPr>
        </p:nvPicPr>
        <p:blipFill>
          <a:blip r:embed="rId10"/>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anchor="ctr"/>
          <a:lstStyle>
            <a:lvl1pPr>
              <a:defRPr sz="2025"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2"/>
            </p:custDataLst>
          </p:nvPr>
        </p:nvSpPr>
        <p:spPr>
          <a:xfrm>
            <a:off x="459000" y="859500"/>
            <a:ext cx="8232300" cy="469800"/>
          </a:xfrm>
        </p:spPr>
        <p:txBody>
          <a:bodyPr anchor="ctr"/>
          <a:lstStyle>
            <a:lvl1pPr algn="ctr">
              <a:defRPr sz="2025"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59000" y="1763100"/>
            <a:ext cx="8231981" cy="621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459581" y="3236850"/>
            <a:ext cx="8224200" cy="25731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6" name="图片 5"/>
          <p:cNvPicPr>
            <a:picLocks noChangeAspect="1"/>
          </p:cNvPicPr>
          <p:nvPr userDrawn="1">
            <p:custDataLst>
              <p:tags r:id="rId8"/>
            </p:custDataLst>
          </p:nvPr>
        </p:nvPicPr>
        <p:blipFill>
          <a:blip r:embed="rId10"/>
          <a:stretch>
            <a:fillRect/>
          </a:stretch>
        </p:blipFill>
        <p:spPr>
          <a:xfrm>
            <a:off x="48577" y="249238"/>
            <a:ext cx="1127284" cy="1068705"/>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custDataLst>
              <p:tags r:id="rId1"/>
            </p:custDataLst>
          </p:nvPr>
        </p:nvPicPr>
        <p:blipFill>
          <a:blip r:embed="rId10"/>
          <a:stretch>
            <a:fillRect/>
          </a:stretch>
        </p:blipFill>
        <p:spPr>
          <a:xfrm>
            <a:off x="48577" y="249238"/>
            <a:ext cx="1127284" cy="1068705"/>
          </a:xfrm>
          <a:prstGeom prst="rect">
            <a:avLst/>
          </a:prstGeom>
        </p:spPr>
      </p:pic>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12"/>
          <a:stretch>
            <a:fillRect/>
          </a:stretch>
        </p:blipFill>
        <p:spPr>
          <a:xfrm>
            <a:off x="48577" y="249238"/>
            <a:ext cx="1127284" cy="1068705"/>
          </a:xfrm>
          <a:prstGeom prst="rect">
            <a:avLst/>
          </a:prstGeom>
        </p:spPr>
      </p:pic>
      <p:sp>
        <p:nvSpPr>
          <p:cNvPr id="2" name="标题 1"/>
          <p:cNvSpPr>
            <a:spLocks noGrp="1"/>
          </p:cNvSpPr>
          <p:nvPr>
            <p:ph type="title"/>
            <p:custDataLst>
              <p:tags r:id="rId3"/>
            </p:custDataLst>
          </p:nvPr>
        </p:nvSpPr>
        <p:spPr>
          <a:xfrm>
            <a:off x="434700" y="292846"/>
            <a:ext cx="8278200" cy="331473"/>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1142100" y="1637550"/>
            <a:ext cx="6858000" cy="1790100"/>
          </a:xfrm>
        </p:spPr>
        <p:txBody>
          <a:bodyPr anchor="b"/>
          <a:lstStyle>
            <a:lvl1pPr algn="ctr">
              <a:defRPr sz="3375" baseline="0">
                <a:solidFill>
                  <a:schemeClr val="tx1"/>
                </a:solidFill>
                <a:latin typeface="Arial" panose="020B0604020202020204" pitchFamily="34" charset="0"/>
                <a:ea typeface="微软雅黑" panose="020B0503020204020204" charset="-122"/>
              </a:defRPr>
            </a:lvl1pPr>
          </a:lstStyle>
          <a:p>
            <a:r>
              <a:rPr lang="zh-CN" altLang="en-US" dirty="0"/>
              <a:t>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2026/9/14</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hasCustomPrompt="1"/>
            <p:custDataLst>
              <p:tags r:id="rId7"/>
            </p:custDataLst>
          </p:nvPr>
        </p:nvSpPr>
        <p:spPr>
          <a:xfrm>
            <a:off x="1141810" y="4069800"/>
            <a:ext cx="6858000" cy="1242000"/>
          </a:xfrm>
        </p:spPr>
        <p:txBody>
          <a:bodyPr/>
          <a:lstStyle>
            <a:lvl1pPr marL="0" indent="0" algn="ctr">
              <a:buNone/>
              <a:defRPr baseline="0">
                <a:solidFill>
                  <a:schemeClr val="tx1"/>
                </a:solidFill>
                <a:latin typeface="Arial" panose="020B0604020202020204" pitchFamily="34" charset="0"/>
                <a:ea typeface="微软雅黑" panose="020B0503020204020204" charset="-122"/>
              </a:defRPr>
            </a:lvl1pPr>
          </a:lstStyle>
          <a:p>
            <a:pPr lvl="0"/>
            <a:r>
              <a:rPr lang="zh-CN" altLang="en-US" dirty="0"/>
              <a:t>编辑副标题</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1048596" name="灯片编号占位符 15"/>
          <p:cNvSpPr>
            <a:spLocks noGrp="1"/>
          </p:cNvSpPr>
          <p:nvPr>
            <p:ph type="sldNum" sz="quarter" idx="12"/>
          </p:nvPr>
        </p:nvSpPr>
        <p:spPr>
          <a:xfrm>
            <a:off x="8101012" y="6405440"/>
            <a:ext cx="1042988" cy="365125"/>
          </a:xfrm>
        </p:spPr>
        <p:txBody>
          <a:bodyPr/>
          <a:lstStyle>
            <a:lvl1pPr algn="ctr">
              <a:defRPr sz="1500" b="1">
                <a:solidFill>
                  <a:schemeClr val="bg1"/>
                </a:solidFill>
              </a:defRPr>
            </a:lvl1pPr>
          </a:lstStyle>
          <a:p>
            <a:fld id="{51D91E7F-84B6-4064-9D4E-CC7D244BCA0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ags" Target="../tags/tag7.xml"/><Relationship Id="rId3" Type="http://schemas.openxmlformats.org/officeDocument/2006/relationships/slideLayout" Target="../slideLayouts/slideLayout17.xml"/><Relationship Id="rId21" Type="http://schemas.openxmlformats.org/officeDocument/2006/relationships/tags" Target="../tags/tag2.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6.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4.xml"/><Relationship Id="rId28" Type="http://schemas.openxmlformats.org/officeDocument/2006/relationships/image" Target="../media/image2.png"/><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3.xml"/><Relationship Id="rId27"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5" name="Line 3"/>
          <p:cNvSpPr>
            <a:spLocks noChangeShapeType="1"/>
          </p:cNvSpPr>
          <p:nvPr/>
        </p:nvSpPr>
        <p:spPr bwMode="ltGray">
          <a:xfrm>
            <a:off x="1042988" y="849313"/>
            <a:ext cx="8101013" cy="0"/>
          </a:xfrm>
          <a:prstGeom prst="line">
            <a:avLst/>
          </a:prstGeom>
          <a:ln w="28575"/>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pic>
        <p:nvPicPr>
          <p:cNvPr id="1027" name="Picture 4" descr="minispir"/>
          <p:cNvPicPr>
            <a:picLocks noChangeAspect="1"/>
          </p:cNvPicPr>
          <p:nvPr/>
        </p:nvPicPr>
        <p:blipFill>
          <a:blip r:embed="rId16"/>
          <a:srcRect b="5333"/>
          <a:stretch>
            <a:fillRect/>
          </a:stretch>
        </p:blipFill>
        <p:spPr>
          <a:xfrm>
            <a:off x="0" y="836613"/>
            <a:ext cx="1042988" cy="3409950"/>
          </a:xfrm>
          <a:prstGeom prst="rect">
            <a:avLst/>
          </a:prstGeom>
          <a:noFill/>
          <a:ln w="9525">
            <a:noFill/>
          </a:ln>
        </p:spPr>
      </p:pic>
      <p:pic>
        <p:nvPicPr>
          <p:cNvPr id="1028" name="Picture 5" descr="minispir"/>
          <p:cNvPicPr>
            <a:picLocks noChangeAspect="1"/>
          </p:cNvPicPr>
          <p:nvPr/>
        </p:nvPicPr>
        <p:blipFill>
          <a:blip r:embed="rId16"/>
          <a:srcRect t="39999"/>
          <a:stretch>
            <a:fillRect/>
          </a:stretch>
        </p:blipFill>
        <p:spPr>
          <a:xfrm>
            <a:off x="0" y="4105275"/>
            <a:ext cx="1055688" cy="2752725"/>
          </a:xfrm>
          <a:prstGeom prst="rect">
            <a:avLst/>
          </a:prstGeom>
          <a:noFill/>
          <a:ln w="9525">
            <a:noFill/>
          </a:ln>
        </p:spPr>
      </p:pic>
      <p:sp>
        <p:nvSpPr>
          <p:cNvPr id="1029" name="Rectangle 6"/>
          <p:cNvSpPr>
            <a:spLocks noGrp="1"/>
          </p:cNvSpPr>
          <p:nvPr>
            <p:ph type="title"/>
          </p:nvPr>
        </p:nvSpPr>
        <p:spPr>
          <a:xfrm>
            <a:off x="1200150" y="20638"/>
            <a:ext cx="7943850" cy="815975"/>
          </a:xfrm>
          <a:prstGeom prst="rect">
            <a:avLst/>
          </a:prstGeom>
          <a:noFill/>
          <a:ln w="9525">
            <a:noFill/>
          </a:ln>
        </p:spPr>
        <p:txBody>
          <a:bodyPr anchor="ctr"/>
          <a:lstStyle/>
          <a:p>
            <a:pPr lvl="0"/>
            <a:r>
              <a:rPr lang="zh-CN" altLang="en-US" dirty="0"/>
              <a:t>单击此处编辑母版标题样式</a:t>
            </a:r>
          </a:p>
        </p:txBody>
      </p:sp>
      <p:sp>
        <p:nvSpPr>
          <p:cNvPr id="1030" name="Rectangle 7"/>
          <p:cNvSpPr>
            <a:spLocks noGrp="1"/>
          </p:cNvSpPr>
          <p:nvPr>
            <p:ph type="body"/>
          </p:nvPr>
        </p:nvSpPr>
        <p:spPr>
          <a:xfrm>
            <a:off x="1042988" y="981075"/>
            <a:ext cx="8101012" cy="5327650"/>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3080" name="Rectangle 8"/>
          <p:cNvSpPr>
            <a:spLocks noGrp="1" noChangeArrowheads="1"/>
          </p:cNvSpPr>
          <p:nvPr>
            <p:ph type="dt" sz="half" idx="2"/>
          </p:nvPr>
        </p:nvSpPr>
        <p:spPr bwMode="auto">
          <a:xfrm>
            <a:off x="1014413" y="638175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0"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548063" y="638175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kumimoji="0"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400"/>
            </a:lvl1pPr>
          </a:lstStyle>
          <a:p>
            <a:pPr marL="0" marR="0" lvl="0" indent="0" algn="r" defTabSz="914400" rtl="0" eaLnBrk="1" fontAlgn="base" latinLnBrk="0" hangingPunct="1">
              <a:lnSpc>
                <a:spcPct val="100000"/>
              </a:lnSpc>
              <a:spcBef>
                <a:spcPct val="0"/>
              </a:spcBef>
              <a:spcAft>
                <a:spcPct val="0"/>
              </a:spcAft>
              <a:buClrTx/>
              <a:buSzTx/>
              <a:buFontTx/>
              <a:buNone/>
              <a:defRPr/>
            </a:pPr>
            <a:fld id="{0AD90BD3-14AD-4F2E-B848-2AA1FC30330F}"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6" name="Text Box 14"/>
          <p:cNvSpPr txBox="1">
            <a:spLocks noChangeArrowheads="1"/>
          </p:cNvSpPr>
          <p:nvPr/>
        </p:nvSpPr>
        <p:spPr bwMode="auto">
          <a:xfrm>
            <a:off x="-36512" y="608013"/>
            <a:ext cx="1187450" cy="157163"/>
          </a:xfrm>
          <a:prstGeom prst="rect">
            <a:avLst/>
          </a:prstGeom>
          <a:noFill/>
          <a:ln w="9525">
            <a:noFill/>
            <a:miter lim="800000"/>
          </a:ln>
          <a:effectLst/>
        </p:spPr>
        <p:txBody>
          <a:bodyPr lIns="0" tIns="0" rIns="0" bIns="0">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1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华文行楷" panose="02010800040101010101" pitchFamily="2" charset="-122"/>
                <a:cs typeface="+mn-cs"/>
              </a:rPr>
              <a:t>电子科技大学</a:t>
            </a:r>
          </a:p>
        </p:txBody>
      </p:sp>
      <p:pic>
        <p:nvPicPr>
          <p:cNvPr id="1035" name="图片 12"/>
          <p:cNvPicPr>
            <a:picLocks noChangeAspect="1"/>
          </p:cNvPicPr>
          <p:nvPr userDrawn="1"/>
        </p:nvPicPr>
        <p:blipFill>
          <a:blip r:embed="rId17">
            <a:clrChange>
              <a:clrFrom>
                <a:srgbClr val="FFFFFF"/>
              </a:clrFrom>
              <a:clrTo>
                <a:srgbClr val="FFFFFF">
                  <a:alpha val="0"/>
                </a:srgbClr>
              </a:clrTo>
            </a:clrChange>
          </a:blip>
          <a:stretch>
            <a:fillRect/>
          </a:stretch>
        </p:blipFill>
        <p:spPr>
          <a:xfrm>
            <a:off x="209550" y="4763"/>
            <a:ext cx="617538" cy="6238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372110" y="0"/>
            <a:ext cx="8143240" cy="710565"/>
          </a:xfrm>
          <a:prstGeom prst="rect">
            <a:avLst/>
          </a:prstGeom>
        </p:spPr>
        <p:txBody>
          <a:bodyPr vert="horz" lIns="91440" tIns="45720" rIns="91440" bIns="45720" rtlCol="0" anchor="ctr">
            <a:norm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a:solidFill>
                  <a:schemeClr val="tx1"/>
                </a:solidFill>
                <a:latin typeface="方正粗黑宋简体" panose="02000000000000000000" charset="-122"/>
                <a:ea typeface="方正粗黑宋简体" panose="02000000000000000000" charset="-122"/>
                <a:cs typeface="+mj-cs"/>
              </a:defRPr>
            </a:lvl1pPr>
          </a:lstStyle>
          <a:p>
            <a:r>
              <a:rPr lang="zh-CN" altLang="en-US"/>
              <a:t>单击此处编辑母版标题样式</a:t>
            </a:r>
          </a:p>
        </p:txBody>
      </p:sp>
      <p:sp>
        <p:nvSpPr>
          <p:cNvPr id="3" name="文本占位符 2"/>
          <p:cNvSpPr>
            <a:spLocks noGrp="1"/>
          </p:cNvSpPr>
          <p:nvPr>
            <p:ph type="body" idx="1"/>
            <p:custDataLst>
              <p:tags r:id="rId22"/>
            </p:custDataLst>
          </p:nvPr>
        </p:nvSpPr>
        <p:spPr>
          <a:xfrm>
            <a:off x="383540" y="822325"/>
            <a:ext cx="8131810" cy="4667250"/>
          </a:xfrm>
          <a:prstGeom prst="rect">
            <a:avLst/>
          </a:prstGeom>
        </p:spPr>
        <p:txBody>
          <a:bodyPr vert="horz" lIns="91440" tIns="45720" rIns="91440" bIns="45720" rtlCol="0">
            <a:normAutofit/>
          </a:bodyPr>
          <a:lstStyle/>
          <a:p>
            <a:pPr lvl="0" algn="l">
              <a:lnSpc>
                <a:spcPct val="100000"/>
              </a:lnSpc>
              <a:spcBef>
                <a:spcPts val="600"/>
              </a:spcBef>
              <a:buClrTx/>
              <a:buSzTx/>
            </a:pPr>
            <a:r>
              <a:rPr lang="zh-CN" altLang="en-US" dirty="0"/>
              <a:t>编辑母版文本样式</a:t>
            </a:r>
          </a:p>
          <a:p>
            <a:pPr lvl="1" algn="l">
              <a:lnSpc>
                <a:spcPct val="100000"/>
              </a:lnSpc>
              <a:spcBef>
                <a:spcPts val="600"/>
              </a:spcBef>
              <a:buClrTx/>
              <a:buSzTx/>
            </a:pPr>
            <a:r>
              <a:rPr lang="zh-CN" altLang="en-US" dirty="0"/>
              <a:t>第二级</a:t>
            </a:r>
          </a:p>
          <a:p>
            <a:pPr lvl="2" algn="l">
              <a:lnSpc>
                <a:spcPct val="100000"/>
              </a:lnSpc>
              <a:spcBef>
                <a:spcPts val="600"/>
              </a:spcBef>
              <a:buClrTx/>
              <a:buSzTx/>
            </a:pPr>
            <a:r>
              <a:rPr lang="zh-CN" altLang="en-US" dirty="0"/>
              <a:t>第三级</a:t>
            </a:r>
          </a:p>
          <a:p>
            <a:pPr lvl="3" algn="l">
              <a:lnSpc>
                <a:spcPct val="100000"/>
              </a:lnSpc>
              <a:spcBef>
                <a:spcPts val="600"/>
              </a:spcBef>
              <a:buClrTx/>
              <a:buSzTx/>
            </a:pPr>
            <a:r>
              <a:rPr lang="zh-CN" altLang="en-US" dirty="0"/>
              <a:t>第四级</a:t>
            </a:r>
          </a:p>
          <a:p>
            <a:pPr lvl="4" algn="l">
              <a:lnSpc>
                <a:spcPct val="100000"/>
              </a:lnSpc>
              <a:spcBef>
                <a:spcPts val="600"/>
              </a:spcBef>
              <a:buClrTx/>
              <a:buSzTx/>
            </a:pPr>
            <a:r>
              <a:rPr lang="zh-CN" altLang="en-US" dirty="0"/>
              <a:t>第五级</a:t>
            </a:r>
          </a:p>
        </p:txBody>
      </p:sp>
      <p:sp>
        <p:nvSpPr>
          <p:cNvPr id="4" name="日期占位符 3"/>
          <p:cNvSpPr>
            <a:spLocks noGrp="1"/>
          </p:cNvSpPr>
          <p:nvPr>
            <p:ph type="dt" sz="half" idx="2"/>
            <p:custDataLst>
              <p:tags r:id="rId23"/>
            </p:custDataLst>
          </p:nvPr>
        </p:nvSpPr>
        <p:spPr>
          <a:xfrm>
            <a:off x="628650" y="5624513"/>
            <a:ext cx="2057400" cy="273844"/>
          </a:xfrm>
          <a:prstGeom prst="rect">
            <a:avLst/>
          </a:prstGeom>
        </p:spPr>
        <p:txBody>
          <a:bodyPr vert="horz" lIns="91440" tIns="45720" rIns="91440" bIns="45720" rtlCol="0" anchor="ctr">
            <a:normAutofit/>
          </a:bodyPr>
          <a:lstStyle>
            <a:lvl1pPr algn="l">
              <a:defRPr sz="675">
                <a:solidFill>
                  <a:schemeClr val="bg1">
                    <a:lumMod val="65000"/>
                  </a:schemeClr>
                </a:solidFill>
              </a:defRPr>
            </a:lvl1pPr>
          </a:lstStyle>
          <a:p>
            <a:fld id="{3B358A95-C3A6-445A-9253-6EEA2DB226D8}" type="datetimeFigureOut">
              <a:rPr lang="zh-CN" altLang="en-US" smtClean="0"/>
              <a:t>2026/9/14</a:t>
            </a:fld>
            <a:endParaRPr lang="zh-CN" altLang="en-US" dirty="0"/>
          </a:p>
        </p:txBody>
      </p:sp>
      <p:sp>
        <p:nvSpPr>
          <p:cNvPr id="5" name="页脚占位符 4"/>
          <p:cNvSpPr>
            <a:spLocks noGrp="1"/>
          </p:cNvSpPr>
          <p:nvPr>
            <p:ph type="ftr" sz="quarter" idx="3"/>
            <p:custDataLst>
              <p:tags r:id="rId24"/>
            </p:custDataLst>
          </p:nvPr>
        </p:nvSpPr>
        <p:spPr>
          <a:xfrm>
            <a:off x="3028950" y="5624513"/>
            <a:ext cx="3086100" cy="273844"/>
          </a:xfrm>
          <a:prstGeom prst="rect">
            <a:avLst/>
          </a:prstGeom>
        </p:spPr>
        <p:txBody>
          <a:bodyPr vert="horz" lIns="91440" tIns="45720" rIns="91440" bIns="45720" rtlCol="0" anchor="ctr">
            <a:normAutofit/>
          </a:bodyPr>
          <a:lstStyle>
            <a:lvl1pPr algn="ctr">
              <a:defRPr sz="675">
                <a:solidFill>
                  <a:schemeClr val="bg1">
                    <a:lumMod val="65000"/>
                  </a:schemeClr>
                </a:solidFill>
              </a:defRPr>
            </a:lvl1pPr>
          </a:lstStyle>
          <a:p>
            <a:endParaRPr lang="zh-CN" altLang="en-US"/>
          </a:p>
        </p:txBody>
      </p:sp>
      <p:sp>
        <p:nvSpPr>
          <p:cNvPr id="6" name="灯片编号占位符 5"/>
          <p:cNvSpPr>
            <a:spLocks noGrp="1"/>
          </p:cNvSpPr>
          <p:nvPr>
            <p:ph type="sldNum" sz="quarter" idx="4"/>
            <p:custDataLst>
              <p:tags r:id="rId25"/>
            </p:custDataLst>
          </p:nvPr>
        </p:nvSpPr>
        <p:spPr>
          <a:xfrm>
            <a:off x="6457950" y="5624513"/>
            <a:ext cx="2057400" cy="273844"/>
          </a:xfrm>
          <a:prstGeom prst="rect">
            <a:avLst/>
          </a:prstGeom>
        </p:spPr>
        <p:txBody>
          <a:bodyPr vert="horz" lIns="91440" tIns="45720" rIns="91440" bIns="45720" rtlCol="0" anchor="ctr">
            <a:normAutofit/>
          </a:bodyPr>
          <a:lstStyle>
            <a:lvl1pPr algn="r">
              <a:defRPr sz="675">
                <a:solidFill>
                  <a:schemeClr val="bg1">
                    <a:lumMod val="65000"/>
                  </a:schemeClr>
                </a:solidFill>
              </a:defRPr>
            </a:lvl1pPr>
          </a:lstStyle>
          <a:p>
            <a:fld id="{EB8C49CF-321A-4DB1-9C29-37DB43122813}" type="slidenum">
              <a:rPr lang="zh-CN" altLang="en-US" smtClean="0"/>
              <a:t>‹#›</a:t>
            </a:fld>
            <a:endParaRPr lang="zh-CN" altLang="en-US"/>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lt1"/>
              </a:solidFill>
            </a:endParaRPr>
          </a:p>
        </p:txBody>
      </p:sp>
      <p:pic>
        <p:nvPicPr>
          <p:cNvPr id="1035" name="图片 12"/>
          <p:cNvPicPr>
            <a:picLocks noChangeAspect="1"/>
          </p:cNvPicPr>
          <p:nvPr userDrawn="1">
            <p:custDataLst>
              <p:tags r:id="rId27"/>
            </p:custDataLst>
          </p:nvPr>
        </p:nvPicPr>
        <p:blipFill>
          <a:blip r:embed="rId28">
            <a:clrChange>
              <a:clrFrom>
                <a:srgbClr val="FFFFFF"/>
              </a:clrFrom>
              <a:clrTo>
                <a:srgbClr val="FFFFFF">
                  <a:alpha val="0"/>
                </a:srgbClr>
              </a:clrTo>
            </a:clrChange>
          </a:blip>
          <a:stretch>
            <a:fillRect/>
          </a:stretch>
        </p:blipFill>
        <p:spPr>
          <a:xfrm>
            <a:off x="8515350" y="63183"/>
            <a:ext cx="617538" cy="6238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Lst>
  <p:txStyles>
    <p:titleStyle>
      <a:lvl1pPr algn="l" defTabSz="51435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28905" indent="-128270" algn="l" defTabSz="514350" rtl="0" eaLnBrk="1" latinLnBrk="0" hangingPunct="1">
        <a:lnSpc>
          <a:spcPct val="90000"/>
        </a:lnSpc>
        <a:spcBef>
          <a:spcPct val="113000"/>
        </a:spcBef>
        <a:buFont typeface="Arial" panose="020B0604020202020204" pitchFamily="34" charset="0"/>
        <a:buChar char="•"/>
        <a:defRPr sz="2800" kern="1200">
          <a:solidFill>
            <a:schemeClr val="tx1"/>
          </a:solidFill>
          <a:latin typeface="+mn-lt"/>
          <a:ea typeface="+mn-ea"/>
          <a:cs typeface="+mn-cs"/>
        </a:defRPr>
      </a:lvl1pPr>
      <a:lvl2pPr marL="38608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2pPr>
      <a:lvl3pPr marL="643255"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3pPr>
      <a:lvl4pPr marL="90043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4pPr>
      <a:lvl5pPr marL="1157605" indent="-128270" algn="l" defTabSz="514350" rtl="0" eaLnBrk="1" latinLnBrk="0" hangingPunct="1">
        <a:lnSpc>
          <a:spcPct val="90000"/>
        </a:lnSpc>
        <a:spcBef>
          <a:spcPts val="280"/>
        </a:spcBef>
        <a:buFont typeface="Arial" panose="020B0604020202020204" pitchFamily="34" charset="0"/>
        <a:buChar char="•"/>
        <a:defRPr sz="1600" kern="1200">
          <a:solidFill>
            <a:schemeClr val="tx1"/>
          </a:solidFill>
          <a:latin typeface="+mn-lt"/>
          <a:ea typeface="+mn-ea"/>
          <a:cs typeface="+mn-cs"/>
        </a:defRPr>
      </a:lvl5pPr>
      <a:lvl6pPr marL="141478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36.xml"/><Relationship Id="rId7" Type="http://schemas.openxmlformats.org/officeDocument/2006/relationships/image" Target="../media/image16.jpe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slideLayout" Target="../slideLayouts/slideLayout15.xml"/><Relationship Id="rId5" Type="http://schemas.openxmlformats.org/officeDocument/2006/relationships/tags" Target="../tags/tag138.xml"/><Relationship Id="rId4" Type="http://schemas.openxmlformats.org/officeDocument/2006/relationships/tags" Target="../tags/tag137.xml"/></Relationships>
</file>

<file path=ppt/slides/_rels/slide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tags" Target="../tags/tag151.xml"/><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tags" Target="../tags/tag150.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5" Type="http://schemas.openxmlformats.org/officeDocument/2006/relationships/tags" Target="../tags/tag143.xml"/><Relationship Id="rId15" Type="http://schemas.openxmlformats.org/officeDocument/2006/relationships/image" Target="../media/image18.png"/><Relationship Id="rId10" Type="http://schemas.openxmlformats.org/officeDocument/2006/relationships/tags" Target="../tags/tag148.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53.xml"/><Relationship Id="rId1" Type="http://schemas.openxmlformats.org/officeDocument/2006/relationships/tags" Target="../tags/tag152.xml"/><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8" Type="http://schemas.openxmlformats.org/officeDocument/2006/relationships/tags" Target="../tags/tag161.xml"/><Relationship Id="rId3" Type="http://schemas.openxmlformats.org/officeDocument/2006/relationships/tags" Target="../tags/tag156.xml"/><Relationship Id="rId7" Type="http://schemas.openxmlformats.org/officeDocument/2006/relationships/tags" Target="../tags/tag160.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slideLayout" Target="../slideLayouts/slideLayout16.xml"/><Relationship Id="rId5" Type="http://schemas.openxmlformats.org/officeDocument/2006/relationships/tags" Target="../tags/tag158.xml"/><Relationship Id="rId10" Type="http://schemas.openxmlformats.org/officeDocument/2006/relationships/tags" Target="../tags/tag163.xml"/><Relationship Id="rId4" Type="http://schemas.openxmlformats.org/officeDocument/2006/relationships/tags" Target="../tags/tag157.xml"/><Relationship Id="rId9" Type="http://schemas.openxmlformats.org/officeDocument/2006/relationships/tags" Target="../tags/tag16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65.xml"/><Relationship Id="rId1" Type="http://schemas.openxmlformats.org/officeDocument/2006/relationships/tags" Target="../tags/tag164.xml"/><Relationship Id="rId5" Type="http://schemas.openxmlformats.org/officeDocument/2006/relationships/image" Target="../media/image15.png"/><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5" Type="http://schemas.openxmlformats.org/officeDocument/2006/relationships/image" Target="../media/image15.png"/><Relationship Id="rId4"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70.xml"/><Relationship Id="rId1" Type="http://schemas.openxmlformats.org/officeDocument/2006/relationships/tags" Target="../tags/tag16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6.xm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79.xml"/><Relationship Id="rId7" Type="http://schemas.openxmlformats.org/officeDocument/2006/relationships/slideLayout" Target="../slideLayouts/slideLayout16.xml"/><Relationship Id="rId12" Type="http://schemas.openxmlformats.org/officeDocument/2006/relationships/image" Target="../media/image23.png"/><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image" Target="../media/image22.png"/><Relationship Id="rId5" Type="http://schemas.openxmlformats.org/officeDocument/2006/relationships/tags" Target="../tags/tag181.xml"/><Relationship Id="rId10" Type="http://schemas.openxmlformats.org/officeDocument/2006/relationships/image" Target="../media/image21.png"/><Relationship Id="rId4" Type="http://schemas.openxmlformats.org/officeDocument/2006/relationships/tags" Target="../tags/tag180.xml"/><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84.xml"/><Relationship Id="rId1" Type="http://schemas.openxmlformats.org/officeDocument/2006/relationships/tags" Target="../tags/tag183.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tags" Target="../tags/tag192.xml"/><Relationship Id="rId13" Type="http://schemas.openxmlformats.org/officeDocument/2006/relationships/tags" Target="../tags/tag197.xml"/><Relationship Id="rId18" Type="http://schemas.openxmlformats.org/officeDocument/2006/relationships/tags" Target="../tags/tag202.xml"/><Relationship Id="rId3" Type="http://schemas.openxmlformats.org/officeDocument/2006/relationships/tags" Target="../tags/tag187.xml"/><Relationship Id="rId21" Type="http://schemas.openxmlformats.org/officeDocument/2006/relationships/slideLayout" Target="../slideLayouts/slideLayout21.xml"/><Relationship Id="rId7" Type="http://schemas.openxmlformats.org/officeDocument/2006/relationships/tags" Target="../tags/tag191.xml"/><Relationship Id="rId12" Type="http://schemas.openxmlformats.org/officeDocument/2006/relationships/tags" Target="../tags/tag196.xml"/><Relationship Id="rId17" Type="http://schemas.openxmlformats.org/officeDocument/2006/relationships/tags" Target="../tags/tag201.xml"/><Relationship Id="rId2" Type="http://schemas.openxmlformats.org/officeDocument/2006/relationships/tags" Target="../tags/tag186.xml"/><Relationship Id="rId16" Type="http://schemas.openxmlformats.org/officeDocument/2006/relationships/tags" Target="../tags/tag200.xml"/><Relationship Id="rId20" Type="http://schemas.openxmlformats.org/officeDocument/2006/relationships/tags" Target="../tags/tag204.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tags" Target="../tags/tag195.xml"/><Relationship Id="rId5" Type="http://schemas.openxmlformats.org/officeDocument/2006/relationships/tags" Target="../tags/tag189.xml"/><Relationship Id="rId15" Type="http://schemas.openxmlformats.org/officeDocument/2006/relationships/tags" Target="../tags/tag199.xml"/><Relationship Id="rId10" Type="http://schemas.openxmlformats.org/officeDocument/2006/relationships/tags" Target="../tags/tag194.xml"/><Relationship Id="rId19" Type="http://schemas.openxmlformats.org/officeDocument/2006/relationships/tags" Target="../tags/tag203.xml"/><Relationship Id="rId4" Type="http://schemas.openxmlformats.org/officeDocument/2006/relationships/tags" Target="../tags/tag188.xml"/><Relationship Id="rId9" Type="http://schemas.openxmlformats.org/officeDocument/2006/relationships/tags" Target="../tags/tag193.xml"/><Relationship Id="rId14" Type="http://schemas.openxmlformats.org/officeDocument/2006/relationships/tags" Target="../tags/tag198.xml"/><Relationship Id="rId22" Type="http://schemas.openxmlformats.org/officeDocument/2006/relationships/image" Target="../media/image18.png"/></Relationships>
</file>

<file path=ppt/slides/_rels/slide2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slideLayout" Target="../slideLayouts/slideLayout21.xml"/><Relationship Id="rId7" Type="http://schemas.openxmlformats.org/officeDocument/2006/relationships/image" Target="../media/image25.svg"/><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image" Target="../media/image24.png"/><Relationship Id="rId5" Type="http://schemas.openxmlformats.org/officeDocument/2006/relationships/image" Target="../media/image15.png"/><Relationship Id="rId4"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Layout" Target="../slideLayouts/slideLayout21.xml"/><Relationship Id="rId7" Type="http://schemas.openxmlformats.org/officeDocument/2006/relationships/image" Target="../media/image29.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211.xml"/><Relationship Id="rId7" Type="http://schemas.openxmlformats.org/officeDocument/2006/relationships/image" Target="../media/image32.png"/><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image" Target="../media/image31.png"/><Relationship Id="rId5" Type="http://schemas.openxmlformats.org/officeDocument/2006/relationships/image" Target="../media/image15.png"/><Relationship Id="rId4"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image" Target="../media/image34.png"/><Relationship Id="rId5" Type="http://schemas.openxmlformats.org/officeDocument/2006/relationships/image" Target="../media/image15.png"/><Relationship Id="rId4"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33.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3" Type="http://schemas.openxmlformats.org/officeDocument/2006/relationships/hyperlink" Target="https://baike.baidu.com/item/%E4%B8%AD%E5%9B%BD%E7%A7%91%E5%AD%A6%E9%99%A2%E9%99%A2%E5%A3%AB/327194?fromModule=lemma_inlink" TargetMode="External"/><Relationship Id="rId2" Type="http://schemas.openxmlformats.org/officeDocument/2006/relationships/image" Target="../media/image48.png"/><Relationship Id="rId1" Type="http://schemas.openxmlformats.org/officeDocument/2006/relationships/slideLayout" Target="../slideLayouts/slideLayout33.xml"/><Relationship Id="rId4" Type="http://schemas.openxmlformats.org/officeDocument/2006/relationships/hyperlink" Target="https://baike.baidu.com/item/%E4%B8%AD%E5%9B%BD%E7%A7%91%E5%AD%A6%E9%99%A2%E9%9B%84%E5%AE%89%E5%88%9B%E6%96%B0%E7%A0%94%E7%A9%B6%E9%99%A2/56930201?fromModule=lemma_inlink"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baike.baidu.com/item/%E7%BB%BC%E5%90%88%E8%84%89%E5%86%B2%E5%AD%94%E5%BE%84%E9%9B%B7%E8%BE%BE/12495057?fromModule=lemma_inlink" TargetMode="External"/><Relationship Id="rId3" Type="http://schemas.openxmlformats.org/officeDocument/2006/relationships/hyperlink" Target="https://baike.baidu.com/item/%E5%AE%9C%E5%AE%BE%E5%B8%82/13827162?fromModule=lemma_inlink" TargetMode="External"/><Relationship Id="rId7" Type="http://schemas.openxmlformats.org/officeDocument/2006/relationships/hyperlink" Target="https://baike.baidu.com/item/%E7%94%B5%E5%AD%90%E7%A7%91%E6%8A%80%E5%A4%A7%E5%AD%A6/163947?fromModule=lemma_inlink" TargetMode="External"/><Relationship Id="rId2" Type="http://schemas.openxmlformats.org/officeDocument/2006/relationships/image" Target="../media/image49.png"/><Relationship Id="rId1" Type="http://schemas.openxmlformats.org/officeDocument/2006/relationships/slideLayout" Target="../slideLayouts/slideLayout33.xml"/><Relationship Id="rId6" Type="http://schemas.openxmlformats.org/officeDocument/2006/relationships/hyperlink" Target="https://baike.baidu.com/item/%E5%8C%97%E4%BA%AC%E8%88%AA%E7%A9%BA%E8%88%AA%E5%A4%A9%E5%A4%A7%E5%AD%A6/133845?fromModule=lemma_inlink" TargetMode="External"/><Relationship Id="rId5" Type="http://schemas.openxmlformats.org/officeDocument/2006/relationships/hyperlink" Target="https://baike.baidu.com/item/%E4%B8%AD%E5%9B%BD%E7%94%B5%E5%AD%90%E7%A7%91%E6%8A%80%E9%9B%86%E5%9B%A2%E5%85%AC%E5%8F%B8/2879094?fromModule=lemma_inlink" TargetMode="External"/><Relationship Id="rId4" Type="http://schemas.openxmlformats.org/officeDocument/2006/relationships/hyperlink" Target="https://baike.baidu.com/item/%E4%B8%AD%E5%9B%BD%E5%B7%A5%E7%A8%8B%E9%99%A2%E9%99%A2%E5%A3%AB/5925613?fromModule=lemma_inlink" TargetMode="External"/><Relationship Id="rId9" Type="http://schemas.openxmlformats.org/officeDocument/2006/relationships/hyperlink" Target="https://baike.baidu.com/item/%E5%85%88%E8%BF%9B%E7%B1%B3%E6%B3%A2%E9%9B%B7%E8%BE%BE/60360689?fromModule=lemma_inlink" TargetMode="Externa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1.xml"/><Relationship Id="rId7" Type="http://schemas.openxmlformats.org/officeDocument/2006/relationships/image" Target="../media/image52.png"/><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17.xml"/><Relationship Id="rId1" Type="http://schemas.openxmlformats.org/officeDocument/2006/relationships/tags" Target="../tags/tag216.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tags" Target="../tags/tag220.xml"/><Relationship Id="rId7" Type="http://schemas.openxmlformats.org/officeDocument/2006/relationships/image" Target="../media/image15.png"/><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slideLayout" Target="../slideLayouts/slideLayout21.xml"/><Relationship Id="rId7" Type="http://schemas.openxmlformats.org/officeDocument/2006/relationships/image" Target="../media/image57.png"/><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image" Target="../media/image56.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15.png"/><Relationship Id="rId9" Type="http://schemas.openxmlformats.org/officeDocument/2006/relationships/image" Target="../media/image59.png"/></Relationships>
</file>

<file path=ppt/slides/_rels/slide3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slideLayout" Target="../slideLayouts/slideLayout21.xml"/><Relationship Id="rId7" Type="http://schemas.openxmlformats.org/officeDocument/2006/relationships/image" Target="../media/image63.png"/><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slideLayout" Target="../slideLayouts/slideLayout21.xml"/><Relationship Id="rId7" Type="http://schemas.openxmlformats.org/officeDocument/2006/relationships/image" Target="../media/image67.jpeg"/><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15.png"/><Relationship Id="rId9" Type="http://schemas.openxmlformats.org/officeDocument/2006/relationships/image" Target="../media/image69.png"/></Relationships>
</file>

<file path=ppt/slides/_rels/slide40.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slideLayout" Target="../slideLayouts/slideLayout21.xml"/><Relationship Id="rId7" Type="http://schemas.openxmlformats.org/officeDocument/2006/relationships/image" Target="../media/image73.png"/><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30.xml"/><Relationship Id="rId1" Type="http://schemas.openxmlformats.org/officeDocument/2006/relationships/tags" Target="../tags/tag229.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tags" Target="../tags/tag233.xml"/><Relationship Id="rId7" Type="http://schemas.openxmlformats.org/officeDocument/2006/relationships/image" Target="../media/image76.png"/><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image" Target="../media/image75.png"/><Relationship Id="rId5" Type="http://schemas.openxmlformats.org/officeDocument/2006/relationships/slideLayout" Target="../slideLayouts/slideLayout21.xml"/><Relationship Id="rId4" Type="http://schemas.openxmlformats.org/officeDocument/2006/relationships/tags" Target="../tags/tag234.xml"/></Relationships>
</file>

<file path=ppt/slides/_rels/slide43.xml.rels><?xml version="1.0" encoding="UTF-8" standalone="yes"?>
<Relationships xmlns="http://schemas.openxmlformats.org/package/2006/relationships"><Relationship Id="rId3" Type="http://schemas.openxmlformats.org/officeDocument/2006/relationships/tags" Target="../tags/tag237.xml"/><Relationship Id="rId7" Type="http://schemas.openxmlformats.org/officeDocument/2006/relationships/image" Target="../media/image78.png"/><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image" Target="../media/image77.png"/><Relationship Id="rId5" Type="http://schemas.openxmlformats.org/officeDocument/2006/relationships/slideLayout" Target="../slideLayouts/slideLayout21.xml"/><Relationship Id="rId4" Type="http://schemas.openxmlformats.org/officeDocument/2006/relationships/tags" Target="../tags/tag238.xml"/></Relationships>
</file>

<file path=ppt/slides/_rels/slide4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slideLayout" Target="../slideLayouts/slideLayout21.xml"/><Relationship Id="rId7" Type="http://schemas.openxmlformats.org/officeDocument/2006/relationships/diagramLayout" Target="../diagrams/layout1.xml"/><Relationship Id="rId12" Type="http://schemas.openxmlformats.org/officeDocument/2006/relationships/image" Target="../media/image80.jpeg"/><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diagramData" Target="../diagrams/data1.xml"/><Relationship Id="rId11" Type="http://schemas.openxmlformats.org/officeDocument/2006/relationships/image" Target="../media/image79.jpeg"/><Relationship Id="rId5" Type="http://schemas.openxmlformats.org/officeDocument/2006/relationships/image" Target="../media/image15.png"/><Relationship Id="rId10" Type="http://schemas.microsoft.com/office/2007/relationships/diagramDrawing" Target="../diagrams/drawing1.xml"/><Relationship Id="rId4" Type="http://schemas.openxmlformats.org/officeDocument/2006/relationships/notesSlide" Target="../notesSlides/notesSlide6.xml"/><Relationship Id="rId9" Type="http://schemas.openxmlformats.org/officeDocument/2006/relationships/diagramColors" Target="../diagrams/colors1.xml"/></Relationships>
</file>

<file path=ppt/slides/_rels/slide45.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slideLayout" Target="../slideLayouts/slideLayout21.xml"/><Relationship Id="rId7" Type="http://schemas.openxmlformats.org/officeDocument/2006/relationships/diagramLayout" Target="../diagrams/layout2.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diagramData" Target="../diagrams/data2.xml"/><Relationship Id="rId5" Type="http://schemas.openxmlformats.org/officeDocument/2006/relationships/image" Target="../media/image81.png"/><Relationship Id="rId10" Type="http://schemas.microsoft.com/office/2007/relationships/diagramDrawing" Target="../diagrams/drawing2.xml"/><Relationship Id="rId4" Type="http://schemas.openxmlformats.org/officeDocument/2006/relationships/image" Target="../media/image15.png"/><Relationship Id="rId9" Type="http://schemas.openxmlformats.org/officeDocument/2006/relationships/diagramColors" Target="../diagrams/colors2.xml"/></Relationships>
</file>

<file path=ppt/slides/_rels/slide46.xml.rels><?xml version="1.0" encoding="UTF-8" standalone="yes"?>
<Relationships xmlns="http://schemas.openxmlformats.org/package/2006/relationships"><Relationship Id="rId3" Type="http://schemas.openxmlformats.org/officeDocument/2006/relationships/tags" Target="../tags/tag245.xml"/><Relationship Id="rId7" Type="http://schemas.openxmlformats.org/officeDocument/2006/relationships/image" Target="../media/image84.png"/><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16.xml"/><Relationship Id="rId1" Type="http://schemas.openxmlformats.org/officeDocument/2006/relationships/tags" Target="../tags/tag246.xml"/></Relationships>
</file>

<file path=ppt/slides/_rels/slide4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slideLayout" Target="../slideLayouts/slideLayout16.xml"/><Relationship Id="rId1" Type="http://schemas.openxmlformats.org/officeDocument/2006/relationships/tags" Target="../tags/tag247.xml"/></Relationships>
</file>

<file path=ppt/slides/_rels/slide49.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slideLayout" Target="../slideLayouts/slideLayout21.xml"/><Relationship Id="rId7" Type="http://schemas.openxmlformats.org/officeDocument/2006/relationships/diagramLayout" Target="../diagrams/layout3.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diagramData" Target="../diagrams/data3.xml"/><Relationship Id="rId5" Type="http://schemas.openxmlformats.org/officeDocument/2006/relationships/image" Target="../media/image87.png"/><Relationship Id="rId10" Type="http://schemas.microsoft.com/office/2007/relationships/diagramDrawing" Target="../diagrams/drawing3.xml"/><Relationship Id="rId4" Type="http://schemas.openxmlformats.org/officeDocument/2006/relationships/image" Target="../media/image15.png"/><Relationship Id="rId9" Type="http://schemas.openxmlformats.org/officeDocument/2006/relationships/diagramColors" Target="../diagrams/colors3.xml"/></Relationships>
</file>

<file path=ppt/slides/_rels/slide5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1.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95.png"/><Relationship Id="rId4" Type="http://schemas.openxmlformats.org/officeDocument/2006/relationships/image" Target="../media/image94.png"/></Relationships>
</file>

<file path=ppt/slides/_rels/slide5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8" Type="http://schemas.openxmlformats.org/officeDocument/2006/relationships/image" Target="file:///C:\Users\G.Wu\AppData\Local\Temp\wps\INetCache\577fb0c02f863c02224da4edc1897260" TargetMode="External"/><Relationship Id="rId3" Type="http://schemas.openxmlformats.org/officeDocument/2006/relationships/slideLayout" Target="../slideLayouts/slideLayout21.xml"/><Relationship Id="rId7" Type="http://schemas.openxmlformats.org/officeDocument/2006/relationships/image" Target="../media/image100.jpeg"/><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image" Target="../media/image99.jpeg"/><Relationship Id="rId5" Type="http://schemas.openxmlformats.org/officeDocument/2006/relationships/image" Target="../media/image98.png"/><Relationship Id="rId10" Type="http://schemas.openxmlformats.org/officeDocument/2006/relationships/image" Target="../media/image102.jpeg"/><Relationship Id="rId4" Type="http://schemas.openxmlformats.org/officeDocument/2006/relationships/image" Target="../media/image15.png"/><Relationship Id="rId9" Type="http://schemas.openxmlformats.org/officeDocument/2006/relationships/image" Target="../media/image101.png"/></Relationships>
</file>

<file path=ppt/slides/_rels/slide56.xml.rels><?xml version="1.0" encoding="UTF-8" standalone="yes"?>
<Relationships xmlns="http://schemas.openxmlformats.org/package/2006/relationships"><Relationship Id="rId8" Type="http://schemas.openxmlformats.org/officeDocument/2006/relationships/diagramLayout" Target="../diagrams/layout4.xml"/><Relationship Id="rId3" Type="http://schemas.microsoft.com/office/2007/relationships/media" Target="../media/media1.mp4"/><Relationship Id="rId7" Type="http://schemas.openxmlformats.org/officeDocument/2006/relationships/diagramData" Target="../diagrams/data4.xml"/><Relationship Id="rId12" Type="http://schemas.openxmlformats.org/officeDocument/2006/relationships/image" Target="../media/image103.png"/><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image" Target="../media/image15.png"/><Relationship Id="rId11" Type="http://schemas.microsoft.com/office/2007/relationships/diagramDrawing" Target="../diagrams/drawing4.xml"/><Relationship Id="rId5" Type="http://schemas.openxmlformats.org/officeDocument/2006/relationships/slideLayout" Target="../slideLayouts/slideLayout21.xml"/><Relationship Id="rId10" Type="http://schemas.openxmlformats.org/officeDocument/2006/relationships/diagramColors" Target="../diagrams/colors4.xml"/><Relationship Id="rId4" Type="http://schemas.openxmlformats.org/officeDocument/2006/relationships/video" Target="../media/media1.mp4"/><Relationship Id="rId9" Type="http://schemas.openxmlformats.org/officeDocument/2006/relationships/diagramQuickStyle" Target="../diagrams/quickStyle4.xml"/></Relationships>
</file>

<file path=ppt/slides/_rels/slide57.xml.rels><?xml version="1.0" encoding="UTF-8" standalone="yes"?>
<Relationships xmlns="http://schemas.openxmlformats.org/package/2006/relationships"><Relationship Id="rId3" Type="http://schemas.openxmlformats.org/officeDocument/2006/relationships/video" Target="../media/media2.mp4"/><Relationship Id="rId2" Type="http://schemas.microsoft.com/office/2007/relationships/media" Target="../media/media2.mp4"/><Relationship Id="rId1" Type="http://schemas.openxmlformats.org/officeDocument/2006/relationships/tags" Target="../tags/tag254.xml"/><Relationship Id="rId6" Type="http://schemas.openxmlformats.org/officeDocument/2006/relationships/image" Target="../media/image104.png"/><Relationship Id="rId5" Type="http://schemas.openxmlformats.org/officeDocument/2006/relationships/image" Target="../media/image15.png"/><Relationship Id="rId4"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56.xml"/><Relationship Id="rId1" Type="http://schemas.openxmlformats.org/officeDocument/2006/relationships/tags" Target="../tags/tag255.xml"/><Relationship Id="rId5" Type="http://schemas.openxmlformats.org/officeDocument/2006/relationships/image" Target="../media/image105.png"/><Relationship Id="rId4" Type="http://schemas.openxmlformats.org/officeDocument/2006/relationships/image" Target="../media/image15.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58.xml"/><Relationship Id="rId1" Type="http://schemas.openxmlformats.org/officeDocument/2006/relationships/tags" Target="../tags/tag257.xml"/><Relationship Id="rId4" Type="http://schemas.openxmlformats.org/officeDocument/2006/relationships/image" Target="../media/image15.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60.xml"/><Relationship Id="rId1" Type="http://schemas.openxmlformats.org/officeDocument/2006/relationships/tags" Target="../tags/tag259.xml"/><Relationship Id="rId4" Type="http://schemas.openxmlformats.org/officeDocument/2006/relationships/image" Target="../media/image15.png"/></Relationships>
</file>

<file path=ppt/slides/_rels/slide61.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tags" Target="../tags/tag263.xml"/><Relationship Id="rId7" Type="http://schemas.openxmlformats.org/officeDocument/2006/relationships/image" Target="../media/image107.png"/><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image" Target="../media/image106.png"/><Relationship Id="rId5" Type="http://schemas.openxmlformats.org/officeDocument/2006/relationships/image" Target="../media/image15.png"/><Relationship Id="rId4"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image" Target="../media/image106.png"/><Relationship Id="rId4" Type="http://schemas.openxmlformats.org/officeDocument/2006/relationships/image" Target="../media/image15.png"/></Relationships>
</file>

<file path=ppt/slides/_rels/slide63.xml.rels><?xml version="1.0" encoding="UTF-8" standalone="yes"?>
<Relationships xmlns="http://schemas.openxmlformats.org/package/2006/relationships"><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image" Target="../media/image15.png"/><Relationship Id="rId5" Type="http://schemas.openxmlformats.org/officeDocument/2006/relationships/notesSlide" Target="../notesSlides/notesSlide8.xml"/><Relationship Id="rId4"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4"/>
          <p:cNvSpPr>
            <a:spLocks noGrp="1"/>
          </p:cNvSpPr>
          <p:nvPr>
            <p:custDataLst>
              <p:tags r:id="rId2"/>
            </p:custDataLst>
          </p:nvPr>
        </p:nvSpPr>
        <p:spPr>
          <a:xfrm>
            <a:off x="689610" y="3877866"/>
            <a:ext cx="4569619" cy="277654"/>
          </a:xfrm>
          <a:prstGeom prst="rect">
            <a:avLst/>
          </a:prstGeom>
        </p:spPr>
        <p:txBody>
          <a:bodyPr vert="horz" wrap="square" lIns="0" tIns="0" rIns="0" bIns="0" rtlCol="0" anchor="t" anchorCtr="0">
            <a:normAutofit fontScale="37500" lnSpcReduction="20000"/>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1125" b="0" u="none" strike="noStrike" kern="1200" cap="none" spc="200" normalizeH="0" baseline="0">
                <a:solidFill>
                  <a:schemeClr val="tx1"/>
                </a:solidFill>
                <a:uFillTx/>
                <a:latin typeface="Arial" panose="020B0604020202020204" pitchFamily="34" charset="0"/>
                <a:ea typeface="隶书" panose="02010509060101010101" pitchFamily="49" charset="-122"/>
                <a:cs typeface="+mn-cs"/>
              </a:defRPr>
            </a:lvl1pPr>
            <a:lvl2pPr marL="257175" indent="0" algn="ctr" defTabSz="514350" rtl="0" eaLnBrk="1" fontAlgn="auto" latinLnBrk="0" hangingPunct="1">
              <a:lnSpc>
                <a:spcPct val="130000"/>
              </a:lnSpc>
              <a:spcBef>
                <a:spcPts val="0"/>
              </a:spcBef>
              <a:spcAft>
                <a:spcPts val="1000"/>
              </a:spcAft>
              <a:buFont typeface="Arial" panose="020B0604020202020204" pitchFamily="34" charset="0"/>
              <a:buNone/>
              <a:tabLst>
                <a:tab pos="905510" algn="l"/>
              </a:tabLst>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2pPr>
            <a:lvl3pPr marL="51435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3pPr>
            <a:lvl4pPr marL="771525"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4pPr>
            <a:lvl5pPr marL="102870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5pPr>
            <a:lvl6pPr marL="128587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6pPr>
            <a:lvl7pPr marL="154305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7pPr>
            <a:lvl8pPr marL="180022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8pPr>
            <a:lvl9pPr marL="205740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9pPr>
          </a:lstStyle>
          <a:p>
            <a:pPr marL="0" lvl="0" indent="-285750" algn="l" fontAlgn="ctr">
              <a:lnSpc>
                <a:spcPct val="130000"/>
              </a:lnSpc>
              <a:spcBef>
                <a:spcPts val="1000"/>
              </a:spcBef>
              <a:spcAft>
                <a:spcPts val="0"/>
              </a:spcAft>
              <a:buSzPct val="100000"/>
              <a:buFont typeface="Wingdings" panose="05000000000000000000" charset="0"/>
              <a:buNone/>
            </a:pPr>
            <a:r>
              <a:rPr lang="zh-CN" altLang="en-US" sz="1000" u="none" strike="noStrike" baseline="0" dirty="0">
                <a:solidFill>
                  <a:schemeClr val="lt1"/>
                </a:solidFill>
                <a:uLnTx/>
                <a:uFillTx/>
                <a:sym typeface="+mn-ea"/>
              </a:rPr>
              <a:t>第一讲  课程概述、文献检索与综述</a:t>
            </a:r>
          </a:p>
          <a:p>
            <a:pPr marL="0" lvl="0" indent="-285750" algn="l" fontAlgn="ctr">
              <a:lnSpc>
                <a:spcPct val="130000"/>
              </a:lnSpc>
              <a:spcBef>
                <a:spcPts val="1000"/>
              </a:spcBef>
              <a:spcAft>
                <a:spcPts val="0"/>
              </a:spcAft>
              <a:buSzPct val="100000"/>
              <a:buFont typeface="Wingdings" panose="05000000000000000000" charset="0"/>
              <a:buNone/>
            </a:pPr>
            <a:r>
              <a:rPr lang="zh-CN" altLang="en-US" sz="1000" dirty="0">
                <a:solidFill>
                  <a:schemeClr val="lt1"/>
                </a:solidFill>
                <a:uLnTx/>
                <a:uFillTx/>
                <a:sym typeface="+mn-ea"/>
              </a:rPr>
              <a:t>部分幻灯片素材源自：武刚  姚佰承 黄勇军 杨鍊 邬震宇</a:t>
            </a:r>
          </a:p>
        </p:txBody>
      </p:sp>
      <p:sp>
        <p:nvSpPr>
          <p:cNvPr id="4" name="副标题 3"/>
          <p:cNvSpPr>
            <a:spLocks noGrp="1"/>
          </p:cNvSpPr>
          <p:nvPr>
            <p:ph type="subTitle" idx="1"/>
            <p:custDataLst>
              <p:tags r:id="rId3"/>
            </p:custDataLst>
          </p:nvPr>
        </p:nvSpPr>
        <p:spPr>
          <a:xfrm>
            <a:off x="4016568" y="3552825"/>
            <a:ext cx="4761230" cy="1692275"/>
          </a:xfrm>
        </p:spPr>
        <p:txBody>
          <a:bodyPr>
            <a:noAutofit/>
          </a:bodyPr>
          <a:lstStyle/>
          <a:p>
            <a:pPr marL="0" lvl="0" indent="-285750" fontAlgn="ctr">
              <a:lnSpc>
                <a:spcPct val="130000"/>
              </a:lnSpc>
              <a:spcBef>
                <a:spcPts val="1000"/>
              </a:spcBef>
              <a:spcAft>
                <a:spcPts val="0"/>
              </a:spcAft>
              <a:buSzPct val="100000"/>
              <a:buFont typeface="Wingdings" panose="05000000000000000000" charset="0"/>
              <a:buNone/>
            </a:pPr>
            <a:r>
              <a:rPr lang="zh-CN" altLang="en-US" sz="2400" dirty="0">
                <a:solidFill>
                  <a:schemeClr val="lt1"/>
                </a:solidFill>
              </a:rPr>
              <a:t>巫江</a:t>
            </a:r>
            <a:endParaRPr lang="en-US" altLang="zh-CN" sz="2400" dirty="0">
              <a:solidFill>
                <a:schemeClr val="lt1"/>
              </a:solidFill>
            </a:endParaRP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电子科技大学 </a:t>
            </a: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基础与前沿研究院</a:t>
            </a:r>
            <a:endParaRPr lang="en-US" altLang="zh-CN" sz="2400" u="none" strike="noStrike" baseline="0" dirty="0">
              <a:solidFill>
                <a:schemeClr val="lt1"/>
              </a:solidFill>
              <a:uLnTx/>
              <a:uFillTx/>
            </a:endParaRPr>
          </a:p>
          <a:p>
            <a:pPr marL="0" lvl="0" indent="-285750" fontAlgn="ctr">
              <a:lnSpc>
                <a:spcPct val="130000"/>
              </a:lnSpc>
              <a:spcBef>
                <a:spcPts val="1000"/>
              </a:spcBef>
              <a:spcAft>
                <a:spcPts val="0"/>
              </a:spcAft>
              <a:buSzPct val="100000"/>
              <a:buFont typeface="Wingdings" panose="05000000000000000000" charset="0"/>
              <a:buNone/>
            </a:pPr>
            <a:r>
              <a:rPr lang="en-US" altLang="zh-CN" sz="2400" dirty="0">
                <a:solidFill>
                  <a:schemeClr val="lt1"/>
                </a:solidFill>
              </a:rPr>
              <a:t>jiangwu@uestc.edu.cn</a:t>
            </a:r>
            <a:endParaRPr lang="zh-CN" altLang="en-US" sz="2400" u="none" strike="noStrike" baseline="0" dirty="0">
              <a:solidFill>
                <a:schemeClr val="lt1"/>
              </a:solidFill>
              <a:uLnTx/>
              <a:uFillTx/>
            </a:endParaRPr>
          </a:p>
        </p:txBody>
      </p:sp>
      <p:sp>
        <p:nvSpPr>
          <p:cNvPr id="5" name="标题 4"/>
          <p:cNvSpPr>
            <a:spLocks noGrp="1"/>
          </p:cNvSpPr>
          <p:nvPr>
            <p:ph type="ctrTitle"/>
            <p:custDataLst>
              <p:tags r:id="rId4"/>
            </p:custDataLst>
          </p:nvPr>
        </p:nvSpPr>
        <p:spPr>
          <a:xfrm>
            <a:off x="3829878" y="1341120"/>
            <a:ext cx="5134610" cy="1867535"/>
          </a:xfrm>
        </p:spPr>
        <p:txBody>
          <a:bodyPr>
            <a:normAutofit fontScale="90000"/>
          </a:bodyPr>
          <a:lstStyle/>
          <a:p>
            <a:pPr marL="0" indent="0" algn="ctr">
              <a:lnSpc>
                <a:spcPct val="150000"/>
              </a:lnSpc>
              <a:spcBef>
                <a:spcPts val="0"/>
              </a:spcBef>
              <a:spcAft>
                <a:spcPts val="0"/>
              </a:spcAft>
              <a:buSzPct val="100000"/>
              <a:buNone/>
            </a:pPr>
            <a:br>
              <a:rPr lang="en-US" altLang="zh-CN" sz="3600" u="none" strike="noStrike" baseline="0" dirty="0">
                <a:solidFill>
                  <a:schemeClr val="accent1"/>
                </a:solidFill>
                <a:uLnTx/>
                <a:uFillTx/>
              </a:rPr>
            </a:br>
            <a:br>
              <a:rPr lang="en-US" altLang="zh-CN" sz="3600" u="none" strike="noStrike" baseline="0" dirty="0">
                <a:solidFill>
                  <a:schemeClr val="accent1"/>
                </a:solidFill>
                <a:uLnTx/>
                <a:uFillTx/>
              </a:rPr>
            </a:br>
            <a:r>
              <a:rPr lang="en-US" altLang="zh-CN" sz="3600" u="none" strike="noStrike" baseline="0" dirty="0">
                <a:solidFill>
                  <a:schemeClr val="accent1"/>
                </a:solidFill>
                <a:uLnTx/>
                <a:uFillTx/>
              </a:rPr>
              <a:t>《</a:t>
            </a:r>
            <a:r>
              <a:rPr lang="en-US" altLang="zh-CN" sz="3600" u="none" strike="noStrike" baseline="0" dirty="0" err="1">
                <a:solidFill>
                  <a:schemeClr val="accent1"/>
                </a:solidFill>
                <a:uLnTx/>
                <a:uFillTx/>
              </a:rPr>
              <a:t>专业写作</a:t>
            </a:r>
            <a:r>
              <a:rPr lang="zh-CN" altLang="en-US" sz="3600" u="none" strike="noStrike" baseline="0" dirty="0">
                <a:solidFill>
                  <a:schemeClr val="accent1"/>
                </a:solidFill>
                <a:uLnTx/>
                <a:uFillTx/>
              </a:rPr>
              <a:t>基础</a:t>
            </a:r>
            <a:r>
              <a:rPr lang="en-US" altLang="zh-CN" sz="3600" u="none" strike="noStrike" baseline="0" dirty="0">
                <a:solidFill>
                  <a:schemeClr val="accent1"/>
                </a:solidFill>
                <a:uLnTx/>
                <a:uFillTx/>
              </a:rPr>
              <a:t>》</a:t>
            </a:r>
            <a:br>
              <a:rPr lang="en-US" altLang="zh-CN" sz="3600" u="none" strike="noStrike" baseline="0" dirty="0">
                <a:solidFill>
                  <a:schemeClr val="accent1"/>
                </a:solidFill>
                <a:uLnTx/>
                <a:uFillTx/>
              </a:rPr>
            </a:br>
            <a:endParaRPr lang="en-US" altLang="zh-CN" sz="3600" u="none" strike="noStrike" baseline="0" dirty="0">
              <a:solidFill>
                <a:schemeClr val="accent1"/>
              </a:solidFill>
              <a:uLnTx/>
              <a:uFillTx/>
            </a:endParaRPr>
          </a:p>
        </p:txBody>
      </p:sp>
      <p:sp>
        <p:nvSpPr>
          <p:cNvPr id="6" name="文本框 5"/>
          <p:cNvSpPr txBox="1"/>
          <p:nvPr>
            <p:custDataLst>
              <p:tags r:id="rId5"/>
            </p:custDataLst>
          </p:nvPr>
        </p:nvSpPr>
        <p:spPr>
          <a:xfrm>
            <a:off x="4932045" y="116840"/>
            <a:ext cx="3964940" cy="460375"/>
          </a:xfrm>
          <a:prstGeom prst="rect">
            <a:avLst/>
          </a:prstGeom>
          <a:noFill/>
        </p:spPr>
        <p:txBody>
          <a:bodyPr wrap="square" rtlCol="0">
            <a:spAutoFit/>
          </a:bodyPr>
          <a:lstStyle/>
          <a:p>
            <a:r>
              <a:rPr lang="en-US" altLang="zh-CN" sz="2400" dirty="0">
                <a:solidFill>
                  <a:schemeClr val="accent1">
                    <a:lumMod val="20000"/>
                    <a:lumOff val="80000"/>
                  </a:schemeClr>
                </a:solidFill>
              </a:rPr>
              <a:t>2026-2027-01</a:t>
            </a:r>
            <a:r>
              <a:rPr lang="zh-CN" altLang="en-US" sz="2400" dirty="0">
                <a:solidFill>
                  <a:schemeClr val="accent1">
                    <a:lumMod val="20000"/>
                    <a:lumOff val="80000"/>
                  </a:schemeClr>
                </a:solidFill>
              </a:rPr>
              <a:t>学期</a:t>
            </a:r>
          </a:p>
        </p:txBody>
      </p:sp>
      <p:sp>
        <p:nvSpPr>
          <p:cNvPr id="9" name="文本框 8">
            <a:extLst>
              <a:ext uri="{FF2B5EF4-FFF2-40B4-BE49-F238E27FC236}">
                <a16:creationId xmlns:a16="http://schemas.microsoft.com/office/drawing/2014/main" id="{AB4E61D1-F0AB-2035-E7E7-5C18B836AD97}"/>
              </a:ext>
            </a:extLst>
          </p:cNvPr>
          <p:cNvSpPr txBox="1"/>
          <p:nvPr/>
        </p:nvSpPr>
        <p:spPr>
          <a:xfrm>
            <a:off x="4200107" y="6237312"/>
            <a:ext cx="4394152" cy="461665"/>
          </a:xfrm>
          <a:prstGeom prst="rect">
            <a:avLst/>
          </a:prstGeom>
          <a:noFill/>
        </p:spPr>
        <p:txBody>
          <a:bodyPr wrap="none" rtlCol="0">
            <a:spAutoFit/>
          </a:bodyPr>
          <a:lstStyle/>
          <a:p>
            <a:pPr algn="ctr"/>
            <a:r>
              <a:rPr lang="zh-CN" altLang="en-US" sz="2400" dirty="0">
                <a:solidFill>
                  <a:schemeClr val="lt1"/>
                </a:solidFill>
                <a:latin typeface="+mn-lt"/>
                <a:ea typeface="+mn-ea"/>
              </a:rPr>
              <a:t>助教：周翔宇 </a:t>
            </a:r>
            <a:r>
              <a:rPr lang="en-US" altLang="zh-CN" sz="2400" dirty="0">
                <a:solidFill>
                  <a:schemeClr val="lt1"/>
                </a:solidFill>
                <a:latin typeface="+mn-lt"/>
                <a:ea typeface="+mn-ea"/>
              </a:rPr>
              <a:t>QQ:2661829386</a:t>
            </a:r>
            <a:endParaRPr lang="zh-CN" altLang="en-US" sz="2400" dirty="0">
              <a:solidFill>
                <a:schemeClr val="lt1"/>
              </a:solidFill>
              <a:latin typeface="+mn-lt"/>
              <a:ea typeface="+mn-ea"/>
            </a:endParaRPr>
          </a:p>
        </p:txBody>
      </p:sp>
      <p:pic>
        <p:nvPicPr>
          <p:cNvPr id="3" name="图片 2">
            <a:extLst>
              <a:ext uri="{FF2B5EF4-FFF2-40B4-BE49-F238E27FC236}">
                <a16:creationId xmlns:a16="http://schemas.microsoft.com/office/drawing/2014/main" id="{44912366-0B05-D7BB-014E-F4CAAFD14A4E}"/>
              </a:ext>
            </a:extLst>
          </p:cNvPr>
          <p:cNvPicPr>
            <a:picLocks noChangeAspect="1"/>
          </p:cNvPicPr>
          <p:nvPr/>
        </p:nvPicPr>
        <p:blipFill>
          <a:blip r:embed="rId7" cstate="print">
            <a:clrChange>
              <a:clrFrom>
                <a:srgbClr val="0F0E13"/>
              </a:clrFrom>
              <a:clrTo>
                <a:srgbClr val="0F0E13">
                  <a:alpha val="0"/>
                </a:srgbClr>
              </a:clrTo>
            </a:clrChange>
            <a:extLst>
              <a:ext uri="{28A0092B-C50C-407E-A947-70E740481C1C}">
                <a14:useLocalDpi xmlns:a14="http://schemas.microsoft.com/office/drawing/2010/main" val="0"/>
              </a:ext>
            </a:extLst>
          </a:blip>
          <a:stretch>
            <a:fillRect/>
          </a:stretch>
        </p:blipFill>
        <p:spPr>
          <a:xfrm>
            <a:off x="-27184" y="-13841"/>
            <a:ext cx="3857062" cy="6858000"/>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7">
            <a:extLst>
              <a:ext uri="{FF2B5EF4-FFF2-40B4-BE49-F238E27FC236}">
                <a16:creationId xmlns:a16="http://schemas.microsoft.com/office/drawing/2014/main" id="{5404D926-7500-5C31-53D1-B45E7DB9900E}"/>
              </a:ext>
            </a:extLst>
          </p:cNvPr>
          <p:cNvSpPr>
            <a:spLocks noChangeArrowheads="1"/>
          </p:cNvSpPr>
          <p:nvPr/>
        </p:nvSpPr>
        <p:spPr bwMode="auto">
          <a:xfrm>
            <a:off x="380082" y="2965274"/>
            <a:ext cx="1466850" cy="383157"/>
          </a:xfrm>
          <a:prstGeom prst="roundRect">
            <a:avLst>
              <a:gd name="adj" fmla="val 0"/>
            </a:avLst>
          </a:prstGeom>
          <a:noFill/>
          <a:ln>
            <a:noFill/>
          </a:ln>
          <a:effectLst>
            <a:softEdge rad="12700"/>
          </a:effectLst>
        </p:spPr>
        <p:txBody>
          <a:bodyPr lIns="92049" tIns="46024" rIns="92049" bIns="46024" anchor="ctr"/>
          <a:lstStyle/>
          <a:p>
            <a:pPr algn="ctr" fontAlgn="auto">
              <a:spcBef>
                <a:spcPts val="0"/>
              </a:spcBef>
              <a:spcAft>
                <a:spcPts val="0"/>
              </a:spcAft>
              <a:buSzPct val="80000"/>
              <a:buFont typeface="Arial" panose="020B0604020202020204" pitchFamily="34" charset="0"/>
              <a:buNone/>
            </a:pPr>
            <a:r>
              <a:rPr lang="zh-CN" altLang="en-US" sz="1600" b="1" kern="0" dirty="0">
                <a:solidFill>
                  <a:srgbClr val="000000">
                    <a:lumMod val="75000"/>
                    <a:lumOff val="25000"/>
                  </a:srgbClr>
                </a:solidFill>
                <a:effectLst>
                  <a:glow rad="101600">
                    <a:prstClr val="white"/>
                  </a:glow>
                </a:effectLst>
                <a:latin typeface="Times New Roman"/>
                <a:ea typeface="微软雅黑" pitchFamily="34" charset="-122"/>
              </a:rPr>
              <a:t>巫 江</a:t>
            </a:r>
            <a:endParaRPr lang="en-US" altLang="zh-CN" sz="1600" b="1" kern="0" dirty="0">
              <a:solidFill>
                <a:srgbClr val="000000">
                  <a:lumMod val="75000"/>
                  <a:lumOff val="25000"/>
                </a:srgbClr>
              </a:solidFill>
              <a:effectLst>
                <a:glow rad="101600">
                  <a:prstClr val="white"/>
                </a:glow>
              </a:effectLst>
              <a:latin typeface="Times New Roman"/>
              <a:ea typeface="微软雅黑" pitchFamily="34" charset="-122"/>
            </a:endParaRPr>
          </a:p>
        </p:txBody>
      </p:sp>
      <p:pic>
        <p:nvPicPr>
          <p:cNvPr id="8" name="图片 7">
            <a:extLst>
              <a:ext uri="{FF2B5EF4-FFF2-40B4-BE49-F238E27FC236}">
                <a16:creationId xmlns:a16="http://schemas.microsoft.com/office/drawing/2014/main" id="{3131310A-B916-1E0D-FDC3-E45A34D20212}"/>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5260"/>
          <a:stretch/>
        </p:blipFill>
        <p:spPr>
          <a:xfrm>
            <a:off x="303507" y="620688"/>
            <a:ext cx="1620000" cy="2216925"/>
          </a:xfrm>
          <a:prstGeom prst="rect">
            <a:avLst/>
          </a:prstGeom>
          <a:ln>
            <a:solidFill>
              <a:srgbClr val="000000">
                <a:lumMod val="50000"/>
                <a:lumOff val="50000"/>
              </a:srgbClr>
            </a:solidFill>
          </a:ln>
        </p:spPr>
      </p:pic>
      <p:sp>
        <p:nvSpPr>
          <p:cNvPr id="10" name="AutoShape 7">
            <a:extLst>
              <a:ext uri="{FF2B5EF4-FFF2-40B4-BE49-F238E27FC236}">
                <a16:creationId xmlns:a16="http://schemas.microsoft.com/office/drawing/2014/main" id="{F01A8E56-2D04-FDB0-5670-3475448978B1}"/>
              </a:ext>
            </a:extLst>
          </p:cNvPr>
          <p:cNvSpPr>
            <a:spLocks noChangeArrowheads="1"/>
          </p:cNvSpPr>
          <p:nvPr/>
        </p:nvSpPr>
        <p:spPr bwMode="auto">
          <a:xfrm>
            <a:off x="175295" y="3497098"/>
            <a:ext cx="1876425" cy="1516078"/>
          </a:xfrm>
          <a:prstGeom prst="roundRect">
            <a:avLst>
              <a:gd name="adj" fmla="val 0"/>
            </a:avLst>
          </a:prstGeom>
          <a:noFill/>
          <a:ln>
            <a:noFill/>
          </a:ln>
          <a:effectLst>
            <a:softEdge rad="12700"/>
          </a:effectLst>
        </p:spPr>
        <p:txBody>
          <a:bodyPr lIns="92049" tIns="46024" rIns="92049" bIns="46024" anchor="ctr"/>
          <a:lstStyle/>
          <a:p>
            <a:pPr algn="ctr" fontAlgn="auto">
              <a:spcBef>
                <a:spcPts val="0"/>
              </a:spcBef>
              <a:spcAft>
                <a:spcPts val="0"/>
              </a:spcAft>
              <a:buSzPct val="80000"/>
              <a:buFont typeface="Arial" panose="020B0604020202020204" pitchFamily="34" charset="0"/>
              <a:buNone/>
            </a:pPr>
            <a:r>
              <a:rPr lang="zh-CN" altLang="en-US" sz="1400" b="1" kern="0" dirty="0">
                <a:solidFill>
                  <a:srgbClr val="000000">
                    <a:lumMod val="75000"/>
                    <a:lumOff val="25000"/>
                  </a:srgbClr>
                </a:solidFill>
                <a:effectLst>
                  <a:glow rad="101600">
                    <a:prstClr val="white"/>
                  </a:glow>
                </a:effectLst>
                <a:latin typeface="Times New Roman"/>
                <a:ea typeface="微软雅黑" pitchFamily="34" charset="-122"/>
              </a:rPr>
              <a:t>研究方向</a:t>
            </a:r>
            <a:endParaRPr lang="en-US" altLang="zh-CN" sz="1400" b="1" kern="0" dirty="0">
              <a:solidFill>
                <a:srgbClr val="000000">
                  <a:lumMod val="75000"/>
                  <a:lumOff val="25000"/>
                </a:srgbClr>
              </a:solidFill>
              <a:effectLst>
                <a:glow rad="101600">
                  <a:prstClr val="white"/>
                </a:glow>
              </a:effectLst>
              <a:latin typeface="Times New Roman"/>
              <a:ea typeface="微软雅黑" pitchFamily="34" charset="-122"/>
            </a:endParaRPr>
          </a:p>
          <a:p>
            <a:pPr algn="ctr" fontAlgn="auto">
              <a:spcBef>
                <a:spcPts val="0"/>
              </a:spcBef>
              <a:spcAft>
                <a:spcPts val="0"/>
              </a:spcAft>
              <a:buSzPct val="80000"/>
              <a:buFont typeface="Arial" panose="020B0604020202020204" pitchFamily="34" charset="0"/>
              <a:buNone/>
            </a:pPr>
            <a:r>
              <a:rPr lang="zh-CN" altLang="en-US" sz="1400" kern="0" dirty="0">
                <a:solidFill>
                  <a:srgbClr val="000000">
                    <a:lumMod val="75000"/>
                    <a:lumOff val="25000"/>
                  </a:srgbClr>
                </a:solidFill>
                <a:effectLst>
                  <a:glow rad="101600">
                    <a:prstClr val="white"/>
                  </a:glow>
                </a:effectLst>
                <a:latin typeface="Times New Roman"/>
                <a:ea typeface="微软雅黑" pitchFamily="34" charset="-122"/>
              </a:rPr>
              <a:t>化合物半导体</a:t>
            </a:r>
            <a:endParaRPr lang="en-US" altLang="zh-CN" sz="1400" kern="0" dirty="0">
              <a:solidFill>
                <a:srgbClr val="000000">
                  <a:lumMod val="75000"/>
                  <a:lumOff val="25000"/>
                </a:srgbClr>
              </a:solidFill>
              <a:effectLst>
                <a:glow rad="101600">
                  <a:prstClr val="white"/>
                </a:glow>
              </a:effectLst>
              <a:latin typeface="Times New Roman"/>
              <a:ea typeface="微软雅黑" pitchFamily="34" charset="-122"/>
            </a:endParaRPr>
          </a:p>
          <a:p>
            <a:pPr algn="ctr" fontAlgn="auto">
              <a:spcBef>
                <a:spcPts val="0"/>
              </a:spcBef>
              <a:spcAft>
                <a:spcPts val="0"/>
              </a:spcAft>
              <a:buSzPct val="80000"/>
              <a:buFont typeface="Arial" panose="020B0604020202020204" pitchFamily="34" charset="0"/>
              <a:buNone/>
            </a:pPr>
            <a:r>
              <a:rPr lang="zh-CN" altLang="en-US" sz="1400" kern="0" dirty="0">
                <a:solidFill>
                  <a:srgbClr val="000000">
                    <a:lumMod val="75000"/>
                    <a:lumOff val="25000"/>
                  </a:srgbClr>
                </a:solidFill>
                <a:effectLst>
                  <a:glow rad="101600">
                    <a:prstClr val="white"/>
                  </a:glow>
                </a:effectLst>
                <a:latin typeface="Times New Roman"/>
                <a:ea typeface="微软雅黑" pitchFamily="34" charset="-122"/>
              </a:rPr>
              <a:t>光电材料</a:t>
            </a:r>
            <a:endParaRPr lang="en-US" altLang="zh-CN" sz="1400" kern="0" dirty="0">
              <a:solidFill>
                <a:srgbClr val="000000">
                  <a:lumMod val="75000"/>
                  <a:lumOff val="25000"/>
                </a:srgbClr>
              </a:solidFill>
              <a:effectLst>
                <a:glow rad="101600">
                  <a:prstClr val="white"/>
                </a:glow>
              </a:effectLst>
              <a:latin typeface="Times New Roman"/>
              <a:ea typeface="微软雅黑" pitchFamily="34" charset="-122"/>
            </a:endParaRPr>
          </a:p>
          <a:p>
            <a:pPr algn="ctr" fontAlgn="auto">
              <a:spcBef>
                <a:spcPts val="0"/>
              </a:spcBef>
              <a:spcAft>
                <a:spcPts val="0"/>
              </a:spcAft>
              <a:buSzPct val="80000"/>
              <a:buFont typeface="Arial" panose="020B0604020202020204" pitchFamily="34" charset="0"/>
              <a:buNone/>
            </a:pPr>
            <a:r>
              <a:rPr lang="zh-CN" altLang="en-US" sz="1400" kern="0" dirty="0">
                <a:solidFill>
                  <a:srgbClr val="000000">
                    <a:lumMod val="75000"/>
                    <a:lumOff val="25000"/>
                  </a:srgbClr>
                </a:solidFill>
                <a:effectLst>
                  <a:glow rad="101600">
                    <a:prstClr val="white"/>
                  </a:glow>
                </a:effectLst>
                <a:latin typeface="Times New Roman"/>
                <a:ea typeface="微软雅黑" pitchFamily="34" charset="-122"/>
              </a:rPr>
              <a:t>半导体激光器</a:t>
            </a:r>
            <a:endParaRPr lang="en-US" altLang="zh-CN" sz="1400" kern="0" dirty="0">
              <a:solidFill>
                <a:srgbClr val="000000">
                  <a:lumMod val="75000"/>
                  <a:lumOff val="25000"/>
                </a:srgbClr>
              </a:solidFill>
              <a:effectLst>
                <a:glow rad="101600">
                  <a:prstClr val="white"/>
                </a:glow>
              </a:effectLst>
              <a:latin typeface="Times New Roman"/>
              <a:ea typeface="微软雅黑" pitchFamily="34" charset="-122"/>
            </a:endParaRPr>
          </a:p>
          <a:p>
            <a:pPr algn="ctr" fontAlgn="auto">
              <a:spcBef>
                <a:spcPts val="0"/>
              </a:spcBef>
              <a:spcAft>
                <a:spcPts val="0"/>
              </a:spcAft>
              <a:buSzPct val="80000"/>
              <a:buFont typeface="Arial" panose="020B0604020202020204" pitchFamily="34" charset="0"/>
              <a:buNone/>
            </a:pPr>
            <a:r>
              <a:rPr lang="zh-CN" altLang="en-US" sz="1400" kern="0" dirty="0">
                <a:solidFill>
                  <a:srgbClr val="000000">
                    <a:lumMod val="75000"/>
                    <a:lumOff val="25000"/>
                  </a:srgbClr>
                </a:solidFill>
                <a:effectLst>
                  <a:glow rad="101600">
                    <a:prstClr val="white"/>
                  </a:glow>
                </a:effectLst>
                <a:latin typeface="Times New Roman"/>
                <a:ea typeface="微软雅黑" pitchFamily="34" charset="-122"/>
              </a:rPr>
              <a:t>红外探测器</a:t>
            </a:r>
            <a:endParaRPr lang="en-US" altLang="zh-CN" sz="1400" kern="0" dirty="0">
              <a:solidFill>
                <a:srgbClr val="000000">
                  <a:lumMod val="75000"/>
                  <a:lumOff val="25000"/>
                </a:srgbClr>
              </a:solidFill>
              <a:effectLst>
                <a:glow rad="101600">
                  <a:prstClr val="white"/>
                </a:glow>
              </a:effectLst>
              <a:latin typeface="Times New Roman"/>
              <a:ea typeface="微软雅黑" pitchFamily="34" charset="-122"/>
            </a:endParaRPr>
          </a:p>
        </p:txBody>
      </p:sp>
      <p:sp>
        <p:nvSpPr>
          <p:cNvPr id="2" name="文本框 1">
            <a:extLst>
              <a:ext uri="{FF2B5EF4-FFF2-40B4-BE49-F238E27FC236}">
                <a16:creationId xmlns:a16="http://schemas.microsoft.com/office/drawing/2014/main" id="{46C12B5A-84D1-2147-FA0D-FCAB83332FA1}"/>
              </a:ext>
            </a:extLst>
          </p:cNvPr>
          <p:cNvSpPr txBox="1"/>
          <p:nvPr/>
        </p:nvSpPr>
        <p:spPr>
          <a:xfrm>
            <a:off x="617218" y="5301208"/>
            <a:ext cx="992579" cy="738664"/>
          </a:xfrm>
          <a:prstGeom prst="rect">
            <a:avLst/>
          </a:prstGeom>
          <a:noFill/>
        </p:spPr>
        <p:txBody>
          <a:bodyPr wrap="none" rtlCol="0">
            <a:spAutoFit/>
          </a:bodyPr>
          <a:lstStyle/>
          <a:p>
            <a:pPr algn="ctr"/>
            <a:r>
              <a:rPr lang="zh-CN" altLang="en-US" sz="1400" b="1" kern="0" dirty="0">
                <a:solidFill>
                  <a:srgbClr val="000000">
                    <a:lumMod val="75000"/>
                    <a:lumOff val="25000"/>
                  </a:srgbClr>
                </a:solidFill>
                <a:effectLst>
                  <a:glow rad="101600">
                    <a:prstClr val="white"/>
                  </a:glow>
                </a:effectLst>
                <a:latin typeface="Times New Roman"/>
                <a:ea typeface="微软雅黑" pitchFamily="34" charset="-122"/>
              </a:rPr>
              <a:t>办公室</a:t>
            </a:r>
            <a:endParaRPr lang="en-US" altLang="zh-CN" sz="1400" b="1" kern="0" dirty="0">
              <a:solidFill>
                <a:srgbClr val="000000">
                  <a:lumMod val="75000"/>
                  <a:lumOff val="25000"/>
                </a:srgbClr>
              </a:solidFill>
              <a:effectLst>
                <a:glow rad="101600">
                  <a:prstClr val="white"/>
                </a:glow>
              </a:effectLst>
              <a:latin typeface="Times New Roman"/>
              <a:ea typeface="微软雅黑" pitchFamily="34" charset="-122"/>
            </a:endParaRPr>
          </a:p>
          <a:p>
            <a:pPr algn="ctr"/>
            <a:r>
              <a:rPr lang="en-US" altLang="zh-CN" sz="1400" kern="0" dirty="0">
                <a:solidFill>
                  <a:srgbClr val="000000">
                    <a:lumMod val="75000"/>
                    <a:lumOff val="25000"/>
                  </a:srgbClr>
                </a:solidFill>
                <a:effectLst>
                  <a:glow rad="101600">
                    <a:prstClr val="white"/>
                  </a:glow>
                </a:effectLst>
                <a:latin typeface="Times New Roman"/>
                <a:ea typeface="微软雅黑" pitchFamily="34" charset="-122"/>
              </a:rPr>
              <a:t>6</a:t>
            </a:r>
            <a:r>
              <a:rPr lang="zh-CN" altLang="en-US" sz="1400" kern="0" dirty="0">
                <a:solidFill>
                  <a:srgbClr val="000000">
                    <a:lumMod val="75000"/>
                    <a:lumOff val="25000"/>
                  </a:srgbClr>
                </a:solidFill>
                <a:effectLst>
                  <a:glow rad="101600">
                    <a:prstClr val="white"/>
                  </a:glow>
                </a:effectLst>
                <a:latin typeface="Times New Roman"/>
                <a:ea typeface="微软雅黑" pitchFamily="34" charset="-122"/>
              </a:rPr>
              <a:t>号科研楼</a:t>
            </a:r>
            <a:endParaRPr lang="en-US" altLang="zh-CN" sz="1400" kern="0" dirty="0">
              <a:solidFill>
                <a:srgbClr val="000000">
                  <a:lumMod val="75000"/>
                  <a:lumOff val="25000"/>
                </a:srgbClr>
              </a:solidFill>
              <a:effectLst>
                <a:glow rad="101600">
                  <a:prstClr val="white"/>
                </a:glow>
              </a:effectLst>
              <a:latin typeface="Times New Roman"/>
              <a:ea typeface="微软雅黑" pitchFamily="34" charset="-122"/>
            </a:endParaRPr>
          </a:p>
          <a:p>
            <a:pPr algn="ctr"/>
            <a:r>
              <a:rPr lang="en-US" altLang="zh-CN" sz="1400" kern="0" dirty="0">
                <a:solidFill>
                  <a:srgbClr val="000000">
                    <a:lumMod val="75000"/>
                    <a:lumOff val="25000"/>
                  </a:srgbClr>
                </a:solidFill>
                <a:effectLst>
                  <a:glow rad="101600">
                    <a:prstClr val="white"/>
                  </a:glow>
                </a:effectLst>
                <a:latin typeface="Times New Roman"/>
                <a:ea typeface="微软雅黑" pitchFamily="34" charset="-122"/>
              </a:rPr>
              <a:t>B225</a:t>
            </a:r>
            <a:endParaRPr lang="zh-CN" altLang="en-US" sz="1400" kern="0" dirty="0">
              <a:solidFill>
                <a:srgbClr val="000000">
                  <a:lumMod val="75000"/>
                  <a:lumOff val="25000"/>
                </a:srgbClr>
              </a:solidFill>
              <a:effectLst>
                <a:glow rad="101600">
                  <a:prstClr val="white"/>
                </a:glow>
              </a:effectLst>
              <a:latin typeface="Times New Roman"/>
              <a:ea typeface="微软雅黑" pitchFamily="34" charset="-122"/>
            </a:endParaRPr>
          </a:p>
        </p:txBody>
      </p:sp>
      <p:sp>
        <p:nvSpPr>
          <p:cNvPr id="4" name="文本框 3">
            <a:extLst>
              <a:ext uri="{FF2B5EF4-FFF2-40B4-BE49-F238E27FC236}">
                <a16:creationId xmlns:a16="http://schemas.microsoft.com/office/drawing/2014/main" id="{8A00AF17-95E9-FC62-F7BD-85FE3FDFB6BE}"/>
              </a:ext>
            </a:extLst>
          </p:cNvPr>
          <p:cNvSpPr txBox="1"/>
          <p:nvPr/>
        </p:nvSpPr>
        <p:spPr>
          <a:xfrm>
            <a:off x="2213191" y="326999"/>
            <a:ext cx="6624736" cy="6355586"/>
          </a:xfrm>
          <a:prstGeom prst="rect">
            <a:avLst/>
          </a:prstGeom>
          <a:noFill/>
        </p:spPr>
        <p:txBody>
          <a:bodyPr wrap="square">
            <a:spAutoFit/>
          </a:bodyPr>
          <a:lstStyle/>
          <a:p>
            <a:r>
              <a:rPr lang="zh-CN" altLang="en-US" sz="1300" b="1" dirty="0"/>
              <a:t>学术经历</a:t>
            </a:r>
            <a:r>
              <a:rPr lang="en-US" altLang="zh-CN" sz="1300" b="1" dirty="0"/>
              <a:t>:</a:t>
            </a:r>
          </a:p>
          <a:p>
            <a:r>
              <a:rPr lang="en-US" altLang="zh-CN" sz="1300" dirty="0"/>
              <a:t>2025-</a:t>
            </a:r>
            <a:r>
              <a:rPr lang="zh-CN" altLang="en-US" sz="1300" dirty="0"/>
              <a:t>至今</a:t>
            </a:r>
            <a:r>
              <a:rPr lang="en-US" altLang="zh-CN" sz="1300" dirty="0"/>
              <a:t>:</a:t>
            </a:r>
            <a:r>
              <a:rPr lang="zh-CN" altLang="en-US" sz="1300" dirty="0"/>
              <a:t>电子科技大学，基础与前沿研究院党委书记，教授、博导</a:t>
            </a:r>
            <a:endParaRPr lang="en-US" altLang="zh-CN" sz="1300" dirty="0"/>
          </a:p>
          <a:p>
            <a:r>
              <a:rPr lang="en-US" altLang="zh-CN" sz="1300" dirty="0"/>
              <a:t>2023-</a:t>
            </a:r>
            <a:r>
              <a:rPr lang="zh-CN" altLang="en-US" sz="1300" dirty="0"/>
              <a:t>至今</a:t>
            </a:r>
            <a:r>
              <a:rPr lang="en-US" altLang="zh-CN" sz="1300" dirty="0"/>
              <a:t>:</a:t>
            </a:r>
            <a:r>
              <a:rPr lang="zh-CN" altLang="en-US" sz="1300" dirty="0"/>
              <a:t>电子科技大学，基础与前沿研究院副院长，教授、博导</a:t>
            </a:r>
          </a:p>
          <a:p>
            <a:r>
              <a:rPr lang="en-US" altLang="zh-CN" sz="1300" dirty="0"/>
              <a:t>2018-</a:t>
            </a:r>
            <a:r>
              <a:rPr lang="zh-CN" altLang="en-US" sz="1300" dirty="0"/>
              <a:t>至今</a:t>
            </a:r>
            <a:r>
              <a:rPr lang="en-US" altLang="zh-CN" sz="1300" dirty="0"/>
              <a:t>:</a:t>
            </a:r>
            <a:r>
              <a:rPr lang="zh-CN" altLang="en-US" sz="1300" dirty="0"/>
              <a:t>电子科技大学，教授、博导</a:t>
            </a:r>
          </a:p>
          <a:p>
            <a:r>
              <a:rPr lang="en-US" altLang="zh-CN" sz="1300" dirty="0"/>
              <a:t>2015-2018:</a:t>
            </a:r>
            <a:r>
              <a:rPr lang="zh-CN" altLang="en-US" sz="1300" dirty="0"/>
              <a:t>英国伦敦大学学院</a:t>
            </a:r>
            <a:r>
              <a:rPr lang="en-US" altLang="zh-CN" sz="1300" dirty="0"/>
              <a:t>UCL</a:t>
            </a:r>
            <a:r>
              <a:rPr lang="zh-CN" altLang="en-US" sz="1300" dirty="0"/>
              <a:t>，讲师</a:t>
            </a:r>
            <a:r>
              <a:rPr lang="en-US" altLang="zh-CN" sz="1300" dirty="0"/>
              <a:t>(</a:t>
            </a:r>
            <a:r>
              <a:rPr lang="zh-CN" altLang="en-US" sz="1300" dirty="0"/>
              <a:t>终身教职</a:t>
            </a:r>
            <a:r>
              <a:rPr lang="en-US" altLang="zh-CN" sz="1300" dirty="0"/>
              <a:t>)</a:t>
            </a:r>
            <a:r>
              <a:rPr lang="zh-CN" altLang="en-US" sz="1300" dirty="0"/>
              <a:t>、博导</a:t>
            </a:r>
          </a:p>
          <a:p>
            <a:r>
              <a:rPr lang="en-US" altLang="zh-CN" sz="1300" dirty="0"/>
              <a:t>2012-2015:</a:t>
            </a:r>
            <a:r>
              <a:rPr lang="zh-CN" altLang="en-US" sz="1300" dirty="0"/>
              <a:t>英国伦敦大学学院</a:t>
            </a:r>
            <a:r>
              <a:rPr lang="en-US" altLang="zh-CN" sz="1300" dirty="0"/>
              <a:t>UCL</a:t>
            </a:r>
            <a:r>
              <a:rPr lang="zh-CN" altLang="en-US" sz="1300" dirty="0"/>
              <a:t>，博士后研究员</a:t>
            </a:r>
          </a:p>
          <a:p>
            <a:r>
              <a:rPr lang="en-US" altLang="zh-CN" sz="1300" dirty="0"/>
              <a:t>2013-2015:</a:t>
            </a:r>
            <a:r>
              <a:rPr lang="zh-CN" altLang="en-US" sz="1300" dirty="0"/>
              <a:t>电子科技大学，校百人特聘研究员、四川省特聘专家</a:t>
            </a:r>
          </a:p>
          <a:p>
            <a:r>
              <a:rPr lang="en-US" altLang="zh-CN" sz="1300" dirty="0"/>
              <a:t>2011-2012:</a:t>
            </a:r>
            <a:r>
              <a:rPr lang="zh-CN" altLang="en-US" sz="1300" dirty="0"/>
              <a:t>电子科技大学，副教授</a:t>
            </a:r>
          </a:p>
          <a:p>
            <a:pPr>
              <a:spcAft>
                <a:spcPts val="600"/>
              </a:spcAft>
            </a:pPr>
            <a:r>
              <a:rPr lang="en-US" altLang="zh-CN" sz="1300" dirty="0"/>
              <a:t>2006-2011:</a:t>
            </a:r>
            <a:r>
              <a:rPr lang="zh-CN" altLang="en-US" sz="1300" dirty="0"/>
              <a:t>美国阿肯色大学，研究助理</a:t>
            </a:r>
          </a:p>
          <a:p>
            <a:pPr>
              <a:spcAft>
                <a:spcPts val="600"/>
              </a:spcAft>
            </a:pPr>
            <a:r>
              <a:rPr lang="zh-CN" altLang="en-US" sz="1300" b="1" dirty="0"/>
              <a:t>个人简介</a:t>
            </a:r>
            <a:r>
              <a:rPr lang="en-US" altLang="zh-CN" sz="1300" b="1" dirty="0"/>
              <a:t>:</a:t>
            </a:r>
          </a:p>
          <a:p>
            <a:pPr>
              <a:spcAft>
                <a:spcPts val="600"/>
              </a:spcAft>
            </a:pPr>
            <a:r>
              <a:rPr lang="zh-CN" altLang="en-US" sz="1300" dirty="0"/>
              <a:t>巫江教授现为先进光电子四川省青年科技创新研究团队负责人、国家自然科学基金青年基金（</a:t>
            </a:r>
            <a:r>
              <a:rPr lang="en-US" altLang="zh-CN" sz="1300" dirty="0"/>
              <a:t>A</a:t>
            </a:r>
            <a:r>
              <a:rPr lang="zh-CN" altLang="en-US" sz="1300" dirty="0"/>
              <a:t>类）获得者，国家海外高层次人才（青年项目）、中国光学工程学会理事、英国工程技术学会会士</a:t>
            </a:r>
            <a:r>
              <a:rPr lang="en-US" altLang="zh-CN" sz="1300" dirty="0"/>
              <a:t>(IET Fellow)</a:t>
            </a:r>
            <a:r>
              <a:rPr lang="zh-CN" altLang="en-US" sz="1300" dirty="0"/>
              <a:t>、英国高等教育学会会士</a:t>
            </a:r>
            <a:r>
              <a:rPr lang="en-US" altLang="zh-CN" sz="1300" dirty="0"/>
              <a:t>(FHEA)</a:t>
            </a:r>
            <a:r>
              <a:rPr lang="zh-CN" altLang="en-US" sz="1300" dirty="0"/>
              <a:t>、意大利教育大学与科研部</a:t>
            </a:r>
            <a:r>
              <a:rPr lang="en-US" altLang="zh-CN" sz="1300" dirty="0"/>
              <a:t>(MIUR)</a:t>
            </a:r>
            <a:r>
              <a:rPr lang="zh-CN" altLang="en-US" sz="1300" dirty="0"/>
              <a:t>注册专家</a:t>
            </a:r>
            <a:r>
              <a:rPr lang="en-US" altLang="zh-CN" sz="1300" dirty="0"/>
              <a:t>(</a:t>
            </a:r>
            <a:r>
              <a:rPr lang="zh-CN" altLang="en-US" sz="1300" dirty="0"/>
              <a:t>应用研究类</a:t>
            </a:r>
            <a:r>
              <a:rPr lang="en-US" altLang="zh-CN" sz="1300" dirty="0"/>
              <a:t>)</a:t>
            </a:r>
            <a:r>
              <a:rPr lang="zh-CN" altLang="en-US" sz="1300" dirty="0"/>
              <a:t>、四川省特聘专家、四川省学术与技术带头人、成都市特聘专家、</a:t>
            </a:r>
            <a:r>
              <a:rPr lang="en-US" altLang="zh-CN" sz="1300" dirty="0"/>
              <a:t>IEEE</a:t>
            </a:r>
            <a:r>
              <a:rPr lang="zh-CN" altLang="en-US" sz="1300" dirty="0"/>
              <a:t>高级会员、伦敦大学学院</a:t>
            </a:r>
            <a:r>
              <a:rPr lang="en-US" altLang="zh-CN" sz="1300" dirty="0"/>
              <a:t>Arena Fellow</a:t>
            </a:r>
            <a:r>
              <a:rPr lang="zh-CN" altLang="en-US" sz="1300" dirty="0"/>
              <a:t>，入选爱思唯尔中国高被引学者。曾任伦敦大学学院助理教授、博士生导师、英国未来化合物半导体制造研究中心</a:t>
            </a:r>
            <a:r>
              <a:rPr lang="en-US" altLang="zh-CN" sz="1300" dirty="0"/>
              <a:t>Key Principal Investigator.</a:t>
            </a:r>
          </a:p>
          <a:p>
            <a:pPr>
              <a:spcAft>
                <a:spcPts val="600"/>
              </a:spcAft>
            </a:pPr>
            <a:r>
              <a:rPr lang="zh-CN" altLang="en-US" sz="1300" dirty="0"/>
              <a:t>团队长期致力于半导体光电材料与器件的研究，特别是在基于化合物半导体异质结的半导体激光器、光电探测器、传感器等研究方向开展了一系列的研究，以通信作者</a:t>
            </a:r>
            <a:r>
              <a:rPr lang="en-US" altLang="zh-CN" sz="1300" dirty="0"/>
              <a:t>/</a:t>
            </a:r>
            <a:r>
              <a:rPr lang="zh-CN" altLang="en-US" sz="1300" dirty="0"/>
              <a:t>第一作者在</a:t>
            </a:r>
            <a:r>
              <a:rPr lang="en-US" altLang="zh-CN" sz="1300" dirty="0"/>
              <a:t>Nature Photonics</a:t>
            </a:r>
            <a:r>
              <a:rPr lang="zh-CN" altLang="en-US" sz="1300" dirty="0"/>
              <a:t>、</a:t>
            </a:r>
            <a:r>
              <a:rPr lang="en-US" altLang="zh-CN" sz="1300" dirty="0"/>
              <a:t>Nature </a:t>
            </a:r>
            <a:r>
              <a:rPr lang="en-US" altLang="zh-CN" sz="1300" dirty="0" err="1"/>
              <a:t>Elecfronics</a:t>
            </a:r>
            <a:r>
              <a:rPr lang="zh-CN" altLang="en-US" sz="1300" dirty="0"/>
              <a:t>、</a:t>
            </a:r>
            <a:r>
              <a:rPr lang="en-US" altLang="zh-CN" sz="1300" dirty="0"/>
              <a:t>Light: Science </a:t>
            </a:r>
            <a:r>
              <a:rPr lang="en-US" altLang="zh-CN" sz="1300" dirty="0" err="1"/>
              <a:t>andApplications</a:t>
            </a:r>
            <a:r>
              <a:rPr lang="zh-CN" altLang="en-US" sz="1300" dirty="0"/>
              <a:t>、</a:t>
            </a:r>
            <a:r>
              <a:rPr lang="en-US" altLang="zh-CN" sz="1300" dirty="0"/>
              <a:t>Advanced Materials</a:t>
            </a:r>
            <a:r>
              <a:rPr lang="zh-CN" altLang="en-US" sz="1300" dirty="0"/>
              <a:t>等国际著名高水平期刊上发表</a:t>
            </a:r>
            <a:r>
              <a:rPr lang="en-US" altLang="zh-CN" sz="1300" dirty="0"/>
              <a:t>SCI </a:t>
            </a:r>
            <a:r>
              <a:rPr lang="zh-CN" altLang="en-US" sz="1300" dirty="0"/>
              <a:t>论文</a:t>
            </a:r>
            <a:r>
              <a:rPr lang="en-US" altLang="zh-CN" sz="1300" dirty="0"/>
              <a:t>100</a:t>
            </a:r>
            <a:r>
              <a:rPr lang="zh-CN" altLang="en-US" sz="1300" dirty="0"/>
              <a:t>余篇，引用</a:t>
            </a:r>
            <a:r>
              <a:rPr lang="en-US" altLang="zh-CN" sz="1300" dirty="0"/>
              <a:t>16000 </a:t>
            </a:r>
            <a:r>
              <a:rPr lang="zh-CN" altLang="en-US" sz="1300" dirty="0"/>
              <a:t>余次，连续入选爱思唯尔中国高被引学者，申请专利</a:t>
            </a:r>
            <a:r>
              <a:rPr lang="en-US" altLang="zh-CN" sz="1300" dirty="0"/>
              <a:t>40</a:t>
            </a:r>
            <a:r>
              <a:rPr lang="zh-CN" altLang="en-US" sz="1300" dirty="0"/>
              <a:t>余项，其中</a:t>
            </a:r>
            <a:r>
              <a:rPr lang="en-US" altLang="zh-CN" sz="1300" dirty="0"/>
              <a:t>2</a:t>
            </a:r>
            <a:r>
              <a:rPr lang="zh-CN" altLang="en-US" sz="1300" dirty="0"/>
              <a:t>项为英国专利，编著出版英文学术图书</a:t>
            </a:r>
            <a:r>
              <a:rPr lang="en-US" altLang="zh-CN" sz="1300" dirty="0"/>
              <a:t>5</a:t>
            </a:r>
            <a:r>
              <a:rPr lang="zh-CN" altLang="en-US" sz="1300" dirty="0"/>
              <a:t>部。在相关方向作为项目负责人</a:t>
            </a:r>
            <a:r>
              <a:rPr lang="en-US" altLang="zh-CN" sz="1300" dirty="0"/>
              <a:t>(PI)</a:t>
            </a:r>
            <a:r>
              <a:rPr lang="zh-CN" altLang="en-US" sz="1300" dirty="0"/>
              <a:t>和共同负责人</a:t>
            </a:r>
            <a:r>
              <a:rPr lang="en-US" altLang="zh-CN" sz="1300" dirty="0"/>
              <a:t>(Co-I)</a:t>
            </a:r>
            <a:r>
              <a:rPr lang="zh-CN" altLang="en-US" sz="1300" dirty="0"/>
              <a:t>承担国家重点研发计划、国家自然基金、</a:t>
            </a:r>
            <a:r>
              <a:rPr lang="en-US" altLang="zh-CN" sz="1300" dirty="0"/>
              <a:t>KW</a:t>
            </a:r>
            <a:r>
              <a:rPr lang="zh-CN" altLang="en-US" sz="1300" dirty="0"/>
              <a:t>以及英国工程与自然科学研究委员会、美国陆军研究实验室等项目</a:t>
            </a:r>
            <a:r>
              <a:rPr lang="en-US" altLang="zh-CN" sz="1300" dirty="0"/>
              <a:t>20</a:t>
            </a:r>
            <a:r>
              <a:rPr lang="zh-CN" altLang="en-US" sz="1300" dirty="0"/>
              <a:t>余项。</a:t>
            </a:r>
          </a:p>
          <a:p>
            <a:pPr>
              <a:spcAft>
                <a:spcPts val="600"/>
              </a:spcAft>
            </a:pPr>
            <a:r>
              <a:rPr lang="zh-CN" altLang="en-US" sz="1300" dirty="0"/>
              <a:t>担任国家自然科学基金委、教育部</a:t>
            </a:r>
            <a:r>
              <a:rPr lang="en-US" altLang="zh-CN" sz="1300" dirty="0"/>
              <a:t>C</a:t>
            </a:r>
            <a:r>
              <a:rPr lang="zh-CN" altLang="en-US" sz="1300" dirty="0"/>
              <a:t>」、欧洲研究理事会</a:t>
            </a:r>
            <a:r>
              <a:rPr lang="en-US" altLang="zh-CN" sz="1300" dirty="0"/>
              <a:t>ERC</a:t>
            </a:r>
            <a:r>
              <a:rPr lang="zh-CN" altLang="en-US" sz="1300" dirty="0"/>
              <a:t>巩固基金</a:t>
            </a:r>
            <a:r>
              <a:rPr lang="en-US" altLang="zh-CN" sz="1300" dirty="0"/>
              <a:t>(</a:t>
            </a:r>
            <a:r>
              <a:rPr lang="en-US" altLang="zh-CN" sz="1300" dirty="0" err="1"/>
              <a:t>ConsolidatorGrani</a:t>
            </a:r>
            <a:r>
              <a:rPr lang="en-US" altLang="zh-CN" sz="1300" dirty="0"/>
              <a:t>)</a:t>
            </a:r>
            <a:r>
              <a:rPr lang="zh-CN" altLang="en-US" sz="1300" dirty="0"/>
              <a:t>、英国研究与创新未来领导者计划</a:t>
            </a:r>
            <a:r>
              <a:rPr lang="en-US" altLang="zh-CN" sz="1300" dirty="0"/>
              <a:t>(UKRI </a:t>
            </a:r>
            <a:r>
              <a:rPr lang="en-US" altLang="zh-CN" sz="1300" dirty="0" err="1"/>
              <a:t>Fufure</a:t>
            </a:r>
            <a:r>
              <a:rPr lang="en-US" altLang="zh-CN" sz="1300" dirty="0"/>
              <a:t> Leaders Fellowship)</a:t>
            </a:r>
            <a:r>
              <a:rPr lang="zh-CN" altLang="en-US" sz="1300" dirty="0"/>
              <a:t>、英国科学和技术设施委员会</a:t>
            </a:r>
            <a:r>
              <a:rPr lang="en-US" altLang="zh-CN" sz="1300" dirty="0"/>
              <a:t>(STFC)</a:t>
            </a:r>
            <a:r>
              <a:rPr lang="zh-CN" altLang="en-US" sz="1300" dirty="0"/>
              <a:t>、英国工程与自然科学研究委员会</a:t>
            </a:r>
            <a:r>
              <a:rPr lang="en-US" altLang="zh-CN" sz="1300" dirty="0"/>
              <a:t>(EPSRC)</a:t>
            </a:r>
            <a:r>
              <a:rPr lang="zh-CN" altLang="en-US" sz="1300" dirty="0"/>
              <a:t>等项目评审专家。</a:t>
            </a:r>
          </a:p>
          <a:p>
            <a:pPr>
              <a:spcAft>
                <a:spcPts val="600"/>
              </a:spcAft>
            </a:pPr>
            <a:r>
              <a:rPr lang="zh-CN" altLang="en-US" sz="1300" dirty="0"/>
              <a:t>目前兼任多个学术期刊编委成员，包括</a:t>
            </a:r>
            <a:r>
              <a:rPr lang="en-US" altLang="zh-CN" sz="1300" dirty="0"/>
              <a:t>:</a:t>
            </a:r>
          </a:p>
          <a:p>
            <a:pPr>
              <a:spcAft>
                <a:spcPts val="600"/>
              </a:spcAft>
            </a:pPr>
            <a:r>
              <a:rPr lang="en-US" altLang="zh-CN" sz="1300" dirty="0"/>
              <a:t>Discover Nano (Nanoscale Res. Lett.)</a:t>
            </a:r>
            <a:r>
              <a:rPr lang="zh-CN" altLang="en-US" sz="1300" dirty="0"/>
              <a:t>主编等</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选课学生分布</a:t>
            </a:r>
          </a:p>
        </p:txBody>
      </p:sp>
      <p:sp>
        <p:nvSpPr>
          <p:cNvPr id="3" name="内容占位符 2"/>
          <p:cNvSpPr>
            <a:spLocks noGrp="1"/>
          </p:cNvSpPr>
          <p:nvPr>
            <p:ph idx="1"/>
          </p:nvPr>
        </p:nvSpPr>
        <p:spPr/>
        <p:txBody>
          <a:bodyPr>
            <a:normAutofit lnSpcReduction="10000"/>
          </a:bodyPr>
          <a:lstStyle/>
          <a:p>
            <a:pPr>
              <a:spcAft>
                <a:spcPts val="0"/>
              </a:spcAft>
            </a:pPr>
            <a:r>
              <a:rPr lang="zh-CN" altLang="en-US" dirty="0"/>
              <a:t>年级分布</a:t>
            </a:r>
          </a:p>
          <a:p>
            <a:pPr lvl="1"/>
            <a:r>
              <a:rPr lang="en-US" altLang="zh-CN" dirty="0"/>
              <a:t>2025</a:t>
            </a:r>
            <a:r>
              <a:rPr lang="zh-CN" altLang="en-US" dirty="0"/>
              <a:t>级：</a:t>
            </a:r>
            <a:r>
              <a:rPr lang="en-US" altLang="zh-CN" dirty="0"/>
              <a:t>6</a:t>
            </a:r>
            <a:r>
              <a:rPr lang="zh-CN" altLang="en-US" dirty="0"/>
              <a:t>名同学</a:t>
            </a:r>
            <a:endParaRPr lang="en-US" altLang="zh-CN" dirty="0"/>
          </a:p>
          <a:p>
            <a:pPr lvl="1"/>
            <a:r>
              <a:rPr lang="en-US" altLang="zh-CN" dirty="0"/>
              <a:t>2024</a:t>
            </a:r>
            <a:r>
              <a:rPr lang="zh-CN" altLang="en-US" dirty="0"/>
              <a:t>级：</a:t>
            </a:r>
            <a:r>
              <a:rPr lang="en-US" altLang="zh-CN" dirty="0"/>
              <a:t>34</a:t>
            </a:r>
            <a:r>
              <a:rPr lang="zh-CN" altLang="en-US" dirty="0"/>
              <a:t>名同学</a:t>
            </a:r>
          </a:p>
          <a:p>
            <a:pPr lvl="0"/>
            <a:endParaRPr lang="en-US" altLang="zh-CN" dirty="0"/>
          </a:p>
          <a:p>
            <a:pPr lvl="0"/>
            <a:r>
              <a:rPr lang="zh-CN" altLang="en-US" dirty="0"/>
              <a:t>院系分布</a:t>
            </a:r>
          </a:p>
          <a:p>
            <a:pPr lvl="1"/>
            <a:r>
              <a:rPr lang="zh-CN" altLang="en-US" dirty="0"/>
              <a:t>电子科学与工程学院</a:t>
            </a:r>
            <a:r>
              <a:rPr lang="zh-CN" dirty="0"/>
              <a:t>：</a:t>
            </a:r>
            <a:r>
              <a:rPr lang="en-US" altLang="zh-CN" dirty="0"/>
              <a:t>4</a:t>
            </a:r>
            <a:r>
              <a:rPr lang="zh-CN" altLang="en-US" dirty="0"/>
              <a:t>人</a:t>
            </a:r>
          </a:p>
          <a:p>
            <a:pPr lvl="1" algn="l">
              <a:buClrTx/>
              <a:buSzTx/>
            </a:pPr>
            <a:r>
              <a:rPr lang="zh-CN" altLang="en-US" dirty="0">
                <a:sym typeface="+mn-ea"/>
              </a:rPr>
              <a:t>生命科学与技术学院：</a:t>
            </a:r>
            <a:r>
              <a:rPr lang="en-US" altLang="zh-CN" dirty="0">
                <a:sym typeface="+mn-ea"/>
              </a:rPr>
              <a:t>6</a:t>
            </a:r>
            <a:r>
              <a:rPr lang="zh-CN" altLang="en-US" dirty="0">
                <a:sym typeface="+mn-ea"/>
              </a:rPr>
              <a:t>人</a:t>
            </a:r>
            <a:endParaRPr lang="en-US" altLang="zh-CN" dirty="0">
              <a:sym typeface="+mn-ea"/>
            </a:endParaRPr>
          </a:p>
          <a:p>
            <a:pPr lvl="1" algn="l">
              <a:buClrTx/>
              <a:buSzTx/>
            </a:pPr>
            <a:r>
              <a:rPr lang="zh-CN" altLang="en-US" dirty="0">
                <a:sym typeface="+mn-ea"/>
              </a:rPr>
              <a:t>光电科学与工程学院：</a:t>
            </a:r>
            <a:r>
              <a:rPr lang="en-US" altLang="zh-CN" dirty="0">
                <a:sym typeface="+mn-ea"/>
              </a:rPr>
              <a:t>1</a:t>
            </a:r>
            <a:r>
              <a:rPr lang="zh-CN" altLang="en-US" dirty="0">
                <a:sym typeface="+mn-ea"/>
              </a:rPr>
              <a:t>人</a:t>
            </a:r>
            <a:endParaRPr lang="en-US" altLang="zh-CN" dirty="0">
              <a:sym typeface="+mn-ea"/>
            </a:endParaRPr>
          </a:p>
          <a:p>
            <a:pPr lvl="1" algn="l">
              <a:buClrTx/>
              <a:buSzTx/>
            </a:pPr>
            <a:r>
              <a:rPr lang="zh-CN" altLang="en-US" dirty="0">
                <a:sym typeface="+mn-ea"/>
              </a:rPr>
              <a:t>计算机科学与工程学院（网络空间安全学院）：</a:t>
            </a:r>
            <a:r>
              <a:rPr lang="en-US" altLang="zh-CN" dirty="0">
                <a:sym typeface="+mn-ea"/>
              </a:rPr>
              <a:t>4</a:t>
            </a:r>
            <a:r>
              <a:rPr lang="zh-CN" altLang="en-US" dirty="0">
                <a:sym typeface="+mn-ea"/>
              </a:rPr>
              <a:t>人</a:t>
            </a:r>
            <a:endParaRPr lang="en-US" altLang="zh-CN" dirty="0">
              <a:sym typeface="+mn-ea"/>
            </a:endParaRPr>
          </a:p>
          <a:p>
            <a:pPr lvl="1" algn="l">
              <a:buClrTx/>
              <a:buSzTx/>
            </a:pPr>
            <a:r>
              <a:rPr lang="zh-CN" altLang="en-US" dirty="0">
                <a:sym typeface="+mn-ea"/>
              </a:rPr>
              <a:t>自动化工程学院：</a:t>
            </a:r>
            <a:r>
              <a:rPr lang="en-US" altLang="zh-CN" dirty="0">
                <a:sym typeface="+mn-ea"/>
              </a:rPr>
              <a:t>2</a:t>
            </a:r>
            <a:r>
              <a:rPr lang="zh-CN" altLang="en-US" dirty="0">
                <a:sym typeface="+mn-ea"/>
              </a:rPr>
              <a:t>人</a:t>
            </a:r>
            <a:endParaRPr lang="en-US" altLang="zh-CN" dirty="0">
              <a:sym typeface="+mn-ea"/>
            </a:endParaRPr>
          </a:p>
          <a:p>
            <a:pPr lvl="1"/>
            <a:r>
              <a:rPr lang="zh-CN" altLang="zh-CN" dirty="0"/>
              <a:t>物理学院</a:t>
            </a:r>
            <a:r>
              <a:rPr lang="zh-CN" altLang="en-US" dirty="0"/>
              <a:t>：</a:t>
            </a:r>
            <a:r>
              <a:rPr lang="en-US" altLang="zh-CN" dirty="0"/>
              <a:t>5</a:t>
            </a:r>
            <a:r>
              <a:rPr lang="zh-CN" altLang="en-US" dirty="0"/>
              <a:t>人</a:t>
            </a:r>
            <a:endParaRPr lang="en-US" altLang="zh-CN" dirty="0"/>
          </a:p>
          <a:p>
            <a:pPr lvl="1"/>
            <a:r>
              <a:rPr lang="zh-CN" altLang="zh-CN" dirty="0"/>
              <a:t>材料与能源学院</a:t>
            </a:r>
            <a:r>
              <a:rPr lang="zh-CN" altLang="en-US" dirty="0"/>
              <a:t>：</a:t>
            </a:r>
            <a:r>
              <a:rPr lang="en-US" altLang="zh-CN" dirty="0"/>
              <a:t>1</a:t>
            </a:r>
            <a:r>
              <a:rPr lang="zh-CN" altLang="en-US" dirty="0"/>
              <a:t>人</a:t>
            </a:r>
            <a:endParaRPr lang="en-US" altLang="zh-CN" dirty="0"/>
          </a:p>
          <a:p>
            <a:pPr lvl="1"/>
            <a:r>
              <a:rPr lang="zh-CN" altLang="zh-CN" dirty="0"/>
              <a:t>信息与通信工程学院</a:t>
            </a:r>
            <a:r>
              <a:rPr lang="zh-CN" altLang="en-US" dirty="0"/>
              <a:t>：</a:t>
            </a:r>
            <a:r>
              <a:rPr lang="en-US" altLang="zh-CN" dirty="0"/>
              <a:t>13</a:t>
            </a:r>
            <a:r>
              <a:rPr lang="zh-CN" altLang="en-US" dirty="0"/>
              <a:t>人</a:t>
            </a:r>
            <a:endParaRPr lang="en-US" altLang="zh-CN" dirty="0"/>
          </a:p>
          <a:p>
            <a:pPr lvl="1"/>
            <a:r>
              <a:rPr lang="zh-CN" altLang="zh-CN" dirty="0"/>
              <a:t>数学科学学院</a:t>
            </a:r>
            <a:r>
              <a:rPr lang="zh-CN" altLang="en-US" dirty="0"/>
              <a:t>：</a:t>
            </a:r>
            <a:r>
              <a:rPr lang="en-US" altLang="zh-CN" dirty="0"/>
              <a:t>4</a:t>
            </a:r>
            <a:r>
              <a:rPr lang="zh-CN" altLang="en-US" dirty="0"/>
              <a:t>人</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sym typeface="+mn-ea"/>
              </a:rPr>
              <a:t>各位同学是否上过其他写作类，或有提交</a:t>
            </a:r>
            <a:r>
              <a:rPr lang="en-US" altLang="zh-CN" sz="2600">
                <a:solidFill>
                  <a:srgbClr val="000000"/>
                </a:solidFill>
                <a:latin typeface="微软雅黑" panose="020B0503020204020204" charset="-122"/>
                <a:ea typeface="微软雅黑" panose="020B0503020204020204" charset="-122"/>
                <a:sym typeface="+mn-ea"/>
              </a:rPr>
              <a:t>“</a:t>
            </a:r>
            <a:r>
              <a:rPr lang="zh-CN" altLang="en-US" sz="2600">
                <a:solidFill>
                  <a:srgbClr val="000000"/>
                </a:solidFill>
                <a:latin typeface="微软雅黑" panose="020B0503020204020204" charset="-122"/>
                <a:ea typeface="微软雅黑" panose="020B0503020204020204" charset="-122"/>
                <a:sym typeface="+mn-ea"/>
              </a:rPr>
              <a:t>论文</a:t>
            </a:r>
            <a:r>
              <a:rPr lang="en-US" altLang="zh-CN" sz="2600">
                <a:solidFill>
                  <a:srgbClr val="000000"/>
                </a:solidFill>
                <a:latin typeface="微软雅黑" panose="020B0503020204020204" charset="-122"/>
                <a:ea typeface="微软雅黑" panose="020B0503020204020204" charset="-122"/>
                <a:sym typeface="+mn-ea"/>
              </a:rPr>
              <a:t>”</a:t>
            </a:r>
            <a:r>
              <a:rPr lang="zh-CN" altLang="en-US" sz="2600">
                <a:solidFill>
                  <a:srgbClr val="000000"/>
                </a:solidFill>
                <a:latin typeface="微软雅黑" panose="020B0503020204020204" charset="-122"/>
                <a:ea typeface="微软雅黑" panose="020B0503020204020204" charset="-122"/>
                <a:sym typeface="+mn-ea"/>
              </a:rPr>
              <a:t>与</a:t>
            </a:r>
            <a:r>
              <a:rPr lang="en-US" altLang="zh-CN" sz="2600">
                <a:solidFill>
                  <a:srgbClr val="000000"/>
                </a:solidFill>
                <a:latin typeface="微软雅黑" panose="020B0503020204020204" charset="-122"/>
                <a:ea typeface="微软雅黑" panose="020B0503020204020204" charset="-122"/>
                <a:sym typeface="+mn-ea"/>
              </a:rPr>
              <a:t>“</a:t>
            </a:r>
            <a:r>
              <a:rPr lang="zh-CN" altLang="en-US" sz="2600">
                <a:solidFill>
                  <a:srgbClr val="000000"/>
                </a:solidFill>
                <a:latin typeface="微软雅黑" panose="020B0503020204020204" charset="-122"/>
                <a:ea typeface="微软雅黑" panose="020B0503020204020204" charset="-122"/>
                <a:sym typeface="+mn-ea"/>
              </a:rPr>
              <a:t>报告</a:t>
            </a:r>
            <a:r>
              <a:rPr lang="en-US" altLang="zh-CN" sz="2600">
                <a:solidFill>
                  <a:srgbClr val="000000"/>
                </a:solidFill>
                <a:latin typeface="微软雅黑" panose="020B0503020204020204" charset="-122"/>
                <a:ea typeface="微软雅黑" panose="020B0503020204020204" charset="-122"/>
                <a:sym typeface="+mn-ea"/>
              </a:rPr>
              <a:t>”</a:t>
            </a:r>
            <a:r>
              <a:rPr lang="zh-CN" altLang="en-US" sz="2600">
                <a:solidFill>
                  <a:srgbClr val="000000"/>
                </a:solidFill>
                <a:latin typeface="微软雅黑" panose="020B0503020204020204" charset="-122"/>
                <a:ea typeface="微软雅黑" panose="020B0503020204020204" charset="-122"/>
                <a:sym typeface="+mn-ea"/>
              </a:rPr>
              <a:t>的课程？</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3"/>
            </p:custDataLst>
          </p:nvPr>
        </p:nvSpPr>
        <p:spPr>
          <a:xfrm>
            <a:off x="1828800" y="2786063"/>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有</a:t>
            </a:r>
          </a:p>
        </p:txBody>
      </p:sp>
      <p:sp>
        <p:nvSpPr>
          <p:cNvPr id="5" name="文本框 4"/>
          <p:cNvSpPr txBox="1"/>
          <p:nvPr>
            <p:custDataLst>
              <p:tags r:id="rId4"/>
            </p:custDataLst>
          </p:nvPr>
        </p:nvSpPr>
        <p:spPr>
          <a:xfrm>
            <a:off x="1828800" y="3471863"/>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没有</a:t>
            </a:r>
          </a:p>
        </p:txBody>
      </p:sp>
      <p:sp>
        <p:nvSpPr>
          <p:cNvPr id="8" name="椭圆 7"/>
          <p:cNvSpPr>
            <a:spLocks noChangeAspect="1"/>
          </p:cNvSpPr>
          <p:nvPr>
            <p:custDataLst>
              <p:tags r:id="rId5"/>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A</a:t>
            </a:r>
          </a:p>
        </p:txBody>
      </p:sp>
      <p:sp>
        <p:nvSpPr>
          <p:cNvPr id="9" name="椭圆 8"/>
          <p:cNvSpPr>
            <a:spLocks noChangeAspect="1"/>
          </p:cNvSpPr>
          <p:nvPr>
            <p:custDataLst>
              <p:tags r:id="rId6"/>
            </p:custDataLst>
          </p:nvPr>
        </p:nvSpPr>
        <p:spPr>
          <a:xfrm>
            <a:off x="1114425" y="3536156"/>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B</a:t>
            </a:r>
          </a:p>
        </p:txBody>
      </p:sp>
      <p:sp>
        <p:nvSpPr>
          <p:cNvPr id="12" name="圆角矩形 11"/>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8"/>
            </p:custDataLst>
          </p:nvPr>
        </p:nvGrpSpPr>
        <p:grpSpPr>
          <a:xfrm>
            <a:off x="0" y="0"/>
            <a:ext cx="9144000" cy="635000"/>
            <a:chOff x="0" y="0"/>
            <a:chExt cx="14400" cy="1000"/>
          </a:xfrm>
        </p:grpSpPr>
        <p:sp>
          <p:nvSpPr>
            <p:cNvPr id="13" name="TitleBackground"/>
            <p:cNvSpPr/>
            <p:nvPr>
              <p:custDataLst>
                <p:tags r:id="rId10"/>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投票</a:t>
              </a:r>
            </a:p>
          </p:txBody>
        </p:sp>
        <p:sp>
          <p:nvSpPr>
            <p:cNvPr id="16" name="TipText"/>
            <p:cNvSpPr txBox="1"/>
            <p:nvPr>
              <p:custDataLst>
                <p:tags r:id="rId13"/>
              </p:custDataLst>
            </p:nvPr>
          </p:nvSpPr>
          <p:spPr>
            <a:xfrm>
              <a:off x="188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p>
          </p:txBody>
        </p:sp>
      </p:grpSp>
      <p:pic>
        <p:nvPicPr>
          <p:cNvPr id="2" name="图片 1" descr="tmp46BF"/>
          <p:cNvPicPr>
            <a:picLocks noChangeAspect="1"/>
          </p:cNvPicPr>
          <p:nvPr>
            <p:custDataLst>
              <p:tags r:id="rId9"/>
            </p:custDataLst>
          </p:nvPr>
        </p:nvPicPr>
        <p:blipFill>
          <a:blip r:embed="rId15"/>
          <a:stretch>
            <a:fillRect/>
          </a:stretch>
        </p:blipFill>
        <p:spPr>
          <a:xfrm>
            <a:off x="7594600" y="63500"/>
            <a:ext cx="1422400" cy="508000"/>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分组名单（雨课堂</a:t>
            </a:r>
            <a:r>
              <a:rPr lang="en-US" altLang="zh-CN" dirty="0"/>
              <a:t>-</a:t>
            </a:r>
            <a:r>
              <a:rPr lang="zh-CN" altLang="en-US" dirty="0"/>
              <a:t>自由分组）</a:t>
            </a:r>
          </a:p>
        </p:txBody>
      </p:sp>
      <p:cxnSp>
        <p:nvCxnSpPr>
          <p:cNvPr id="14" name="直接连接符 13"/>
          <p:cNvCxnSpPr/>
          <p:nvPr/>
        </p:nvCxnSpPr>
        <p:spPr>
          <a:xfrm flipV="1">
            <a:off x="294005" y="981075"/>
            <a:ext cx="8166100" cy="889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t>《专业写作基础》</a:t>
            </a:r>
            <a:r>
              <a:t>课程简介</a:t>
            </a:r>
            <a:endParaRPr lang="zh-CN" altLang="en-US"/>
          </a:p>
        </p:txBody>
      </p:sp>
      <p:sp>
        <p:nvSpPr>
          <p:cNvPr id="3" name="内容占位符 2"/>
          <p:cNvSpPr>
            <a:spLocks noGrp="1"/>
          </p:cNvSpPr>
          <p:nvPr>
            <p:ph idx="1"/>
          </p:nvPr>
        </p:nvSpPr>
        <p:spPr>
          <a:xfrm>
            <a:off x="291465" y="1585436"/>
            <a:ext cx="8669179" cy="3928110"/>
          </a:xfrm>
        </p:spPr>
        <p:txBody>
          <a:bodyPr/>
          <a:lstStyle/>
          <a:p>
            <a:pPr>
              <a:spcAft>
                <a:spcPts val="0"/>
              </a:spcAft>
            </a:pPr>
            <a:r>
              <a:rPr dirty="0" err="1"/>
              <a:t>本课程是全校理工科类本科专业的一门</a:t>
            </a:r>
            <a:r>
              <a:rPr b="1" dirty="0" err="1">
                <a:solidFill>
                  <a:srgbClr val="FF0000"/>
                </a:solidFill>
              </a:rPr>
              <a:t>通识教育课</a:t>
            </a:r>
            <a:endParaRPr b="1" dirty="0">
              <a:solidFill>
                <a:srgbClr val="FF0000"/>
              </a:solidFill>
            </a:endParaRPr>
          </a:p>
          <a:p>
            <a:r>
              <a:rPr dirty="0"/>
              <a:t>面向科技工作对专业写作的需求，本课程旨在培养学生的专</a:t>
            </a:r>
            <a:r>
              <a:rPr dirty="0">
                <a:solidFill>
                  <a:srgbClr val="FF0000"/>
                </a:solidFill>
              </a:rPr>
              <a:t>业调研与分析能力</a:t>
            </a:r>
            <a:r>
              <a:rPr dirty="0"/>
              <a:t>、</a:t>
            </a:r>
            <a:r>
              <a:rPr dirty="0">
                <a:solidFill>
                  <a:srgbClr val="FF0000"/>
                </a:solidFill>
              </a:rPr>
              <a:t>复杂专业技术内容的清楚解析能力</a:t>
            </a:r>
            <a:r>
              <a:rPr dirty="0"/>
              <a:t>、对解决</a:t>
            </a:r>
            <a:r>
              <a:rPr dirty="0">
                <a:solidFill>
                  <a:srgbClr val="FF0000"/>
                </a:solidFill>
              </a:rPr>
              <a:t>复杂专业问题的过程和成果进行归纳的能力</a:t>
            </a:r>
            <a:r>
              <a:rPr dirty="0"/>
              <a:t>，以及</a:t>
            </a:r>
            <a:r>
              <a:rPr dirty="0">
                <a:solidFill>
                  <a:srgbClr val="FF0000"/>
                </a:solidFill>
              </a:rPr>
              <a:t>准确的表达能力</a:t>
            </a:r>
            <a:r>
              <a:rPr dirty="0"/>
              <a:t>。</a:t>
            </a:r>
          </a:p>
          <a:p>
            <a:r>
              <a:rPr dirty="0"/>
              <a:t>本课程主要讲授学术论文、学位论文、科技报告等专业内容的</a:t>
            </a:r>
            <a:r>
              <a:rPr dirty="0">
                <a:solidFill>
                  <a:srgbClr val="FF0000"/>
                </a:solidFill>
              </a:rPr>
              <a:t>写作方法</a:t>
            </a:r>
            <a:r>
              <a:rPr dirty="0"/>
              <a:t>，提升学术论文等</a:t>
            </a:r>
            <a:r>
              <a:rPr dirty="0">
                <a:solidFill>
                  <a:srgbClr val="FF0000"/>
                </a:solidFill>
              </a:rPr>
              <a:t>专业写作的通用能力</a:t>
            </a:r>
            <a:r>
              <a:rPr dirty="0"/>
              <a:t>；并通过</a:t>
            </a:r>
            <a:r>
              <a:rPr dirty="0">
                <a:solidFill>
                  <a:srgbClr val="FF0000"/>
                </a:solidFill>
              </a:rPr>
              <a:t>学术写作训练</a:t>
            </a:r>
            <a:r>
              <a:rPr dirty="0"/>
              <a:t>，</a:t>
            </a:r>
            <a:r>
              <a:rPr b="1" u="sng" dirty="0"/>
              <a:t>使学生掌握写作基本规范，提升学生简洁、清晰和准确写作与表达的能力</a:t>
            </a:r>
            <a:r>
              <a:rPr dirty="0"/>
              <a:t>。</a:t>
            </a:r>
          </a:p>
        </p:txBody>
      </p:sp>
      <p:sp>
        <p:nvSpPr>
          <p:cNvPr id="6" name="矩形 5"/>
          <p:cNvSpPr/>
          <p:nvPr>
            <p:custDataLst>
              <p:tags r:id="rId2"/>
            </p:custDataLst>
          </p:nvPr>
        </p:nvSpPr>
        <p:spPr>
          <a:xfrm>
            <a:off x="696436" y="5589270"/>
            <a:ext cx="7558088" cy="404813"/>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sz="2400" b="1">
                <a:latin typeface="微软雅黑" panose="020B0503020204020204" charset="-122"/>
                <a:ea typeface="微软雅黑" panose="020B0503020204020204" charset="-122"/>
                <a:sym typeface="+mn-ea"/>
              </a:rPr>
              <a:t>学习写作方法，掌握写作规范，提升专业写作能力</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t>课程</a:t>
            </a:r>
            <a:r>
              <a:rPr lang="zh-CN"/>
              <a:t>目标</a:t>
            </a:r>
            <a:endParaRPr lang="zh-CN" altLang="en-US"/>
          </a:p>
        </p:txBody>
      </p:sp>
      <p:sp>
        <p:nvSpPr>
          <p:cNvPr id="3" name="内容占位符 2"/>
          <p:cNvSpPr>
            <a:spLocks noGrp="1"/>
          </p:cNvSpPr>
          <p:nvPr>
            <p:ph idx="1"/>
          </p:nvPr>
        </p:nvSpPr>
        <p:spPr>
          <a:xfrm>
            <a:off x="334328" y="3573016"/>
            <a:ext cx="8678704" cy="3024336"/>
          </a:xfrm>
        </p:spPr>
        <p:txBody>
          <a:bodyPr>
            <a:normAutofit fontScale="92500" lnSpcReduction="10000"/>
          </a:bodyPr>
          <a:lstStyle/>
          <a:p>
            <a:pPr>
              <a:lnSpc>
                <a:spcPct val="170000"/>
              </a:lnSpc>
              <a:spcBef>
                <a:spcPts val="0"/>
              </a:spcBef>
              <a:spcAft>
                <a:spcPts val="0"/>
              </a:spcAft>
            </a:pPr>
            <a:r>
              <a:rPr lang="zh-CN" altLang="en-US" sz="1800" dirty="0"/>
              <a:t>通过本课程的学习，使学生认识专业写作的重要性。</a:t>
            </a:r>
          </a:p>
          <a:p>
            <a:pPr>
              <a:lnSpc>
                <a:spcPct val="170000"/>
              </a:lnSpc>
              <a:spcBef>
                <a:spcPts val="0"/>
              </a:spcBef>
              <a:spcAft>
                <a:spcPts val="0"/>
              </a:spcAft>
            </a:pPr>
            <a:r>
              <a:rPr lang="zh-CN" altLang="en-US" sz="1800" dirty="0"/>
              <a:t>课程培养学生运用专业知识的分析能力和创新思维的表达方法，理解专业写作方法与学术写作规范对个人发展及科技进步的积极作用。</a:t>
            </a:r>
          </a:p>
          <a:p>
            <a:pPr>
              <a:lnSpc>
                <a:spcPct val="170000"/>
              </a:lnSpc>
              <a:spcBef>
                <a:spcPts val="0"/>
              </a:spcBef>
              <a:spcAft>
                <a:spcPts val="0"/>
              </a:spcAft>
            </a:pPr>
            <a:r>
              <a:rPr lang="zh-CN" altLang="en-US" sz="1800" dirty="0"/>
              <a:t>通过讲解包括学术论文、学位论文等专业写作的方法与案例，使学生掌握表达方法和提升写作思维与表达方法，重点提高学生的“读”与“写”的能力。</a:t>
            </a:r>
          </a:p>
          <a:p>
            <a:pPr>
              <a:lnSpc>
                <a:spcPct val="170000"/>
              </a:lnSpc>
              <a:spcBef>
                <a:spcPts val="0"/>
              </a:spcBef>
              <a:spcAft>
                <a:spcPts val="0"/>
              </a:spcAft>
            </a:pPr>
            <a:r>
              <a:rPr lang="zh-CN" altLang="en-US" sz="1800" dirty="0"/>
              <a:t>通过写作实践及相关训练，提升学术论文、科技论文等专业写作的通用能力，适应社会经济发展与科技进步对专业写作的更高要求。</a:t>
            </a:r>
          </a:p>
        </p:txBody>
      </p:sp>
      <p:sp>
        <p:nvSpPr>
          <p:cNvPr id="18" name="圆角矩形 17"/>
          <p:cNvSpPr/>
          <p:nvPr>
            <p:custDataLst>
              <p:tags r:id="rId2"/>
            </p:custDataLst>
          </p:nvPr>
        </p:nvSpPr>
        <p:spPr>
          <a:xfrm>
            <a:off x="416243" y="980728"/>
            <a:ext cx="2470785" cy="2248853"/>
          </a:xfrm>
          <a:prstGeom prst="roundRect">
            <a:avLst>
              <a:gd name="adj" fmla="val 6445"/>
            </a:avLst>
          </a:prstGeom>
          <a:gradFill>
            <a:gsLst>
              <a:gs pos="100000">
                <a:srgbClr val="376FFF"/>
              </a:gs>
              <a:gs pos="0">
                <a:srgbClr val="376FFF">
                  <a:lumMod val="60000"/>
                  <a:lumOff val="40000"/>
                </a:srgbClr>
              </a:gs>
            </a:gsLst>
            <a:lin ang="2700000"/>
          </a:gradFill>
          <a:ln w="12700" cmpd="sng">
            <a:noFill/>
            <a:prstDash val="solid"/>
          </a:ln>
          <a:effectLst/>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sz="1015"/>
          </a:p>
        </p:txBody>
      </p:sp>
      <p:sp>
        <p:nvSpPr>
          <p:cNvPr id="21" name="文本框 20"/>
          <p:cNvSpPr txBox="1"/>
          <p:nvPr>
            <p:custDataLst>
              <p:tags r:id="rId3"/>
            </p:custDataLst>
          </p:nvPr>
        </p:nvSpPr>
        <p:spPr>
          <a:xfrm>
            <a:off x="391954" y="1082645"/>
            <a:ext cx="2478405" cy="491490"/>
          </a:xfrm>
          <a:prstGeom prst="rect">
            <a:avLst/>
          </a:prstGeom>
          <a:noFill/>
        </p:spPr>
        <p:txBody>
          <a:bodyPr wrap="square" rtlCol="0" anchor="ctr" anchorCtr="0"/>
          <a:lstStyle/>
          <a:p>
            <a:pPr marL="0" indent="0" algn="ctr" fontAlgn="ctr" latinLnBrk="0">
              <a:lnSpc>
                <a:spcPct val="100000"/>
              </a:lnSpc>
              <a:spcAft>
                <a:spcPts val="0"/>
              </a:spcAft>
              <a:buClrTx/>
              <a:buSzTx/>
              <a:buFontTx/>
            </a:pPr>
            <a:r>
              <a:rPr sz="1800" b="1">
                <a:solidFill>
                  <a:schemeClr val="bg1"/>
                </a:solidFill>
                <a:effectLst>
                  <a:outerShdw blurRad="50800" dist="38100" dir="2700000" algn="tl" rotWithShape="0">
                    <a:srgbClr val="17D594">
                      <a:alpha val="40000"/>
                    </a:srgbClr>
                  </a:outerShdw>
                </a:effectLst>
                <a:latin typeface="微软雅黑" panose="020B0503020204020204" charset="-122"/>
                <a:ea typeface="微软雅黑" panose="020B0503020204020204" charset="-122"/>
                <a:cs typeface="江城圆体 300W" panose="020B0300000000000000" charset="-122"/>
              </a:rPr>
              <a:t>文献查阅专题调研能力</a:t>
            </a:r>
          </a:p>
        </p:txBody>
      </p:sp>
      <p:sp>
        <p:nvSpPr>
          <p:cNvPr id="24" name="文本框 23"/>
          <p:cNvSpPr txBox="1"/>
          <p:nvPr>
            <p:custDataLst>
              <p:tags r:id="rId4"/>
            </p:custDataLst>
          </p:nvPr>
        </p:nvSpPr>
        <p:spPr>
          <a:xfrm>
            <a:off x="416243" y="1586994"/>
            <a:ext cx="2446496" cy="1216343"/>
          </a:xfrm>
          <a:prstGeom prst="rect">
            <a:avLst/>
          </a:prstGeom>
          <a:noFill/>
        </p:spPr>
        <p:txBody>
          <a:bodyPr wrap="square" rtlCol="0" anchor="ctr" anchorCtr="0"/>
          <a:lstStyle/>
          <a:p>
            <a:pPr marL="171450" indent="-171450" algn="l">
              <a:lnSpc>
                <a:spcPct val="120000"/>
              </a:lnSpc>
              <a:spcBef>
                <a:spcPts val="0"/>
              </a:spcBef>
              <a:spcAft>
                <a:spcPts val="0"/>
              </a:spcAft>
              <a:buFont typeface="Arial" panose="020B0604020202020204" pitchFamily="34" charset="0"/>
              <a:buChar char="•"/>
            </a:pPr>
            <a:r>
              <a:rPr lang="en-US" altLang="zh-CN" sz="1350">
                <a:solidFill>
                  <a:schemeClr val="bg1"/>
                </a:solidFill>
                <a:latin typeface="微软雅黑" panose="020B0503020204020204" charset="-122"/>
                <a:ea typeface="微软雅黑" panose="020B0503020204020204" charset="-122"/>
              </a:rPr>
              <a:t>结合专业知识，提取关键词</a:t>
            </a:r>
          </a:p>
          <a:p>
            <a:pPr marL="171450" indent="-171450" algn="l">
              <a:lnSpc>
                <a:spcPct val="120000"/>
              </a:lnSpc>
              <a:spcBef>
                <a:spcPts val="0"/>
              </a:spcBef>
              <a:spcAft>
                <a:spcPts val="0"/>
              </a:spcAft>
              <a:buFont typeface="Arial" panose="020B0604020202020204" pitchFamily="34" charset="0"/>
              <a:buChar char="•"/>
            </a:pPr>
            <a:r>
              <a:rPr lang="en-US" altLang="zh-CN" sz="1350">
                <a:solidFill>
                  <a:schemeClr val="bg1"/>
                </a:solidFill>
                <a:latin typeface="微软雅黑" panose="020B0503020204020204" charset="-122"/>
                <a:ea typeface="微软雅黑" panose="020B0503020204020204" charset="-122"/>
              </a:rPr>
              <a:t>利用文献数据库及纸质文献，查找所需资料</a:t>
            </a:r>
          </a:p>
          <a:p>
            <a:pPr marL="171450" indent="-171450" algn="l">
              <a:lnSpc>
                <a:spcPct val="120000"/>
              </a:lnSpc>
              <a:spcBef>
                <a:spcPts val="0"/>
              </a:spcBef>
              <a:spcAft>
                <a:spcPts val="0"/>
              </a:spcAft>
              <a:buFont typeface="Arial" panose="020B0604020202020204" pitchFamily="34" charset="0"/>
              <a:buChar char="•"/>
            </a:pPr>
            <a:r>
              <a:rPr lang="en-US" altLang="zh-CN" sz="1350">
                <a:solidFill>
                  <a:schemeClr val="bg1"/>
                </a:solidFill>
                <a:latin typeface="微软雅黑" panose="020B0503020204020204" charset="-122"/>
                <a:ea typeface="微软雅黑" panose="020B0503020204020204" charset="-122"/>
              </a:rPr>
              <a:t>进行分析和概括总结，培养查新与辨识能力。</a:t>
            </a:r>
          </a:p>
        </p:txBody>
      </p:sp>
      <p:sp>
        <p:nvSpPr>
          <p:cNvPr id="4" name="圆角矩形 3"/>
          <p:cNvSpPr/>
          <p:nvPr>
            <p:custDataLst>
              <p:tags r:id="rId5"/>
            </p:custDataLst>
          </p:nvPr>
        </p:nvSpPr>
        <p:spPr>
          <a:xfrm>
            <a:off x="3309461" y="1008350"/>
            <a:ext cx="2461736" cy="2235518"/>
          </a:xfrm>
          <a:prstGeom prst="roundRect">
            <a:avLst>
              <a:gd name="adj" fmla="val 6445"/>
            </a:avLst>
          </a:prstGeom>
          <a:solidFill>
            <a:schemeClr val="tx2">
              <a:lumMod val="90000"/>
              <a:lumOff val="10000"/>
            </a:schemeClr>
          </a:solidFill>
          <a:ln w="12700" cmpd="sng">
            <a:noFill/>
            <a:prstDash val="solid"/>
          </a:ln>
          <a:effectLst/>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sz="1015"/>
          </a:p>
        </p:txBody>
      </p:sp>
      <p:sp>
        <p:nvSpPr>
          <p:cNvPr id="5" name="文本框 4"/>
          <p:cNvSpPr txBox="1"/>
          <p:nvPr>
            <p:custDataLst>
              <p:tags r:id="rId6"/>
            </p:custDataLst>
          </p:nvPr>
        </p:nvSpPr>
        <p:spPr>
          <a:xfrm>
            <a:off x="3309461" y="1110268"/>
            <a:ext cx="2442210" cy="403384"/>
          </a:xfrm>
          <a:prstGeom prst="rect">
            <a:avLst/>
          </a:prstGeom>
          <a:noFill/>
        </p:spPr>
        <p:txBody>
          <a:bodyPr wrap="square" rtlCol="0" anchor="ctr" anchorCtr="0"/>
          <a:lstStyle/>
          <a:p>
            <a:pPr algn="ctr" fontAlgn="ctr">
              <a:lnSpc>
                <a:spcPct val="150000"/>
              </a:lnSpc>
              <a:spcAft>
                <a:spcPts val="0"/>
              </a:spcAft>
            </a:pPr>
            <a:r>
              <a:rPr sz="1800" b="1">
                <a:solidFill>
                  <a:srgbClr val="FF0000"/>
                </a:solidFill>
                <a:effectLst>
                  <a:outerShdw blurRad="50800" dist="38100" dir="2700000" algn="tl" rotWithShape="0">
                    <a:srgbClr val="17D594">
                      <a:alpha val="40000"/>
                    </a:srgbClr>
                  </a:outerShdw>
                </a:effectLst>
                <a:latin typeface="微软雅黑" panose="020B0503020204020204" charset="-122"/>
                <a:ea typeface="微软雅黑" panose="020B0503020204020204" charset="-122"/>
                <a:cs typeface="江城圆体 300W" panose="020B0300000000000000" charset="-122"/>
              </a:rPr>
              <a:t>科技论文写作能力</a:t>
            </a:r>
          </a:p>
        </p:txBody>
      </p:sp>
      <p:sp>
        <p:nvSpPr>
          <p:cNvPr id="12" name="文本框 11"/>
          <p:cNvSpPr txBox="1"/>
          <p:nvPr>
            <p:custDataLst>
              <p:tags r:id="rId7"/>
            </p:custDataLst>
          </p:nvPr>
        </p:nvSpPr>
        <p:spPr>
          <a:xfrm>
            <a:off x="3309461" y="1601758"/>
            <a:ext cx="2462213" cy="1391603"/>
          </a:xfrm>
          <a:prstGeom prst="rect">
            <a:avLst/>
          </a:prstGeom>
          <a:noFill/>
        </p:spPr>
        <p:txBody>
          <a:bodyPr wrap="square" rtlCol="0" anchor="ctr" anchorCtr="0"/>
          <a:lstStyle/>
          <a:p>
            <a:pPr marL="0" lvl="2" indent="-171450" algn="l">
              <a:lnSpc>
                <a:spcPct val="120000"/>
              </a:lnSpc>
              <a:spcBef>
                <a:spcPts val="0"/>
              </a:spcBef>
              <a:spcAft>
                <a:spcPts val="0"/>
              </a:spcAft>
              <a:buFont typeface="Arial" panose="020B0604020202020204" pitchFamily="34" charset="0"/>
              <a:buChar char="•"/>
            </a:pPr>
            <a:r>
              <a:rPr lang="en-US" altLang="zh-CN" sz="1350">
                <a:solidFill>
                  <a:srgbClr val="FF0000"/>
                </a:solidFill>
                <a:latin typeface="微软雅黑" panose="020B0503020204020204" charset="-122"/>
                <a:ea typeface="微软雅黑" panose="020B0503020204020204" charset="-122"/>
                <a:sym typeface="+mn-ea"/>
              </a:rPr>
              <a:t>结合具体工程案例，总结技术特点，提炼科学问题</a:t>
            </a:r>
          </a:p>
          <a:p>
            <a:pPr marL="0" lvl="2" indent="-171450" algn="l">
              <a:lnSpc>
                <a:spcPct val="120000"/>
              </a:lnSpc>
              <a:spcBef>
                <a:spcPts val="0"/>
              </a:spcBef>
              <a:spcAft>
                <a:spcPts val="0"/>
              </a:spcAft>
              <a:buFont typeface="Arial" panose="020B0604020202020204" pitchFamily="34" charset="0"/>
              <a:buChar char="•"/>
            </a:pPr>
            <a:r>
              <a:rPr lang="en-US" altLang="zh-CN" sz="1350">
                <a:solidFill>
                  <a:srgbClr val="FF0000"/>
                </a:solidFill>
                <a:latin typeface="微软雅黑" panose="020B0503020204020204" charset="-122"/>
                <a:ea typeface="微软雅黑" panose="020B0503020204020204" charset="-122"/>
                <a:sym typeface="+mn-ea"/>
              </a:rPr>
              <a:t>掌握学术论文写作方法与学位论文撰写规范</a:t>
            </a:r>
          </a:p>
          <a:p>
            <a:pPr marL="0" lvl="2" indent="-171450" algn="l">
              <a:lnSpc>
                <a:spcPct val="120000"/>
              </a:lnSpc>
              <a:spcBef>
                <a:spcPts val="0"/>
              </a:spcBef>
              <a:spcAft>
                <a:spcPts val="0"/>
              </a:spcAft>
              <a:buFont typeface="Arial" panose="020B0604020202020204" pitchFamily="34" charset="0"/>
              <a:buChar char="•"/>
            </a:pPr>
            <a:r>
              <a:rPr lang="en-US" altLang="zh-CN" sz="1350">
                <a:solidFill>
                  <a:srgbClr val="FF0000"/>
                </a:solidFill>
                <a:latin typeface="微软雅黑" panose="020B0503020204020204" charset="-122"/>
                <a:ea typeface="微软雅黑" panose="020B0503020204020204" charset="-122"/>
                <a:sym typeface="+mn-ea"/>
              </a:rPr>
              <a:t>学习写作思维方式，提高专业表达能力。</a:t>
            </a:r>
          </a:p>
        </p:txBody>
      </p:sp>
      <p:sp>
        <p:nvSpPr>
          <p:cNvPr id="6" name="圆角矩形 5"/>
          <p:cNvSpPr/>
          <p:nvPr>
            <p:custDataLst>
              <p:tags r:id="rId8"/>
            </p:custDataLst>
          </p:nvPr>
        </p:nvSpPr>
        <p:spPr>
          <a:xfrm>
            <a:off x="6047423" y="993586"/>
            <a:ext cx="2451259" cy="2244566"/>
          </a:xfrm>
          <a:prstGeom prst="roundRect">
            <a:avLst>
              <a:gd name="adj" fmla="val 6445"/>
            </a:avLst>
          </a:prstGeom>
          <a:gradFill>
            <a:gsLst>
              <a:gs pos="0">
                <a:srgbClr val="7B32B2"/>
              </a:gs>
              <a:gs pos="100000">
                <a:srgbClr val="401A5D"/>
              </a:gs>
            </a:gsLst>
            <a:lin ang="2700000" scaled="0"/>
          </a:gradFill>
          <a:ln w="12700" cmpd="sng">
            <a:noFill/>
            <a:prstDash val="solid"/>
          </a:ln>
          <a:effectLst/>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sz="1015"/>
          </a:p>
        </p:txBody>
      </p:sp>
      <p:sp>
        <p:nvSpPr>
          <p:cNvPr id="7" name="文本框 6"/>
          <p:cNvSpPr txBox="1"/>
          <p:nvPr>
            <p:custDataLst>
              <p:tags r:id="rId9"/>
            </p:custDataLst>
          </p:nvPr>
        </p:nvSpPr>
        <p:spPr>
          <a:xfrm>
            <a:off x="6084094" y="1095504"/>
            <a:ext cx="2409349" cy="428625"/>
          </a:xfrm>
          <a:prstGeom prst="rect">
            <a:avLst/>
          </a:prstGeom>
          <a:noFill/>
        </p:spPr>
        <p:txBody>
          <a:bodyPr wrap="square" rtlCol="0" anchor="ctr" anchorCtr="0">
            <a:normAutofit fontScale="90000" lnSpcReduction="20000"/>
          </a:bodyPr>
          <a:lstStyle/>
          <a:p>
            <a:pPr algn="ctr" fontAlgn="ctr">
              <a:lnSpc>
                <a:spcPct val="150000"/>
              </a:lnSpc>
              <a:spcAft>
                <a:spcPts val="0"/>
              </a:spcAft>
            </a:pPr>
            <a:r>
              <a:rPr lang="zh-CN" altLang="en-US" sz="1800" b="1">
                <a:solidFill>
                  <a:schemeClr val="bg1"/>
                </a:solidFill>
                <a:effectLst>
                  <a:outerShdw blurRad="50800" dist="38100" dir="2700000" algn="tl" rotWithShape="0">
                    <a:srgbClr val="17D594">
                      <a:alpha val="40000"/>
                    </a:srgbClr>
                  </a:outerShdw>
                </a:effectLst>
                <a:latin typeface="微软雅黑" panose="020B0503020204020204" charset="-122"/>
                <a:ea typeface="微软雅黑" panose="020B0503020204020204" charset="-122"/>
                <a:cs typeface="江城圆体 300W" panose="020B0300000000000000" charset="-122"/>
                <a:sym typeface="+mn-ea"/>
              </a:rPr>
              <a:t>多维沟通能力</a:t>
            </a:r>
          </a:p>
        </p:txBody>
      </p:sp>
      <p:sp>
        <p:nvSpPr>
          <p:cNvPr id="10" name="文本框 9"/>
          <p:cNvSpPr txBox="1"/>
          <p:nvPr>
            <p:custDataLst>
              <p:tags r:id="rId10"/>
            </p:custDataLst>
          </p:nvPr>
        </p:nvSpPr>
        <p:spPr>
          <a:xfrm>
            <a:off x="6021705" y="1586994"/>
            <a:ext cx="2432685" cy="1390650"/>
          </a:xfrm>
          <a:prstGeom prst="rect">
            <a:avLst/>
          </a:prstGeom>
          <a:noFill/>
        </p:spPr>
        <p:txBody>
          <a:bodyPr wrap="square" rtlCol="0" anchor="ctr" anchorCtr="0"/>
          <a:lstStyle/>
          <a:p>
            <a:pPr marL="171450" indent="-171450" algn="l">
              <a:lnSpc>
                <a:spcPct val="120000"/>
              </a:lnSpc>
              <a:spcBef>
                <a:spcPts val="0"/>
              </a:spcBef>
              <a:spcAft>
                <a:spcPts val="0"/>
              </a:spcAft>
              <a:buFont typeface="Arial" panose="020B0604020202020204" pitchFamily="34" charset="0"/>
              <a:buChar char="•"/>
            </a:pPr>
            <a:r>
              <a:rPr sz="1350">
                <a:solidFill>
                  <a:schemeClr val="bg1"/>
                </a:solidFill>
                <a:latin typeface="微软雅黑" panose="020B0503020204020204" charset="-122"/>
                <a:ea typeface="微软雅黑" panose="020B0503020204020204" charset="-122"/>
                <a:sym typeface="+mn-ea"/>
              </a:rPr>
              <a:t>结合学术交流、科技成果汇报等场景对专业写作的要求</a:t>
            </a:r>
          </a:p>
          <a:p>
            <a:pPr marL="171450" indent="-171450" algn="l">
              <a:lnSpc>
                <a:spcPct val="120000"/>
              </a:lnSpc>
              <a:spcBef>
                <a:spcPts val="0"/>
              </a:spcBef>
              <a:spcAft>
                <a:spcPts val="0"/>
              </a:spcAft>
              <a:buFont typeface="Arial" panose="020B0604020202020204" pitchFamily="34" charset="0"/>
              <a:buChar char="•"/>
            </a:pPr>
            <a:r>
              <a:rPr sz="1350">
                <a:solidFill>
                  <a:schemeClr val="bg1"/>
                </a:solidFill>
                <a:latin typeface="微软雅黑" panose="020B0503020204020204" charset="-122"/>
                <a:ea typeface="微软雅黑" panose="020B0503020204020204" charset="-122"/>
                <a:sym typeface="+mn-ea"/>
              </a:rPr>
              <a:t>以课程报告、学术论文等材料进行课堂研讨与交流</a:t>
            </a:r>
          </a:p>
          <a:p>
            <a:pPr marL="171450" indent="-171450" algn="l">
              <a:lnSpc>
                <a:spcPct val="120000"/>
              </a:lnSpc>
              <a:spcBef>
                <a:spcPts val="0"/>
              </a:spcBef>
              <a:spcAft>
                <a:spcPts val="0"/>
              </a:spcAft>
              <a:buFont typeface="Arial" panose="020B0604020202020204" pitchFamily="34" charset="0"/>
              <a:buChar char="•"/>
            </a:pPr>
            <a:r>
              <a:rPr sz="1350">
                <a:solidFill>
                  <a:schemeClr val="bg1"/>
                </a:solidFill>
                <a:latin typeface="微软雅黑" panose="020B0503020204020204" charset="-122"/>
                <a:ea typeface="微软雅黑" panose="020B0503020204020204" charset="-122"/>
                <a:sym typeface="+mn-ea"/>
              </a:rPr>
              <a:t>培养学生沟通能力，鼓励学生学术交流。</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162818" name="Rectangle 2"/>
          <p:cNvSpPr>
            <a:spLocks noGrp="1" noChangeArrowheads="1"/>
          </p:cNvSpPr>
          <p:nvPr>
            <p:ph type="title" idx="4294967295"/>
          </p:nvPr>
        </p:nvSpPr>
        <p:spPr>
          <a:xfrm>
            <a:off x="2555875" y="20638"/>
            <a:ext cx="4752975" cy="815975"/>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sym typeface="+mn-ea"/>
              </a:rPr>
              <a:t>课程简介（续）</a:t>
            </a:r>
          </a:p>
        </p:txBody>
      </p:sp>
      <p:sp>
        <p:nvSpPr>
          <p:cNvPr id="162819" name="Rectangle 3"/>
          <p:cNvSpPr>
            <a:spLocks noChangeArrowheads="1"/>
          </p:cNvSpPr>
          <p:nvPr/>
        </p:nvSpPr>
        <p:spPr bwMode="auto">
          <a:xfrm>
            <a:off x="971550" y="697548"/>
            <a:ext cx="8101013" cy="5539105"/>
          </a:xfrm>
          <a:prstGeom prst="rect">
            <a:avLst/>
          </a:prstGeom>
          <a:noFill/>
          <a:ln w="9525">
            <a:noFill/>
            <a:miter lim="800000"/>
          </a:ln>
          <a:effectLst/>
        </p:spPr>
        <p:txBody>
          <a:bodyPr anchor="ct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base" latinLnBrk="0" hangingPunct="1">
              <a:lnSpc>
                <a:spcPct val="150000"/>
              </a:lnSpc>
              <a:spcBef>
                <a:spcPct val="0"/>
              </a:spcBef>
              <a:spcAft>
                <a:spcPts val="0"/>
              </a:spcAft>
              <a:buClrTx/>
              <a:buSzTx/>
              <a:buFont typeface="Wingdings" panose="05000000000000000000" pitchFamily="2" charset="2"/>
              <a:buChar char="u"/>
              <a:defRPr/>
            </a:pPr>
            <a:r>
              <a:rPr kumimoji="1" lang="zh-CN" altLang="en-US" sz="4000" b="1" i="0" u="none" strike="noStrike" kern="1200" cap="none" spc="0" normalizeH="0" baseline="0" noProof="0" dirty="0">
                <a:ln>
                  <a:noFill/>
                </a:ln>
                <a:solidFill>
                  <a:srgbClr val="0000FF"/>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 课程的教学内容</a:t>
            </a:r>
          </a:p>
          <a:p>
            <a:pPr marL="457200" marR="0" lvl="0" indent="-457200" algn="just" defTabSz="914400" rtl="0" eaLnBrk="1" fontAlgn="base" latinLnBrk="0" hangingPunct="1">
              <a:lnSpc>
                <a:spcPct val="150000"/>
              </a:lnSpc>
              <a:spcBef>
                <a:spcPts val="0"/>
              </a:spcBef>
              <a:spcAft>
                <a:spcPts val="0"/>
              </a:spcAft>
              <a:buClrTx/>
              <a:buSzTx/>
              <a:buFontTx/>
              <a:buAutoNum type="arabicPeriod"/>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课程概述及文献检索（</a:t>
            </a:r>
            <a:r>
              <a:rPr kumimoji="1" lang="en-US" altLang="zh-CN"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2</a:t>
            </a: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学时）</a:t>
            </a:r>
          </a:p>
          <a:p>
            <a:pPr marL="457200" marR="0" lvl="0" indent="-457200" algn="just" defTabSz="914400" rtl="0" eaLnBrk="1" fontAlgn="base" latinLnBrk="0" hangingPunct="1">
              <a:lnSpc>
                <a:spcPct val="150000"/>
              </a:lnSpc>
              <a:spcBef>
                <a:spcPts val="0"/>
              </a:spcBef>
              <a:spcAft>
                <a:spcPts val="0"/>
              </a:spcAft>
              <a:buClrTx/>
              <a:buSzTx/>
              <a:buFontTx/>
              <a:buAutoNum type="arabicPeriod"/>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文献综述论文撰写（</a:t>
            </a:r>
            <a:r>
              <a:rPr kumimoji="1" lang="en-US" altLang="zh-CN"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2</a:t>
            </a: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学时）</a:t>
            </a:r>
          </a:p>
          <a:p>
            <a:pPr marL="457200" marR="0" lvl="0" indent="-457200" algn="just" defTabSz="914400" rtl="0" eaLnBrk="1" fontAlgn="base" latinLnBrk="0" hangingPunct="1">
              <a:lnSpc>
                <a:spcPct val="150000"/>
              </a:lnSpc>
              <a:spcBef>
                <a:spcPts val="0"/>
              </a:spcBef>
              <a:spcAft>
                <a:spcPts val="0"/>
              </a:spcAft>
              <a:buClrTx/>
              <a:buSzTx/>
              <a:buFontTx/>
              <a:buAutoNum type="arabicPeriod"/>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学位论文写作规范</a:t>
            </a:r>
            <a:r>
              <a:rPr kumimoji="1" lang="en-US" altLang="zh-CN"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(2</a:t>
            </a: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学时</a:t>
            </a:r>
            <a:r>
              <a:rPr kumimoji="1" lang="en-US" altLang="zh-CN"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a:t>
            </a:r>
            <a:endPar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endParaRPr>
          </a:p>
          <a:p>
            <a:pPr marL="457200" marR="0" lvl="0" indent="-457200" algn="just" defTabSz="914400" rtl="0" eaLnBrk="1" fontAlgn="base" latinLnBrk="0" hangingPunct="1">
              <a:lnSpc>
                <a:spcPct val="150000"/>
              </a:lnSpc>
              <a:spcBef>
                <a:spcPts val="0"/>
              </a:spcBef>
              <a:spcAft>
                <a:spcPts val="0"/>
              </a:spcAft>
              <a:buClrTx/>
              <a:buSzTx/>
              <a:buFontTx/>
              <a:buAutoNum type="arabicPeriod"/>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学术科技论文、科技报告及专利写作（</a:t>
            </a:r>
            <a:r>
              <a:rPr kumimoji="1" lang="en-US" altLang="zh-CN"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2</a:t>
            </a: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学时）</a:t>
            </a:r>
            <a:endParaRPr kumimoji="1" lang="en-US" altLang="zh-CN"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endParaRPr>
          </a:p>
          <a:p>
            <a:pPr marL="457200" marR="0" lvl="0" indent="-457200" algn="just" defTabSz="914400" rtl="0" eaLnBrk="1" fontAlgn="base" latinLnBrk="0" hangingPunct="1">
              <a:lnSpc>
                <a:spcPct val="150000"/>
              </a:lnSpc>
              <a:spcBef>
                <a:spcPts val="0"/>
              </a:spcBef>
              <a:spcAft>
                <a:spcPts val="0"/>
              </a:spcAft>
              <a:buClrTx/>
              <a:buSzTx/>
              <a:buFontTx/>
              <a:buAutoNum type="arabicPeriod"/>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范文讲解、写作问题与方法研讨</a:t>
            </a:r>
            <a:r>
              <a:rPr lang="zh-CN" altLang="en-US" sz="28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rPr>
              <a:t>（</a:t>
            </a:r>
            <a:r>
              <a:rPr lang="en-US" altLang="zh-CN" sz="28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rPr>
              <a:t>4</a:t>
            </a:r>
            <a:r>
              <a:rPr lang="zh-CN" altLang="en-US" sz="28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rPr>
              <a:t>学时）</a:t>
            </a:r>
            <a:endPar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endParaRPr>
          </a:p>
          <a:p>
            <a:pPr marL="457200" marR="0" lvl="0" indent="-457200" algn="just" defTabSz="914400" rtl="0" eaLnBrk="1" fontAlgn="base" latinLnBrk="0" hangingPunct="1">
              <a:lnSpc>
                <a:spcPct val="150000"/>
              </a:lnSpc>
              <a:spcBef>
                <a:spcPts val="0"/>
              </a:spcBef>
              <a:spcAft>
                <a:spcPts val="0"/>
              </a:spcAft>
              <a:buClrTx/>
              <a:buSzTx/>
              <a:buFontTx/>
              <a:buAutoNum type="arabicPeriod"/>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习作评讲（</a:t>
            </a:r>
            <a:r>
              <a:rPr kumimoji="1" lang="en-US" altLang="zh-CN"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2</a:t>
            </a: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学时）</a:t>
            </a:r>
          </a:p>
          <a:p>
            <a:pPr marL="457200" marR="0" lvl="0" indent="-457200" algn="just" defTabSz="914400" rtl="0" eaLnBrk="1" fontAlgn="base" latinLnBrk="0" hangingPunct="1">
              <a:lnSpc>
                <a:spcPct val="150000"/>
              </a:lnSpc>
              <a:spcBef>
                <a:spcPts val="0"/>
              </a:spcBef>
              <a:spcAft>
                <a:spcPct val="0"/>
              </a:spcAft>
              <a:buClrTx/>
              <a:buSzTx/>
              <a:buFontTx/>
              <a:buAutoNum type="arabicPeriod"/>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课程习作汇报与研讨（</a:t>
            </a:r>
            <a:r>
              <a:rPr kumimoji="1" lang="en-US" altLang="zh-CN"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2</a:t>
            </a: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学时）</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2819">
                                            <p:txEl>
                                              <p:pRg st="1" end="1"/>
                                            </p:txEl>
                                          </p:spTgt>
                                        </p:tgtEl>
                                        <p:attrNameLst>
                                          <p:attrName>style.visibility</p:attrName>
                                        </p:attrNameLst>
                                      </p:cBhvr>
                                      <p:to>
                                        <p:strVal val="visible"/>
                                      </p:to>
                                    </p:set>
                                    <p:animEffect transition="in" filter="blinds(horizontal)">
                                      <p:cBhvr>
                                        <p:cTn id="7" dur="500"/>
                                        <p:tgtEl>
                                          <p:spTgt spid="16281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62819">
                                            <p:txEl>
                                              <p:pRg st="2" end="2"/>
                                            </p:txEl>
                                          </p:spTgt>
                                        </p:tgtEl>
                                        <p:attrNameLst>
                                          <p:attrName>style.visibility</p:attrName>
                                        </p:attrNameLst>
                                      </p:cBhvr>
                                      <p:to>
                                        <p:strVal val="visible"/>
                                      </p:to>
                                    </p:set>
                                    <p:animEffect transition="in" filter="blinds(horizontal)">
                                      <p:cBhvr>
                                        <p:cTn id="10" dur="500"/>
                                        <p:tgtEl>
                                          <p:spTgt spid="16281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62819">
                                            <p:txEl>
                                              <p:pRg st="3" end="3"/>
                                            </p:txEl>
                                          </p:spTgt>
                                        </p:tgtEl>
                                        <p:attrNameLst>
                                          <p:attrName>style.visibility</p:attrName>
                                        </p:attrNameLst>
                                      </p:cBhvr>
                                      <p:to>
                                        <p:strVal val="visible"/>
                                      </p:to>
                                    </p:set>
                                    <p:animEffect transition="in" filter="blinds(horizontal)">
                                      <p:cBhvr>
                                        <p:cTn id="13" dur="500"/>
                                        <p:tgtEl>
                                          <p:spTgt spid="162819">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62819">
                                            <p:txEl>
                                              <p:pRg st="4" end="4"/>
                                            </p:txEl>
                                          </p:spTgt>
                                        </p:tgtEl>
                                        <p:attrNameLst>
                                          <p:attrName>style.visibility</p:attrName>
                                        </p:attrNameLst>
                                      </p:cBhvr>
                                      <p:to>
                                        <p:strVal val="visible"/>
                                      </p:to>
                                    </p:set>
                                    <p:animEffect transition="in" filter="blinds(horizontal)">
                                      <p:cBhvr>
                                        <p:cTn id="16" dur="500"/>
                                        <p:tgtEl>
                                          <p:spTgt spid="162819">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62819">
                                            <p:txEl>
                                              <p:pRg st="5" end="5"/>
                                            </p:txEl>
                                          </p:spTgt>
                                        </p:tgtEl>
                                        <p:attrNameLst>
                                          <p:attrName>style.visibility</p:attrName>
                                        </p:attrNameLst>
                                      </p:cBhvr>
                                      <p:to>
                                        <p:strVal val="visible"/>
                                      </p:to>
                                    </p:set>
                                    <p:animEffect transition="in" filter="blinds(horizontal)">
                                      <p:cBhvr>
                                        <p:cTn id="19" dur="500"/>
                                        <p:tgtEl>
                                          <p:spTgt spid="162819">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62819">
                                            <p:txEl>
                                              <p:pRg st="6" end="6"/>
                                            </p:txEl>
                                          </p:spTgt>
                                        </p:tgtEl>
                                        <p:attrNameLst>
                                          <p:attrName>style.visibility</p:attrName>
                                        </p:attrNameLst>
                                      </p:cBhvr>
                                      <p:to>
                                        <p:strVal val="visible"/>
                                      </p:to>
                                    </p:set>
                                    <p:animEffect transition="in" filter="blinds(horizontal)">
                                      <p:cBhvr>
                                        <p:cTn id="22" dur="500"/>
                                        <p:tgtEl>
                                          <p:spTgt spid="162819">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62819">
                                            <p:txEl>
                                              <p:pRg st="7" end="7"/>
                                            </p:txEl>
                                          </p:spTgt>
                                        </p:tgtEl>
                                        <p:attrNameLst>
                                          <p:attrName>style.visibility</p:attrName>
                                        </p:attrNameLst>
                                      </p:cBhvr>
                                      <p:to>
                                        <p:strVal val="visible"/>
                                      </p:to>
                                    </p:set>
                                    <p:animEffect transition="in" filter="blinds(horizontal)">
                                      <p:cBhvr>
                                        <p:cTn id="25" dur="500"/>
                                        <p:tgtEl>
                                          <p:spTgt spid="1628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162818" name="Rectangle 2"/>
          <p:cNvSpPr>
            <a:spLocks noGrp="1" noChangeArrowheads="1"/>
          </p:cNvSpPr>
          <p:nvPr>
            <p:ph type="title" idx="4294967295"/>
          </p:nvPr>
        </p:nvSpPr>
        <p:spPr>
          <a:xfrm>
            <a:off x="1503680" y="20955"/>
            <a:ext cx="5805170" cy="815975"/>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sym typeface="+mn-ea"/>
              </a:rPr>
              <a:t>课时安排与节点要求</a:t>
            </a:r>
          </a:p>
        </p:txBody>
      </p:sp>
      <p:graphicFrame>
        <p:nvGraphicFramePr>
          <p:cNvPr id="4194304" name="表格 1"/>
          <p:cNvGraphicFramePr/>
          <p:nvPr>
            <p:custDataLst>
              <p:tags r:id="rId3"/>
            </p:custDataLst>
            <p:extLst>
              <p:ext uri="{D42A27DB-BD31-4B8C-83A1-F6EECF244321}">
                <p14:modId xmlns:p14="http://schemas.microsoft.com/office/powerpoint/2010/main" val="1384366356"/>
              </p:ext>
            </p:extLst>
          </p:nvPr>
        </p:nvGraphicFramePr>
        <p:xfrm>
          <a:off x="179705" y="981075"/>
          <a:ext cx="8897620" cy="5444490"/>
        </p:xfrm>
        <a:graphic>
          <a:graphicData uri="http://schemas.openxmlformats.org/drawingml/2006/table">
            <a:tbl>
              <a:tblPr firstRow="1" bandRow="1">
                <a:tableStyleId>{93296810-A885-4BE3-A3E7-6D5BEEA58F35}</a:tableStyleId>
              </a:tblPr>
              <a:tblGrid>
                <a:gridCol w="701675">
                  <a:extLst>
                    <a:ext uri="{9D8B030D-6E8A-4147-A177-3AD203B41FA5}">
                      <a16:colId xmlns:a16="http://schemas.microsoft.com/office/drawing/2014/main" val="20000"/>
                    </a:ext>
                  </a:extLst>
                </a:gridCol>
                <a:gridCol w="1867535">
                  <a:extLst>
                    <a:ext uri="{9D8B030D-6E8A-4147-A177-3AD203B41FA5}">
                      <a16:colId xmlns:a16="http://schemas.microsoft.com/office/drawing/2014/main" val="20001"/>
                    </a:ext>
                  </a:extLst>
                </a:gridCol>
                <a:gridCol w="3571240">
                  <a:extLst>
                    <a:ext uri="{9D8B030D-6E8A-4147-A177-3AD203B41FA5}">
                      <a16:colId xmlns:a16="http://schemas.microsoft.com/office/drawing/2014/main" val="20002"/>
                    </a:ext>
                  </a:extLst>
                </a:gridCol>
                <a:gridCol w="2757170">
                  <a:extLst>
                    <a:ext uri="{9D8B030D-6E8A-4147-A177-3AD203B41FA5}">
                      <a16:colId xmlns:a16="http://schemas.microsoft.com/office/drawing/2014/main" val="20003"/>
                    </a:ext>
                  </a:extLst>
                </a:gridCol>
              </a:tblGrid>
              <a:tr h="457200">
                <a:tc>
                  <a:txBody>
                    <a:bodyPr/>
                    <a:lstStyle/>
                    <a:p>
                      <a:pPr>
                        <a:spcAft>
                          <a:spcPts val="0"/>
                        </a:spcAft>
                        <a:buNone/>
                      </a:pPr>
                      <a:r>
                        <a:rPr lang="zh-CN" altLang="en-US" sz="2400"/>
                        <a:t>周</a:t>
                      </a:r>
                    </a:p>
                  </a:txBody>
                  <a:tcPr/>
                </a:tc>
                <a:tc>
                  <a:txBody>
                    <a:bodyPr/>
                    <a:lstStyle/>
                    <a:p>
                      <a:pPr>
                        <a:buNone/>
                      </a:pPr>
                      <a:r>
                        <a:rPr lang="zh-CN" altLang="en-US" sz="2400"/>
                        <a:t>日期</a:t>
                      </a:r>
                    </a:p>
                  </a:txBody>
                  <a:tcPr/>
                </a:tc>
                <a:tc>
                  <a:txBody>
                    <a:bodyPr/>
                    <a:lstStyle/>
                    <a:p>
                      <a:pPr>
                        <a:buNone/>
                      </a:pPr>
                      <a:r>
                        <a:rPr lang="zh-CN" altLang="en-US" sz="2400"/>
                        <a:t>内容</a:t>
                      </a:r>
                    </a:p>
                  </a:txBody>
                  <a:tcPr/>
                </a:tc>
                <a:tc>
                  <a:txBody>
                    <a:bodyPr/>
                    <a:lstStyle/>
                    <a:p>
                      <a:pPr>
                        <a:buNone/>
                      </a:pPr>
                      <a:r>
                        <a:rPr lang="zh-CN" altLang="en-US" sz="2400" dirty="0"/>
                        <a:t>节点要求</a:t>
                      </a:r>
                    </a:p>
                  </a:txBody>
                  <a:tcPr/>
                </a:tc>
                <a:extLst>
                  <a:ext uri="{0D108BD9-81ED-4DB2-BD59-A6C34878D82A}">
                    <a16:rowId xmlns:a16="http://schemas.microsoft.com/office/drawing/2014/main" val="10000"/>
                  </a:ext>
                </a:extLst>
              </a:tr>
              <a:tr h="594360">
                <a:tc>
                  <a:txBody>
                    <a:bodyPr/>
                    <a:lstStyle/>
                    <a:p>
                      <a:pPr algn="l">
                        <a:buClrTx/>
                        <a:buSzTx/>
                        <a:buFontTx/>
                        <a:buNone/>
                      </a:pPr>
                      <a:r>
                        <a:rPr lang="en-US" altLang="zh-CN" sz="2400">
                          <a:solidFill>
                            <a:srgbClr val="0000FF"/>
                          </a:solidFill>
                        </a:rPr>
                        <a:t>1</a:t>
                      </a:r>
                    </a:p>
                  </a:txBody>
                  <a:tcPr/>
                </a:tc>
                <a:tc>
                  <a:txBody>
                    <a:bodyPr/>
                    <a:lstStyle/>
                    <a:p>
                      <a:pPr algn="l">
                        <a:buClrTx/>
                        <a:buSzTx/>
                        <a:buFontTx/>
                        <a:buNone/>
                      </a:pPr>
                      <a:r>
                        <a:rPr lang="en-US" altLang="zh-CN" sz="2400" dirty="0">
                          <a:solidFill>
                            <a:srgbClr val="0000FF"/>
                          </a:solidFill>
                        </a:rPr>
                        <a:t>2026-08-31</a:t>
                      </a:r>
                    </a:p>
                  </a:txBody>
                  <a:tcPr/>
                </a:tc>
                <a:tc>
                  <a:txBody>
                    <a:bodyPr/>
                    <a:lstStyle/>
                    <a:p>
                      <a:pPr algn="l">
                        <a:buClrTx/>
                        <a:buSzTx/>
                        <a:buFontTx/>
                        <a:buNone/>
                      </a:pPr>
                      <a:r>
                        <a:rPr lang="zh-CN" altLang="en-US" sz="2400">
                          <a:solidFill>
                            <a:srgbClr val="0000FF"/>
                          </a:solidFill>
                        </a:rPr>
                        <a:t>概述&amp;文献检索</a:t>
                      </a:r>
                    </a:p>
                  </a:txBody>
                  <a:tcPr/>
                </a:tc>
                <a:tc>
                  <a:txBody>
                    <a:bodyPr/>
                    <a:lstStyle/>
                    <a:p>
                      <a:pPr>
                        <a:buNone/>
                      </a:pPr>
                      <a:r>
                        <a:rPr lang="zh-CN" altLang="en-US" sz="2400" dirty="0">
                          <a:solidFill>
                            <a:srgbClr val="0000FF"/>
                          </a:solidFill>
                        </a:rPr>
                        <a:t>分组</a:t>
                      </a:r>
                    </a:p>
                  </a:txBody>
                  <a:tcPr/>
                </a:tc>
                <a:extLst>
                  <a:ext uri="{0D108BD9-81ED-4DB2-BD59-A6C34878D82A}">
                    <a16:rowId xmlns:a16="http://schemas.microsoft.com/office/drawing/2014/main" val="10001"/>
                  </a:ext>
                </a:extLst>
              </a:tr>
              <a:tr h="595630">
                <a:tc>
                  <a:txBody>
                    <a:bodyPr/>
                    <a:lstStyle/>
                    <a:p>
                      <a:pPr algn="l">
                        <a:buClrTx/>
                        <a:buSzTx/>
                        <a:buFontTx/>
                        <a:buNone/>
                      </a:pPr>
                      <a:r>
                        <a:rPr lang="en-US" altLang="zh-CN" sz="2400">
                          <a:solidFill>
                            <a:srgbClr val="0000FF"/>
                          </a:solidFill>
                        </a:rPr>
                        <a:t>2</a:t>
                      </a:r>
                    </a:p>
                  </a:txBody>
                  <a:tcPr/>
                </a:tc>
                <a:tc>
                  <a:txBody>
                    <a:bodyPr/>
                    <a:lstStyle/>
                    <a:p>
                      <a:pPr algn="l">
                        <a:buClrTx/>
                        <a:buSzTx/>
                        <a:buFontTx/>
                        <a:buNone/>
                      </a:pPr>
                      <a:r>
                        <a:rPr lang="en-US" altLang="zh-CN" sz="2400" dirty="0">
                          <a:solidFill>
                            <a:srgbClr val="0000FF"/>
                          </a:solidFill>
                          <a:sym typeface="+mn-ea"/>
                        </a:rPr>
                        <a:t>2026-09-14</a:t>
                      </a:r>
                    </a:p>
                  </a:txBody>
                  <a:tcPr/>
                </a:tc>
                <a:tc>
                  <a:txBody>
                    <a:bodyPr/>
                    <a:lstStyle/>
                    <a:p>
                      <a:pPr algn="l">
                        <a:buClrTx/>
                        <a:buSzTx/>
                        <a:buFontTx/>
                        <a:buNone/>
                      </a:pPr>
                      <a:r>
                        <a:rPr lang="zh-CN" altLang="en-US" sz="2400">
                          <a:solidFill>
                            <a:srgbClr val="0000FF"/>
                          </a:solidFill>
                        </a:rPr>
                        <a:t>文献综述论文撰写</a:t>
                      </a:r>
                    </a:p>
                  </a:txBody>
                  <a:tcPr/>
                </a:tc>
                <a:tc>
                  <a:txBody>
                    <a:bodyPr/>
                    <a:lstStyle/>
                    <a:p>
                      <a:pPr>
                        <a:buNone/>
                      </a:pPr>
                      <a:r>
                        <a:rPr lang="zh-CN" altLang="en-US" sz="2400" dirty="0">
                          <a:solidFill>
                            <a:srgbClr val="0000FF"/>
                          </a:solidFill>
                          <a:sym typeface="+mn-ea"/>
                        </a:rPr>
                        <a:t>小组选题</a:t>
                      </a:r>
                      <a:endParaRPr lang="zh-CN" altLang="en-US" sz="2400" dirty="0">
                        <a:solidFill>
                          <a:srgbClr val="0000FF"/>
                        </a:solidFill>
                      </a:endParaRPr>
                    </a:p>
                  </a:txBody>
                  <a:tcPr/>
                </a:tc>
                <a:extLst>
                  <a:ext uri="{0D108BD9-81ED-4DB2-BD59-A6C34878D82A}">
                    <a16:rowId xmlns:a16="http://schemas.microsoft.com/office/drawing/2014/main" val="10002"/>
                  </a:ext>
                </a:extLst>
              </a:tr>
              <a:tr h="594360">
                <a:tc>
                  <a:txBody>
                    <a:bodyPr/>
                    <a:lstStyle/>
                    <a:p>
                      <a:pPr algn="l">
                        <a:buClrTx/>
                        <a:buSzTx/>
                        <a:buFontTx/>
                        <a:buNone/>
                      </a:pPr>
                      <a:r>
                        <a:rPr lang="en-US" altLang="zh-CN" sz="2400">
                          <a:solidFill>
                            <a:srgbClr val="0000FF"/>
                          </a:solidFill>
                        </a:rPr>
                        <a:t>3</a:t>
                      </a:r>
                    </a:p>
                  </a:txBody>
                  <a:tcPr/>
                </a:tc>
                <a:tc>
                  <a:txBody>
                    <a:bodyPr/>
                    <a:lstStyle/>
                    <a:p>
                      <a:pPr algn="l">
                        <a:buClrTx/>
                        <a:buSzTx/>
                        <a:buFontTx/>
                        <a:buNone/>
                      </a:pPr>
                      <a:r>
                        <a:rPr lang="en-US" altLang="zh-CN" sz="2400" dirty="0">
                          <a:solidFill>
                            <a:srgbClr val="0000FF"/>
                          </a:solidFill>
                          <a:sym typeface="+mn-ea"/>
                        </a:rPr>
                        <a:t>2026-09-21</a:t>
                      </a:r>
                    </a:p>
                  </a:txBody>
                  <a:tcPr/>
                </a:tc>
                <a:tc>
                  <a:txBody>
                    <a:bodyPr/>
                    <a:lstStyle/>
                    <a:p>
                      <a:pPr algn="l">
                        <a:buClrTx/>
                        <a:buSzTx/>
                        <a:buFontTx/>
                        <a:buNone/>
                      </a:pPr>
                      <a:r>
                        <a:rPr lang="zh-CN" altLang="en-US" sz="2400">
                          <a:solidFill>
                            <a:srgbClr val="0000FF"/>
                          </a:solidFill>
                          <a:sym typeface="+mn-ea"/>
                        </a:rPr>
                        <a:t>学位论文写作规范</a:t>
                      </a:r>
                      <a:endParaRPr lang="zh-CN" altLang="en-US" sz="2400">
                        <a:solidFill>
                          <a:srgbClr val="0000FF"/>
                        </a:solidFill>
                      </a:endParaRPr>
                    </a:p>
                  </a:txBody>
                  <a:tcPr/>
                </a:tc>
                <a:tc>
                  <a:txBody>
                    <a:bodyPr/>
                    <a:lstStyle/>
                    <a:p>
                      <a:pPr>
                        <a:buNone/>
                      </a:pPr>
                      <a:r>
                        <a:rPr lang="zh-CN" altLang="en-US" sz="2400">
                          <a:solidFill>
                            <a:srgbClr val="0000FF"/>
                          </a:solidFill>
                        </a:rPr>
                        <a:t>提交论文大纲</a:t>
                      </a:r>
                    </a:p>
                  </a:txBody>
                  <a:tcPr/>
                </a:tc>
                <a:extLst>
                  <a:ext uri="{0D108BD9-81ED-4DB2-BD59-A6C34878D82A}">
                    <a16:rowId xmlns:a16="http://schemas.microsoft.com/office/drawing/2014/main" val="10003"/>
                  </a:ext>
                </a:extLst>
              </a:tr>
              <a:tr h="595630">
                <a:tc>
                  <a:txBody>
                    <a:bodyPr/>
                    <a:lstStyle/>
                    <a:p>
                      <a:pPr algn="l">
                        <a:buClrTx/>
                        <a:buSzTx/>
                        <a:buFontTx/>
                        <a:buNone/>
                      </a:pPr>
                      <a:r>
                        <a:rPr lang="en-US" altLang="zh-CN" sz="2400">
                          <a:solidFill>
                            <a:srgbClr val="0000FF"/>
                          </a:solidFill>
                        </a:rPr>
                        <a:t>4</a:t>
                      </a:r>
                    </a:p>
                  </a:txBody>
                  <a:tcPr/>
                </a:tc>
                <a:tc>
                  <a:txBody>
                    <a:bodyPr/>
                    <a:lstStyle/>
                    <a:p>
                      <a:pPr algn="l">
                        <a:buClrTx/>
                        <a:buSzTx/>
                        <a:buFontTx/>
                        <a:buNone/>
                      </a:pPr>
                      <a:r>
                        <a:rPr lang="en-US" altLang="zh-CN" sz="2400" dirty="0">
                          <a:solidFill>
                            <a:srgbClr val="0000FF"/>
                          </a:solidFill>
                          <a:sym typeface="+mn-ea"/>
                        </a:rPr>
                        <a:t>2026-09-28</a:t>
                      </a:r>
                    </a:p>
                  </a:txBody>
                  <a:tcPr/>
                </a:tc>
                <a:tc>
                  <a:txBody>
                    <a:bodyPr/>
                    <a:lstStyle/>
                    <a:p>
                      <a:pPr algn="l">
                        <a:buClrTx/>
                        <a:buSzTx/>
                        <a:buFontTx/>
                        <a:buNone/>
                      </a:pPr>
                      <a:r>
                        <a:rPr lang="zh-CN" altLang="en-US" sz="2400" dirty="0">
                          <a:solidFill>
                            <a:srgbClr val="0000FF"/>
                          </a:solidFill>
                          <a:sym typeface="+mn-ea"/>
                        </a:rPr>
                        <a:t>论文/报告/专利写作</a:t>
                      </a:r>
                      <a:endParaRPr lang="zh-CN" altLang="en-US" sz="2400" dirty="0">
                        <a:solidFill>
                          <a:srgbClr val="0000FF"/>
                        </a:solidFill>
                      </a:endParaRPr>
                    </a:p>
                  </a:txBody>
                  <a:tcPr/>
                </a:tc>
                <a:tc>
                  <a:txBody>
                    <a:bodyPr/>
                    <a:lstStyle/>
                    <a:p>
                      <a:pPr>
                        <a:buNone/>
                      </a:pPr>
                      <a:r>
                        <a:rPr lang="zh-CN" altLang="en-US" sz="2400" dirty="0">
                          <a:solidFill>
                            <a:srgbClr val="0000FF"/>
                          </a:solidFill>
                        </a:rPr>
                        <a:t>提交第</a:t>
                      </a:r>
                      <a:r>
                        <a:rPr lang="en-US" altLang="zh-CN" sz="2400" dirty="0">
                          <a:solidFill>
                            <a:srgbClr val="0000FF"/>
                          </a:solidFill>
                        </a:rPr>
                        <a:t>1</a:t>
                      </a:r>
                      <a:r>
                        <a:rPr lang="zh-CN" altLang="en-US" sz="2400" dirty="0">
                          <a:solidFill>
                            <a:srgbClr val="0000FF"/>
                          </a:solidFill>
                        </a:rPr>
                        <a:t>次初稿</a:t>
                      </a:r>
                    </a:p>
                  </a:txBody>
                  <a:tcPr/>
                </a:tc>
                <a:extLst>
                  <a:ext uri="{0D108BD9-81ED-4DB2-BD59-A6C34878D82A}">
                    <a16:rowId xmlns:a16="http://schemas.microsoft.com/office/drawing/2014/main" val="10004"/>
                  </a:ext>
                </a:extLst>
              </a:tr>
              <a:tr h="594360">
                <a:tc>
                  <a:txBody>
                    <a:bodyPr/>
                    <a:lstStyle/>
                    <a:p>
                      <a:pPr algn="l">
                        <a:buClrTx/>
                        <a:buSzTx/>
                        <a:buFontTx/>
                        <a:buNone/>
                      </a:pPr>
                      <a:r>
                        <a:rPr lang="en-US" altLang="zh-CN" sz="2400">
                          <a:solidFill>
                            <a:srgbClr val="0000FF"/>
                          </a:solidFill>
                        </a:rPr>
                        <a:t>5</a:t>
                      </a:r>
                    </a:p>
                  </a:txBody>
                  <a:tcPr/>
                </a:tc>
                <a:tc>
                  <a:txBody>
                    <a:bodyPr/>
                    <a:lstStyle/>
                    <a:p>
                      <a:pPr algn="l">
                        <a:buClrTx/>
                        <a:buSzTx/>
                        <a:buFontTx/>
                        <a:buNone/>
                      </a:pPr>
                      <a:r>
                        <a:rPr lang="en-US" altLang="zh-CN" sz="2400" dirty="0">
                          <a:solidFill>
                            <a:srgbClr val="0000FF"/>
                          </a:solidFill>
                        </a:rPr>
                        <a:t>2026-10-12</a:t>
                      </a:r>
                    </a:p>
                  </a:txBody>
                  <a:tcPr/>
                </a:tc>
                <a:tc>
                  <a:txBody>
                    <a:bodyPr/>
                    <a:lstStyle/>
                    <a:p>
                      <a:pPr algn="l">
                        <a:buClrTx/>
                        <a:buSzTx/>
                        <a:buFontTx/>
                        <a:buNone/>
                      </a:pPr>
                      <a:r>
                        <a:rPr lang="zh-CN" altLang="en-US" sz="2400" dirty="0">
                          <a:solidFill>
                            <a:srgbClr val="0000FF"/>
                          </a:solidFill>
                          <a:sym typeface="+mn-ea"/>
                        </a:rPr>
                        <a:t>范文讲解与写作问题研讨</a:t>
                      </a:r>
                    </a:p>
                  </a:txBody>
                  <a:tcPr/>
                </a:tc>
                <a:tc>
                  <a:txBody>
                    <a:bodyPr/>
                    <a:lstStyle/>
                    <a:p>
                      <a:pPr>
                        <a:buNone/>
                      </a:pPr>
                      <a:r>
                        <a:rPr lang="zh-CN" altLang="en-US" sz="2400">
                          <a:solidFill>
                            <a:srgbClr val="0000FF"/>
                          </a:solidFill>
                          <a:sym typeface="+mn-ea"/>
                        </a:rPr>
                        <a:t>提交第</a:t>
                      </a:r>
                      <a:r>
                        <a:rPr lang="en-US" altLang="zh-CN" sz="2400">
                          <a:solidFill>
                            <a:srgbClr val="0000FF"/>
                          </a:solidFill>
                          <a:sym typeface="+mn-ea"/>
                        </a:rPr>
                        <a:t>2</a:t>
                      </a:r>
                      <a:r>
                        <a:rPr lang="zh-CN" altLang="en-US" sz="2400">
                          <a:solidFill>
                            <a:srgbClr val="0000FF"/>
                          </a:solidFill>
                          <a:sym typeface="+mn-ea"/>
                        </a:rPr>
                        <a:t>次初稿</a:t>
                      </a:r>
                      <a:endParaRPr lang="zh-CN" altLang="en-US" sz="2400">
                        <a:solidFill>
                          <a:srgbClr val="0000FF"/>
                        </a:solidFill>
                      </a:endParaRPr>
                    </a:p>
                  </a:txBody>
                  <a:tcPr/>
                </a:tc>
                <a:extLst>
                  <a:ext uri="{0D108BD9-81ED-4DB2-BD59-A6C34878D82A}">
                    <a16:rowId xmlns:a16="http://schemas.microsoft.com/office/drawing/2014/main" val="10005"/>
                  </a:ext>
                </a:extLst>
              </a:tr>
              <a:tr h="595630">
                <a:tc>
                  <a:txBody>
                    <a:bodyPr/>
                    <a:lstStyle/>
                    <a:p>
                      <a:pPr algn="l">
                        <a:buClrTx/>
                        <a:buSzTx/>
                        <a:buFontTx/>
                        <a:buNone/>
                      </a:pPr>
                      <a:r>
                        <a:rPr lang="en-US" altLang="zh-CN" sz="2400">
                          <a:solidFill>
                            <a:srgbClr val="0000FF"/>
                          </a:solidFill>
                        </a:rPr>
                        <a:t>6</a:t>
                      </a:r>
                    </a:p>
                  </a:txBody>
                  <a:tcPr/>
                </a:tc>
                <a:tc>
                  <a:txBody>
                    <a:bodyPr/>
                    <a:lstStyle/>
                    <a:p>
                      <a:pPr algn="l">
                        <a:buClrTx/>
                        <a:buSzTx/>
                        <a:buFontTx/>
                        <a:buNone/>
                      </a:pPr>
                      <a:r>
                        <a:rPr lang="en-US" altLang="zh-CN" sz="2400" dirty="0">
                          <a:solidFill>
                            <a:srgbClr val="0000FF"/>
                          </a:solidFill>
                        </a:rPr>
                        <a:t>2026-10-19</a:t>
                      </a:r>
                    </a:p>
                  </a:txBody>
                  <a:tcPr/>
                </a:tc>
                <a:tc>
                  <a:txBody>
                    <a:bodyPr/>
                    <a:lstStyle/>
                    <a:p>
                      <a:pPr algn="l">
                        <a:buClrTx/>
                        <a:buSzTx/>
                        <a:buFontTx/>
                        <a:buNone/>
                      </a:pPr>
                      <a:r>
                        <a:rPr lang="zh-CN" altLang="en-US" sz="2400" dirty="0">
                          <a:solidFill>
                            <a:srgbClr val="0000FF"/>
                          </a:solidFill>
                          <a:sym typeface="+mn-ea"/>
                        </a:rPr>
                        <a:t>专利等写作范文讲解</a:t>
                      </a:r>
                    </a:p>
                  </a:txBody>
                  <a:tcPr/>
                </a:tc>
                <a:tc>
                  <a:txBody>
                    <a:bodyPr/>
                    <a:lstStyle/>
                    <a:p>
                      <a:pPr algn="l">
                        <a:buClrTx/>
                        <a:buSzTx/>
                        <a:buFontTx/>
                        <a:buNone/>
                      </a:pPr>
                      <a:r>
                        <a:rPr lang="zh-CN" altLang="en-US" sz="2400">
                          <a:solidFill>
                            <a:srgbClr val="0000FF"/>
                          </a:solidFill>
                          <a:sym typeface="+mn-ea"/>
                        </a:rPr>
                        <a:t>提交论文初稿</a:t>
                      </a:r>
                      <a:endParaRPr lang="zh-CN" altLang="en-US" sz="2400">
                        <a:solidFill>
                          <a:srgbClr val="0000FF"/>
                        </a:solidFill>
                      </a:endParaRPr>
                    </a:p>
                  </a:txBody>
                  <a:tcPr/>
                </a:tc>
                <a:extLst>
                  <a:ext uri="{0D108BD9-81ED-4DB2-BD59-A6C34878D82A}">
                    <a16:rowId xmlns:a16="http://schemas.microsoft.com/office/drawing/2014/main" val="10006"/>
                  </a:ext>
                </a:extLst>
              </a:tr>
              <a:tr h="594360">
                <a:tc>
                  <a:txBody>
                    <a:bodyPr/>
                    <a:lstStyle/>
                    <a:p>
                      <a:pPr algn="l">
                        <a:buClrTx/>
                        <a:buSzTx/>
                        <a:buFontTx/>
                        <a:buNone/>
                      </a:pPr>
                      <a:r>
                        <a:rPr lang="en-US" altLang="zh-CN" sz="2400">
                          <a:solidFill>
                            <a:srgbClr val="0000FF"/>
                          </a:solidFill>
                        </a:rPr>
                        <a:t>7</a:t>
                      </a:r>
                    </a:p>
                  </a:txBody>
                  <a:tcPr/>
                </a:tc>
                <a:tc>
                  <a:txBody>
                    <a:bodyPr/>
                    <a:lstStyle/>
                    <a:p>
                      <a:pPr algn="l">
                        <a:buClrTx/>
                        <a:buSzTx/>
                        <a:buFontTx/>
                        <a:buNone/>
                      </a:pPr>
                      <a:r>
                        <a:rPr lang="en-US" altLang="zh-CN" sz="2400" dirty="0">
                          <a:solidFill>
                            <a:srgbClr val="0000FF"/>
                          </a:solidFill>
                        </a:rPr>
                        <a:t>2026-10-26</a:t>
                      </a:r>
                    </a:p>
                  </a:txBody>
                  <a:tcPr/>
                </a:tc>
                <a:tc>
                  <a:txBody>
                    <a:bodyPr/>
                    <a:lstStyle/>
                    <a:p>
                      <a:pPr algn="l">
                        <a:buClrTx/>
                        <a:buSzTx/>
                        <a:buFontTx/>
                        <a:buNone/>
                      </a:pPr>
                      <a:r>
                        <a:rPr lang="zh-CN" altLang="en-US" sz="2400">
                          <a:solidFill>
                            <a:srgbClr val="0000FF"/>
                          </a:solidFill>
                          <a:sym typeface="+mn-ea"/>
                        </a:rPr>
                        <a:t>习作评讲</a:t>
                      </a:r>
                    </a:p>
                  </a:txBody>
                  <a:tcPr/>
                </a:tc>
                <a:tc>
                  <a:txBody>
                    <a:bodyPr/>
                    <a:lstStyle/>
                    <a:p>
                      <a:pPr algn="l">
                        <a:buClrTx/>
                        <a:buSzTx/>
                        <a:buFontTx/>
                        <a:buNone/>
                      </a:pPr>
                      <a:r>
                        <a:rPr lang="zh-CN" altLang="en-US" sz="2400" dirty="0">
                          <a:solidFill>
                            <a:srgbClr val="0000FF"/>
                          </a:solidFill>
                        </a:rPr>
                        <a:t>提交第</a:t>
                      </a:r>
                      <a:r>
                        <a:rPr lang="en-US" altLang="zh-CN" sz="2400" dirty="0">
                          <a:solidFill>
                            <a:srgbClr val="0000FF"/>
                          </a:solidFill>
                        </a:rPr>
                        <a:t>3</a:t>
                      </a:r>
                      <a:r>
                        <a:rPr lang="zh-CN" altLang="en-US" sz="2400" dirty="0">
                          <a:solidFill>
                            <a:srgbClr val="0000FF"/>
                          </a:solidFill>
                        </a:rPr>
                        <a:t>版论文</a:t>
                      </a:r>
                    </a:p>
                  </a:txBody>
                  <a:tcPr/>
                </a:tc>
                <a:extLst>
                  <a:ext uri="{0D108BD9-81ED-4DB2-BD59-A6C34878D82A}">
                    <a16:rowId xmlns:a16="http://schemas.microsoft.com/office/drawing/2014/main" val="10007"/>
                  </a:ext>
                </a:extLst>
              </a:tr>
              <a:tr h="822960">
                <a:tc>
                  <a:txBody>
                    <a:bodyPr/>
                    <a:lstStyle/>
                    <a:p>
                      <a:pPr algn="l">
                        <a:buClrTx/>
                        <a:buSzTx/>
                        <a:buFontTx/>
                        <a:buNone/>
                      </a:pPr>
                      <a:r>
                        <a:rPr lang="en-US" altLang="zh-CN" sz="2400">
                          <a:solidFill>
                            <a:srgbClr val="0000FF"/>
                          </a:solidFill>
                        </a:rPr>
                        <a:t>8</a:t>
                      </a:r>
                    </a:p>
                  </a:txBody>
                  <a:tcPr/>
                </a:tc>
                <a:tc>
                  <a:txBody>
                    <a:bodyPr/>
                    <a:lstStyle/>
                    <a:p>
                      <a:pPr algn="l">
                        <a:buClrTx/>
                        <a:buSzTx/>
                        <a:buFontTx/>
                        <a:buNone/>
                      </a:pPr>
                      <a:r>
                        <a:rPr lang="en-US" altLang="zh-CN" sz="2400" dirty="0">
                          <a:solidFill>
                            <a:srgbClr val="0000FF"/>
                          </a:solidFill>
                        </a:rPr>
                        <a:t>2026-11-02</a:t>
                      </a:r>
                    </a:p>
                  </a:txBody>
                  <a:tcPr/>
                </a:tc>
                <a:tc>
                  <a:txBody>
                    <a:bodyPr/>
                    <a:lstStyle/>
                    <a:p>
                      <a:pPr algn="l">
                        <a:buClrTx/>
                        <a:buSzTx/>
                        <a:buFontTx/>
                        <a:buNone/>
                      </a:pPr>
                      <a:r>
                        <a:rPr lang="zh-CN" altLang="en-US" sz="2400">
                          <a:solidFill>
                            <a:srgbClr val="0000FF"/>
                          </a:solidFill>
                          <a:sym typeface="+mn-ea"/>
                        </a:rPr>
                        <a:t>课程汇报与研讨</a:t>
                      </a:r>
                    </a:p>
                  </a:txBody>
                  <a:tcPr/>
                </a:tc>
                <a:tc>
                  <a:txBody>
                    <a:bodyPr/>
                    <a:lstStyle/>
                    <a:p>
                      <a:pPr algn="l">
                        <a:buClrTx/>
                        <a:buSzTx/>
                        <a:buFontTx/>
                        <a:buNone/>
                      </a:pPr>
                      <a:r>
                        <a:rPr lang="zh-CN" altLang="en-US" sz="2400" dirty="0">
                          <a:solidFill>
                            <a:srgbClr val="0000FF"/>
                          </a:solidFill>
                        </a:rPr>
                        <a:t>再次修改并汇报</a:t>
                      </a:r>
                    </a:p>
                  </a:txBody>
                  <a:tcP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4177215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162818" name="Rectangle 2"/>
          <p:cNvSpPr>
            <a:spLocks noGrp="1" noChangeArrowheads="1"/>
          </p:cNvSpPr>
          <p:nvPr>
            <p:ph type="title" idx="4294967295"/>
          </p:nvPr>
        </p:nvSpPr>
        <p:spPr>
          <a:xfrm>
            <a:off x="2555875" y="20638"/>
            <a:ext cx="4752975" cy="815975"/>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sym typeface="+mn-ea"/>
              </a:rPr>
              <a:t>课程简介（续）</a:t>
            </a:r>
          </a:p>
        </p:txBody>
      </p:sp>
      <p:sp>
        <p:nvSpPr>
          <p:cNvPr id="162819" name="Rectangle 3"/>
          <p:cNvSpPr>
            <a:spLocks noChangeArrowheads="1"/>
          </p:cNvSpPr>
          <p:nvPr/>
        </p:nvSpPr>
        <p:spPr bwMode="auto">
          <a:xfrm>
            <a:off x="900113" y="991235"/>
            <a:ext cx="3527425" cy="1014730"/>
          </a:xfrm>
          <a:prstGeom prst="rect">
            <a:avLst/>
          </a:prstGeom>
          <a:noFill/>
          <a:ln w="9525">
            <a:noFill/>
            <a:miter lim="800000"/>
          </a:ln>
          <a:effectLst/>
        </p:spPr>
        <p:txBody>
          <a:bodyPr anchor="ct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base" latinLnBrk="0" hangingPunct="1">
              <a:lnSpc>
                <a:spcPct val="150000"/>
              </a:lnSpc>
              <a:spcBef>
                <a:spcPct val="0"/>
              </a:spcBef>
              <a:spcAft>
                <a:spcPts val="0"/>
              </a:spcAft>
              <a:buClrTx/>
              <a:buSzTx/>
              <a:buFont typeface="Wingdings" panose="05000000000000000000" pitchFamily="2" charset="2"/>
              <a:buChar char="u"/>
              <a:defRPr/>
            </a:pPr>
            <a:r>
              <a:rPr kumimoji="1" lang="zh-CN" altLang="en-US" sz="4000" b="1" i="0" u="none" strike="noStrike" kern="1200" cap="none" spc="0" normalizeH="0" baseline="0" noProof="0" dirty="0">
                <a:ln>
                  <a:noFill/>
                </a:ln>
                <a:solidFill>
                  <a:srgbClr val="0000FF"/>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 课程特点</a:t>
            </a:r>
          </a:p>
        </p:txBody>
      </p:sp>
      <p:sp>
        <p:nvSpPr>
          <p:cNvPr id="5" name="Text Box 3"/>
          <p:cNvSpPr txBox="1">
            <a:spLocks noChangeArrowheads="1"/>
          </p:cNvSpPr>
          <p:nvPr/>
        </p:nvSpPr>
        <p:spPr bwMode="auto">
          <a:xfrm>
            <a:off x="1042988" y="2070100"/>
            <a:ext cx="7993063" cy="2122170"/>
          </a:xfrm>
          <a:prstGeom prst="rect">
            <a:avLst/>
          </a:prstGeom>
          <a:noFill/>
          <a:ln w="9525">
            <a:noFill/>
            <a:miter lim="800000"/>
          </a:ln>
        </p:spPr>
        <p:txBody>
          <a:bodyPr lIns="90000" tIns="46800" rIns="90000" bIns="46800">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base" latinLnBrk="0" hangingPunct="1">
              <a:lnSpc>
                <a:spcPct val="110000"/>
              </a:lnSpc>
              <a:spcBef>
                <a:spcPct val="0"/>
              </a:spcBef>
              <a:spcAft>
                <a:spcPts val="0"/>
              </a:spcAft>
              <a:buClrTx/>
              <a:buSzTx/>
              <a:buFontTx/>
              <a:buAutoNum type="arabicPeriod"/>
              <a:defRPr/>
            </a:pPr>
            <a:r>
              <a:rPr kumimoji="1" lang="zh-CN" altLang="en-US"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内容丰富，课时有限，部分内容要求同学自修</a:t>
            </a:r>
            <a:r>
              <a:rPr kumimoji="1" lang="en-US" altLang="zh-CN"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a:t>
            </a:r>
          </a:p>
          <a:p>
            <a:pPr marL="457200" marR="0" lvl="0" indent="-457200" algn="l" defTabSz="914400" rtl="0" eaLnBrk="1" fontAlgn="base" latinLnBrk="0" hangingPunct="1">
              <a:lnSpc>
                <a:spcPct val="110000"/>
              </a:lnSpc>
              <a:spcBef>
                <a:spcPts val="0"/>
              </a:spcBef>
              <a:spcAft>
                <a:spcPts val="0"/>
              </a:spcAft>
              <a:buClrTx/>
              <a:buSzTx/>
              <a:buFontTx/>
              <a:buAutoNum type="arabicPeriod"/>
              <a:defRPr/>
            </a:pPr>
            <a:r>
              <a:rPr kumimoji="1" lang="zh-CN" altLang="en-US"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理论学习</a:t>
            </a:r>
            <a:r>
              <a:rPr kumimoji="1" lang="en-US" altLang="zh-CN"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(12</a:t>
            </a:r>
            <a:r>
              <a:rPr kumimoji="1" lang="zh-CN" altLang="en-US"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学时</a:t>
            </a:r>
            <a:r>
              <a:rPr kumimoji="1" lang="en-US" altLang="zh-CN"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a:t>
            </a:r>
          </a:p>
          <a:p>
            <a:pPr marL="457200" marR="0" lvl="0" indent="-457200" algn="l" defTabSz="914400" rtl="0" eaLnBrk="1" fontAlgn="base" latinLnBrk="0" hangingPunct="1">
              <a:lnSpc>
                <a:spcPct val="110000"/>
              </a:lnSpc>
              <a:spcBef>
                <a:spcPts val="0"/>
              </a:spcBef>
              <a:spcAft>
                <a:spcPts val="0"/>
              </a:spcAft>
              <a:buClrTx/>
              <a:buSzTx/>
              <a:buFontTx/>
              <a:buAutoNum type="arabicPeriod"/>
              <a:defRPr/>
            </a:pPr>
            <a:r>
              <a:rPr kumimoji="1" lang="zh-CN" altLang="en-US"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写作交流（</a:t>
            </a:r>
            <a:r>
              <a:rPr kumimoji="1" lang="en-US" altLang="zh-CN"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4</a:t>
            </a:r>
            <a:r>
              <a:rPr kumimoji="1" lang="zh-CN" altLang="en-US"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学时）包含</a:t>
            </a:r>
          </a:p>
          <a:p>
            <a:pPr marR="0" lvl="1" algn="l" defTabSz="914400" rtl="0" eaLnBrk="1" fontAlgn="base" latinLnBrk="0" hangingPunct="1">
              <a:lnSpc>
                <a:spcPct val="110000"/>
              </a:lnSpc>
              <a:spcBef>
                <a:spcPts val="0"/>
              </a:spcBef>
              <a:spcAft>
                <a:spcPts val="0"/>
              </a:spcAft>
              <a:buClrTx/>
              <a:buSzTx/>
              <a:buFont typeface="Wingdings" panose="05000000000000000000" charset="0"/>
              <a:buChar char="p"/>
              <a:defRPr/>
            </a:pPr>
            <a:r>
              <a:rPr kumimoji="1" lang="zh-CN"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习作公共问题范文点评（90分钟）</a:t>
            </a:r>
          </a:p>
          <a:p>
            <a:pPr marR="0" lvl="1" algn="l" defTabSz="914400" rtl="0" eaLnBrk="1" fontAlgn="base" latinLnBrk="0" hangingPunct="1">
              <a:lnSpc>
                <a:spcPct val="110000"/>
              </a:lnSpc>
              <a:spcBef>
                <a:spcPts val="0"/>
              </a:spcBef>
              <a:spcAft>
                <a:spcPct val="0"/>
              </a:spcAft>
              <a:buClrTx/>
              <a:buSzTx/>
              <a:buFont typeface="Wingdings" panose="05000000000000000000" charset="0"/>
              <a:buChar char="p"/>
              <a:defRPr/>
            </a:pPr>
            <a:r>
              <a:rPr kumimoji="1" lang="zh-CN"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分</a:t>
            </a:r>
            <a:r>
              <a:rPr lang="zh-CN"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rPr>
              <a:t>组汇报写作课程报告（</a:t>
            </a:r>
            <a:r>
              <a:rPr lang="en-US" altLang="zh-CN"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rPr>
              <a:t>90</a:t>
            </a:r>
            <a:r>
              <a:rPr lang="zh-CN" altLang="en-US"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rPr>
              <a:t>分钟，每组</a:t>
            </a:r>
            <a:r>
              <a:rPr lang="en-US" altLang="zh-CN" sz="2400" b="1" dirty="0">
                <a:solidFill>
                  <a:srgbClr val="000000"/>
                </a:solidFill>
                <a:effectLst>
                  <a:outerShdw blurRad="38100" dist="38100" dir="2700000" algn="tl">
                    <a:srgbClr val="000000"/>
                  </a:outerShdw>
                </a:effectLst>
                <a:latin typeface="黑体" panose="02010609060101010101" charset="-122"/>
                <a:ea typeface="黑体" panose="02010609060101010101" charset="-122"/>
                <a:cs typeface="黑体" panose="02010609060101010101" charset="-122"/>
                <a:sym typeface="+mn-ea"/>
              </a:rPr>
              <a:t>9</a:t>
            </a:r>
            <a:r>
              <a:rPr lang="zh-CN" altLang="en-US"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rPr>
              <a:t>分钟</a:t>
            </a:r>
            <a:r>
              <a:rPr lang="zh-CN"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rPr>
              <a:t>）</a:t>
            </a:r>
            <a:endParaRPr kumimoji="1" lang="en-US" altLang="zh-CN" sz="24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sym typeface="+mn-ea"/>
            </a:endParaRPr>
          </a:p>
        </p:txBody>
      </p:sp>
      <p:sp>
        <p:nvSpPr>
          <p:cNvPr id="6" name="Rectangle 3"/>
          <p:cNvSpPr>
            <a:spLocks noChangeArrowheads="1"/>
          </p:cNvSpPr>
          <p:nvPr/>
        </p:nvSpPr>
        <p:spPr bwMode="auto">
          <a:xfrm>
            <a:off x="827088" y="4077018"/>
            <a:ext cx="4105275" cy="1014730"/>
          </a:xfrm>
          <a:prstGeom prst="rect">
            <a:avLst/>
          </a:prstGeom>
          <a:noFill/>
          <a:ln w="9525">
            <a:noFill/>
            <a:miter lim="800000"/>
          </a:ln>
          <a:effectLst/>
        </p:spPr>
        <p:txBody>
          <a:bodyPr anchor="ct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base" latinLnBrk="0" hangingPunct="1">
              <a:lnSpc>
                <a:spcPct val="150000"/>
              </a:lnSpc>
              <a:spcBef>
                <a:spcPct val="0"/>
              </a:spcBef>
              <a:spcAft>
                <a:spcPts val="0"/>
              </a:spcAft>
              <a:buClrTx/>
              <a:buSzTx/>
              <a:buFont typeface="Wingdings" panose="05000000000000000000" pitchFamily="2" charset="2"/>
              <a:buChar char="u"/>
              <a:defRPr/>
            </a:pPr>
            <a:r>
              <a:rPr kumimoji="1" lang="zh-CN" altLang="en-US" sz="4000" b="1" i="0" u="none" strike="noStrike" kern="1200" cap="none" spc="0" normalizeH="0" baseline="0" noProof="0" dirty="0">
                <a:ln>
                  <a:noFill/>
                </a:ln>
                <a:solidFill>
                  <a:srgbClr val="0000FF"/>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 课程成绩构成</a:t>
            </a:r>
          </a:p>
        </p:txBody>
      </p:sp>
      <p:sp>
        <p:nvSpPr>
          <p:cNvPr id="7" name="Rectangle 3"/>
          <p:cNvSpPr>
            <a:spLocks noChangeArrowheads="1"/>
          </p:cNvSpPr>
          <p:nvPr/>
        </p:nvSpPr>
        <p:spPr bwMode="auto">
          <a:xfrm>
            <a:off x="1043305" y="5115243"/>
            <a:ext cx="8028305" cy="1308735"/>
          </a:xfrm>
          <a:prstGeom prst="rect">
            <a:avLst/>
          </a:prstGeom>
          <a:noFill/>
          <a:ln w="9525">
            <a:noFill/>
            <a:miter lim="800000"/>
          </a:ln>
          <a:effectLst/>
        </p:spPr>
        <p:txBody>
          <a:bodyPr wrap="square" anchor="ctr">
            <a:spAutoFit/>
          </a:bodyPr>
          <a:lstStyle>
            <a:lvl1pPr marL="514350" indent="-51435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514350" marR="0" lvl="0" indent="-514350" algn="l" defTabSz="914400" rtl="0" eaLnBrk="1" fontAlgn="base" latinLnBrk="0" hangingPunct="1">
              <a:lnSpc>
                <a:spcPct val="110000"/>
              </a:lnSpc>
              <a:spcBef>
                <a:spcPct val="0"/>
              </a:spcBef>
              <a:spcAft>
                <a:spcPts val="0"/>
              </a:spcAft>
              <a:buClrTx/>
              <a:buSzTx/>
              <a:buFont typeface="Times New Roman" panose="02020603050405020304" pitchFamily="18" charset="0"/>
              <a:buAutoNum type="arabicPeriod"/>
              <a:defRPr/>
            </a:pPr>
            <a:r>
              <a:rPr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课</a:t>
            </a:r>
            <a:r>
              <a:rPr lang="zh-CN"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堂</a:t>
            </a:r>
            <a:r>
              <a:rPr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报告（</a:t>
            </a:r>
            <a:r>
              <a:rPr lang="zh-CN"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分组</a:t>
            </a:r>
            <a:r>
              <a:rPr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提交文献综述论文等）：</a:t>
            </a:r>
            <a:r>
              <a:rPr lang="en-US"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3</a:t>
            </a:r>
            <a:r>
              <a:rPr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0%</a:t>
            </a:r>
          </a:p>
          <a:p>
            <a:pPr marL="514350" marR="0" lvl="0" indent="-514350" algn="l" defTabSz="914400" rtl="0" eaLnBrk="1" fontAlgn="base" latinLnBrk="0" hangingPunct="1">
              <a:lnSpc>
                <a:spcPct val="110000"/>
              </a:lnSpc>
              <a:spcBef>
                <a:spcPts val="0"/>
              </a:spcBef>
              <a:spcAft>
                <a:spcPts val="0"/>
              </a:spcAft>
              <a:buClrTx/>
              <a:buSzTx/>
              <a:buFont typeface="Times New Roman" panose="02020603050405020304" pitchFamily="18" charset="0"/>
              <a:buAutoNum type="arabicPeriod"/>
              <a:defRPr/>
            </a:pPr>
            <a:r>
              <a:rPr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平时作业（课堂/课下作业内容）</a:t>
            </a:r>
            <a:r>
              <a:rPr lang="zh-CN"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a:t>
            </a:r>
            <a:r>
              <a:rPr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30%</a:t>
            </a:r>
          </a:p>
          <a:p>
            <a:pPr marL="514350" marR="0" lvl="0" indent="-514350" algn="l" defTabSz="914400" rtl="0" eaLnBrk="1" fontAlgn="base" latinLnBrk="0" hangingPunct="1">
              <a:lnSpc>
                <a:spcPct val="110000"/>
              </a:lnSpc>
              <a:spcBef>
                <a:spcPts val="0"/>
              </a:spcBef>
              <a:spcAft>
                <a:spcPct val="0"/>
              </a:spcAft>
              <a:buClrTx/>
              <a:buSzTx/>
              <a:buFont typeface="Times New Roman" panose="02020603050405020304" pitchFamily="18" charset="0"/>
              <a:buAutoNum type="arabicPeriod"/>
              <a:defRPr/>
            </a:pPr>
            <a:r>
              <a:rPr lang="zh-CN"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课程论文：</a:t>
            </a:r>
            <a:r>
              <a:rPr lang="en-US" altLang="zh-CN"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40%</a:t>
            </a:r>
            <a:endParaRPr sz="24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自学内容和要求</a:t>
            </a:r>
          </a:p>
        </p:txBody>
      </p:sp>
      <p:sp>
        <p:nvSpPr>
          <p:cNvPr id="3" name="内容占位符 2"/>
          <p:cNvSpPr>
            <a:spLocks noGrp="1"/>
          </p:cNvSpPr>
          <p:nvPr>
            <p:ph idx="1"/>
          </p:nvPr>
        </p:nvSpPr>
        <p:spPr/>
        <p:txBody>
          <a:bodyPr/>
          <a:lstStyle/>
          <a:p>
            <a:pPr>
              <a:spcAft>
                <a:spcPts val="0"/>
              </a:spcAft>
            </a:pPr>
            <a:r>
              <a:rPr lang="zh-CN" altLang="en-US" dirty="0"/>
              <a:t>1. 第一次课，选取一篇校级优秀学士/硕士/博士学位论文作为课下阅读材料（可自选其他内容）</a:t>
            </a:r>
          </a:p>
          <a:p>
            <a:endParaRPr lang="zh-CN" altLang="en-US" dirty="0"/>
          </a:p>
          <a:p>
            <a:r>
              <a:rPr lang="zh-CN" altLang="en-US" dirty="0"/>
              <a:t>2. 第二次课至第六次课，分别选择专业相关的经典综述论文、专利、科技报告、白皮书等其他材料作为课下阅读</a:t>
            </a:r>
          </a:p>
        </p:txBody>
      </p:sp>
      <p:sp>
        <p:nvSpPr>
          <p:cNvPr id="4" name="灯片编号占位符 3"/>
          <p:cNvSpPr>
            <a:spLocks noGrp="1"/>
          </p:cNvSpPr>
          <p:nvPr>
            <p:ph type="sldNum" sz="quarter" idx="12"/>
          </p:nvPr>
        </p:nvSpPr>
        <p:spPr/>
        <p:txBody>
          <a:bodyPr/>
          <a:lstStyle/>
          <a:p>
            <a:pPr>
              <a:spcAft>
                <a:spcPts val="0"/>
              </a:spcAft>
              <a:defRPr/>
            </a:pPr>
            <a:fld id="{1B91C20D-24A2-814B-9A2F-B8B5867A69F8}" type="slidenum">
              <a:rPr lang="zh-CN" altLang="en-US" sz="505"/>
              <a:t>11</a:t>
            </a:fld>
            <a:endParaRPr lang="zh-CN" altLang="en-US" sz="505"/>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实践性教学环节和要求</a:t>
            </a:r>
          </a:p>
        </p:txBody>
      </p:sp>
      <p:sp>
        <p:nvSpPr>
          <p:cNvPr id="3" name="内容占位符 2"/>
          <p:cNvSpPr>
            <a:spLocks noGrp="1"/>
          </p:cNvSpPr>
          <p:nvPr>
            <p:ph idx="1"/>
          </p:nvPr>
        </p:nvSpPr>
        <p:spPr/>
        <p:txBody>
          <a:bodyPr/>
          <a:lstStyle/>
          <a:p>
            <a:pPr>
              <a:lnSpc>
                <a:spcPct val="150000"/>
              </a:lnSpc>
              <a:spcAft>
                <a:spcPts val="0"/>
              </a:spcAft>
            </a:pPr>
            <a:r>
              <a:rPr lang="zh-CN" altLang="en-US" dirty="0"/>
              <a:t>本课程实践性教学环节主要包括分组完成的专业内容写作、独立完成的课堂/课下写作作业和课堂汇报。</a:t>
            </a:r>
          </a:p>
          <a:p>
            <a:pPr>
              <a:lnSpc>
                <a:spcPct val="150000"/>
              </a:lnSpc>
            </a:pPr>
            <a:r>
              <a:rPr lang="zh-CN" altLang="en-US" dirty="0"/>
              <a:t>学生在本课程完成的专业写作字数总要求为：</a:t>
            </a:r>
          </a:p>
          <a:p>
            <a:pPr lvl="1">
              <a:lnSpc>
                <a:spcPct val="150000"/>
              </a:lnSpc>
            </a:pPr>
            <a:r>
              <a:rPr lang="zh-CN" altLang="en-US" sz="2055" dirty="0"/>
              <a:t>每人独立完成不少于1500字的写作。</a:t>
            </a:r>
          </a:p>
          <a:p>
            <a:pPr lvl="1">
              <a:lnSpc>
                <a:spcPct val="150000"/>
              </a:lnSpc>
            </a:pPr>
            <a:r>
              <a:rPr lang="zh-CN" altLang="en-US" sz="2055" dirty="0"/>
              <a:t>这1500字的要求落实学生在分组完成专业内容写作（不少于1000字）、课堂或课下写作作业任务（不少于500字）。</a:t>
            </a:r>
          </a:p>
          <a:p>
            <a:pPr lvl="1">
              <a:lnSpc>
                <a:spcPct val="150000"/>
              </a:lnSpc>
            </a:pPr>
            <a:r>
              <a:rPr lang="zh-CN" altLang="en-US" sz="2055" dirty="0"/>
              <a:t>前者是一组内的学生集体完成一篇论文，后者是学生单独完成命题的小作文或片段。</a:t>
            </a:r>
          </a:p>
        </p:txBody>
      </p:sp>
      <p:sp>
        <p:nvSpPr>
          <p:cNvPr id="4" name="灯片编号占位符 3"/>
          <p:cNvSpPr>
            <a:spLocks noGrp="1"/>
          </p:cNvSpPr>
          <p:nvPr>
            <p:ph type="sldNum" sz="quarter" idx="12"/>
          </p:nvPr>
        </p:nvSpPr>
        <p:spPr/>
        <p:txBody>
          <a:bodyPr/>
          <a:lstStyle/>
          <a:p>
            <a:pPr>
              <a:spcAft>
                <a:spcPts val="0"/>
              </a:spcAft>
              <a:defRPr/>
            </a:pPr>
            <a:fld id="{1B91C20D-24A2-814B-9A2F-B8B5867A69F8}" type="slidenum">
              <a:rPr lang="zh-CN" altLang="en-US" sz="505"/>
              <a:t>12</a:t>
            </a:fld>
            <a:endParaRPr lang="zh-CN" altLang="en-US" sz="505"/>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1.专业内容写作环节要求</a:t>
            </a:r>
          </a:p>
        </p:txBody>
      </p:sp>
      <p:sp>
        <p:nvSpPr>
          <p:cNvPr id="3" name="内容占位符 2"/>
          <p:cNvSpPr>
            <a:spLocks noGrp="1"/>
          </p:cNvSpPr>
          <p:nvPr>
            <p:ph idx="1"/>
          </p:nvPr>
        </p:nvSpPr>
        <p:spPr>
          <a:xfrm>
            <a:off x="628650" y="1534795"/>
            <a:ext cx="7935595" cy="3970655"/>
          </a:xfrm>
        </p:spPr>
        <p:txBody>
          <a:bodyPr>
            <a:normAutofit/>
          </a:bodyPr>
          <a:lstStyle/>
          <a:p>
            <a:pPr>
              <a:spcAft>
                <a:spcPts val="0"/>
              </a:spcAft>
            </a:pPr>
            <a:r>
              <a:rPr lang="zh-CN" altLang="en-US" dirty="0">
                <a:sym typeface="+mn-ea"/>
              </a:rPr>
              <a:t>以学生分组完成文献综述论文为例，给出如下建议及要求：</a:t>
            </a:r>
          </a:p>
          <a:p>
            <a:pPr lvl="1"/>
            <a:r>
              <a:rPr lang="en-US" altLang="zh-CN" dirty="0">
                <a:sym typeface="+mn-ea"/>
              </a:rPr>
              <a:t>4</a:t>
            </a:r>
            <a:r>
              <a:rPr lang="zh-CN" altLang="en-US" sz="2000" dirty="0">
                <a:sym typeface="+mn-ea"/>
              </a:rPr>
              <a:t>人</a:t>
            </a:r>
            <a:r>
              <a:rPr lang="en-US" altLang="zh-CN" sz="2000" dirty="0">
                <a:sym typeface="+mn-ea"/>
              </a:rPr>
              <a:t>1</a:t>
            </a:r>
            <a:r>
              <a:rPr lang="zh-CN" altLang="en-US" sz="2000" dirty="0">
                <a:sym typeface="+mn-ea"/>
              </a:rPr>
              <a:t>组，本次课完成</a:t>
            </a:r>
            <a:r>
              <a:rPr lang="en-US" altLang="zh-CN" sz="2000" dirty="0">
                <a:sym typeface="+mn-ea"/>
              </a:rPr>
              <a:t>“</a:t>
            </a:r>
            <a:r>
              <a:rPr lang="zh-CN" altLang="en-US" sz="2000" dirty="0">
                <a:sym typeface="+mn-ea"/>
              </a:rPr>
              <a:t>雨课堂</a:t>
            </a:r>
            <a:r>
              <a:rPr lang="en-US" altLang="zh-CN" sz="2000" dirty="0">
                <a:sym typeface="+mn-ea"/>
              </a:rPr>
              <a:t>”</a:t>
            </a:r>
            <a:r>
              <a:rPr lang="zh-CN" altLang="en-US" sz="2000" dirty="0">
                <a:sym typeface="+mn-ea"/>
              </a:rPr>
              <a:t>分组</a:t>
            </a:r>
            <a:endParaRPr lang="zh-CN" altLang="en-US" dirty="0"/>
          </a:p>
          <a:p>
            <a:r>
              <a:rPr lang="zh-CN" altLang="en-US" dirty="0"/>
              <a:t>课程实践论文的形式可以多样，每组完成的综述论文总字数不少于</a:t>
            </a:r>
            <a:r>
              <a:rPr lang="en-US" altLang="zh-CN" dirty="0"/>
              <a:t>4</a:t>
            </a:r>
            <a:r>
              <a:rPr lang="zh-CN" altLang="en-US" dirty="0"/>
              <a:t>000字。</a:t>
            </a:r>
          </a:p>
          <a:p>
            <a:r>
              <a:rPr lang="zh-CN" altLang="en-US" dirty="0"/>
              <a:t>评述不少于40篇国内外重要的早期参考文献及近五年最新参考文献</a:t>
            </a:r>
          </a:p>
          <a:p>
            <a:r>
              <a:rPr lang="zh-CN" altLang="en-US" dirty="0"/>
              <a:t>组内每个人在完成不少于10篇文献查阅的基础上，撰写不少于字数1000字的章节内容。</a:t>
            </a:r>
          </a:p>
        </p:txBody>
      </p:sp>
      <p:sp>
        <p:nvSpPr>
          <p:cNvPr id="4" name="灯片编号占位符 3"/>
          <p:cNvSpPr>
            <a:spLocks noGrp="1"/>
          </p:cNvSpPr>
          <p:nvPr>
            <p:ph type="sldNum" sz="quarter" idx="12"/>
          </p:nvPr>
        </p:nvSpPr>
        <p:spPr/>
        <p:txBody>
          <a:bodyPr/>
          <a:lstStyle/>
          <a:p>
            <a:pPr>
              <a:spcAft>
                <a:spcPts val="0"/>
              </a:spcAft>
            </a:pPr>
            <a:fld id="{0A87016D-FB72-E547-B65A-2D62D59DAE8C}" type="slidenum">
              <a:rPr kumimoji="1" lang="zh-CN" altLang="en-US" sz="505" smtClean="0"/>
              <a:t>13</a:t>
            </a:fld>
            <a:endParaRPr kumimoji="1" lang="zh-CN" altLang="en-US" sz="505"/>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课程实践专业内容写作环节的内容形式</a:t>
            </a:r>
          </a:p>
        </p:txBody>
      </p:sp>
      <p:sp>
        <p:nvSpPr>
          <p:cNvPr id="3" name="内容占位符 2"/>
          <p:cNvSpPr>
            <a:spLocks noGrp="1"/>
          </p:cNvSpPr>
          <p:nvPr>
            <p:ph idx="1"/>
          </p:nvPr>
        </p:nvSpPr>
        <p:spPr/>
        <p:txBody>
          <a:bodyPr>
            <a:normAutofit/>
          </a:bodyPr>
          <a:lstStyle/>
          <a:p>
            <a:pPr marL="0" indent="0">
              <a:lnSpc>
                <a:spcPct val="100000"/>
              </a:lnSpc>
              <a:spcAft>
                <a:spcPts val="0"/>
              </a:spcAft>
              <a:buNone/>
            </a:pPr>
            <a:r>
              <a:rPr lang="zh-CN" altLang="en-US"/>
              <a:t>（1）采用基于文献查阅的文献综述报告作为课程考核任务，以激发学生对专业写作的兴趣，训练学生的专业写作思维方法，培养学生的专题调研能力；</a:t>
            </a:r>
          </a:p>
          <a:p>
            <a:pPr marL="0" indent="0">
              <a:lnSpc>
                <a:spcPct val="100000"/>
              </a:lnSpc>
              <a:buNone/>
            </a:pPr>
            <a:r>
              <a:rPr lang="zh-CN" altLang="en-US"/>
              <a:t>（2）可采用课程设计报告、或工程实验报告、或技术应用研究报告等其他形式科技报告的任务，以训练学生面向写作的专业分析能力，简洁、准确、专业地解析工科的研究问题、研究过程或实验现象，培养基于专业分析与逻辑的专业写作能力；</a:t>
            </a:r>
          </a:p>
          <a:p>
            <a:pPr marL="0" indent="0">
              <a:lnSpc>
                <a:spcPct val="100000"/>
              </a:lnSpc>
              <a:buNone/>
            </a:pPr>
            <a:r>
              <a:rPr lang="zh-CN" altLang="en-US"/>
              <a:t>（3）可采用撰写学术论文、或专利/软件著作权申请书，或科技专题白皮书等形式，以训练学生的专业写作规范，并培养学生专业沟通能力；</a:t>
            </a:r>
          </a:p>
          <a:p>
            <a:pPr marL="0" indent="0">
              <a:lnSpc>
                <a:spcPct val="100000"/>
              </a:lnSpc>
              <a:buNone/>
            </a:pPr>
            <a:r>
              <a:rPr lang="zh-CN" altLang="en-US"/>
              <a:t>（4）可采用撰写数模/电子设计竞赛报告、大创课题申请书、国际学术会议论文等类型专业文体，以培养学生多维沟通能力。</a:t>
            </a:r>
          </a:p>
        </p:txBody>
      </p:sp>
      <p:sp>
        <p:nvSpPr>
          <p:cNvPr id="4" name="灯片编号占位符 3"/>
          <p:cNvSpPr>
            <a:spLocks noGrp="1"/>
          </p:cNvSpPr>
          <p:nvPr>
            <p:ph type="sldNum" sz="quarter" idx="12"/>
          </p:nvPr>
        </p:nvSpPr>
        <p:spPr/>
        <p:txBody>
          <a:bodyPr/>
          <a:lstStyle/>
          <a:p>
            <a:pPr>
              <a:spcAft>
                <a:spcPts val="0"/>
              </a:spcAft>
            </a:pPr>
            <a:fld id="{0A87016D-FB72-E547-B65A-2D62D59DAE8C}" type="slidenum">
              <a:rPr kumimoji="1" lang="zh-CN" altLang="en-US" sz="505" smtClean="0"/>
              <a:t>14</a:t>
            </a:fld>
            <a:endParaRPr kumimoji="1" lang="zh-CN" altLang="en-US" sz="505"/>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05" y="404654"/>
            <a:ext cx="8384858" cy="471011"/>
          </a:xfrm>
        </p:spPr>
        <p:txBody>
          <a:bodyPr>
            <a:normAutofit fontScale="90000"/>
          </a:bodyPr>
          <a:lstStyle/>
          <a:p>
            <a:pPr>
              <a:spcAft>
                <a:spcPts val="0"/>
              </a:spcAft>
            </a:pPr>
            <a:r>
              <a:rPr lang="zh-CN" altLang="en-US"/>
              <a:t>2. 课堂/课下作业环节</a:t>
            </a:r>
          </a:p>
        </p:txBody>
      </p:sp>
      <p:sp>
        <p:nvSpPr>
          <p:cNvPr id="3" name="内容占位符 2"/>
          <p:cNvSpPr>
            <a:spLocks noGrp="1"/>
          </p:cNvSpPr>
          <p:nvPr>
            <p:ph idx="1"/>
          </p:nvPr>
        </p:nvSpPr>
        <p:spPr/>
        <p:txBody>
          <a:bodyPr>
            <a:normAutofit/>
          </a:bodyPr>
          <a:lstStyle/>
          <a:p>
            <a:pPr marL="0" indent="0">
              <a:buNone/>
            </a:pPr>
            <a:r>
              <a:rPr lang="zh-CN" altLang="en-US" dirty="0"/>
              <a:t>（1）根据专业给定范围与建议方向，以指定题目的撰写</a:t>
            </a:r>
          </a:p>
          <a:p>
            <a:pPr lvl="1">
              <a:lnSpc>
                <a:spcPct val="100000"/>
              </a:lnSpc>
            </a:pPr>
            <a:endParaRPr lang="zh-CN" altLang="en-US" dirty="0"/>
          </a:p>
          <a:p>
            <a:pPr marL="0" indent="0">
              <a:lnSpc>
                <a:spcPct val="100000"/>
              </a:lnSpc>
              <a:buNone/>
            </a:pPr>
            <a:r>
              <a:rPr lang="zh-CN" altLang="en-US" dirty="0"/>
              <a:t>（2）在第四讲学术科技论文及专利写作（2学时）板块结束后，完成对两篇研究内容接近的论文正文供学生阅读</a:t>
            </a:r>
          </a:p>
          <a:p>
            <a:pPr marL="342900" indent="-342900" algn="l">
              <a:lnSpc>
                <a:spcPct val="100000"/>
              </a:lnSpc>
              <a:buClrTx/>
              <a:buSzTx/>
            </a:pPr>
            <a:r>
              <a:rPr lang="zh-CN" altLang="en-US" dirty="0"/>
              <a:t>分析正文结构，写出评审论文意见</a:t>
            </a:r>
          </a:p>
          <a:p>
            <a:pPr marL="342900" indent="-342900" algn="l">
              <a:lnSpc>
                <a:spcPct val="100000"/>
              </a:lnSpc>
              <a:buClrTx/>
              <a:buSzTx/>
            </a:pPr>
            <a:r>
              <a:rPr lang="zh-CN" altLang="en-US" sz="2400" dirty="0"/>
              <a:t>总结写作逻辑与方法，</a:t>
            </a:r>
            <a:r>
              <a:rPr lang="zh-CN" altLang="en-US" dirty="0"/>
              <a:t>修改论文部分片段</a:t>
            </a:r>
          </a:p>
        </p:txBody>
      </p:sp>
      <p:sp>
        <p:nvSpPr>
          <p:cNvPr id="4" name="灯片编号占位符 3"/>
          <p:cNvSpPr>
            <a:spLocks noGrp="1"/>
          </p:cNvSpPr>
          <p:nvPr>
            <p:ph type="sldNum" sz="quarter" idx="12"/>
          </p:nvPr>
        </p:nvSpPr>
        <p:spPr/>
        <p:txBody>
          <a:bodyPr/>
          <a:lstStyle/>
          <a:p>
            <a:pPr>
              <a:spcAft>
                <a:spcPts val="0"/>
              </a:spcAft>
            </a:pPr>
            <a:fld id="{0A87016D-FB72-E547-B65A-2D62D59DAE8C}" type="slidenum">
              <a:rPr kumimoji="1" lang="zh-CN" altLang="en-US" sz="505" smtClean="0"/>
              <a:t>15</a:t>
            </a:fld>
            <a:endParaRPr kumimoji="1" lang="zh-CN" altLang="en-US" sz="505"/>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3.课堂汇报环节</a:t>
            </a:r>
          </a:p>
        </p:txBody>
      </p:sp>
      <p:sp>
        <p:nvSpPr>
          <p:cNvPr id="3" name="内容占位符 2"/>
          <p:cNvSpPr>
            <a:spLocks noGrp="1"/>
          </p:cNvSpPr>
          <p:nvPr>
            <p:ph idx="1"/>
          </p:nvPr>
        </p:nvSpPr>
        <p:spPr/>
        <p:txBody>
          <a:bodyPr>
            <a:normAutofit/>
          </a:bodyPr>
          <a:lstStyle/>
          <a:p>
            <a:pPr algn="just">
              <a:lnSpc>
                <a:spcPct val="100000"/>
              </a:lnSpc>
              <a:spcAft>
                <a:spcPts val="0"/>
              </a:spcAft>
            </a:pPr>
            <a:r>
              <a:rPr lang="zh-CN" altLang="en-US"/>
              <a:t>要求：</a:t>
            </a:r>
          </a:p>
          <a:p>
            <a:pPr lvl="1" algn="just">
              <a:lnSpc>
                <a:spcPct val="100000"/>
              </a:lnSpc>
            </a:pPr>
            <a:r>
              <a:rPr lang="zh-CN" altLang="en-US"/>
              <a:t>学生分组汇报定稿的文献综述论文，或课程/实验报告，或提交的其他写作内容。主要汇报文献检索情况、专题调研过程、撰写过程及写作收获。</a:t>
            </a:r>
          </a:p>
          <a:p>
            <a:pPr algn="just">
              <a:lnSpc>
                <a:spcPct val="100000"/>
              </a:lnSpc>
            </a:pPr>
            <a:r>
              <a:rPr lang="zh-CN" altLang="en-US"/>
              <a:t>建议：</a:t>
            </a:r>
          </a:p>
          <a:p>
            <a:pPr lvl="1" algn="just">
              <a:lnSpc>
                <a:spcPct val="100000"/>
              </a:lnSpc>
            </a:pPr>
            <a:r>
              <a:rPr lang="zh-CN" altLang="en-US"/>
              <a:t>（1）学生分组互评，课题汇报环节的最终评分可由教师评分与学生互评分数共同产生，可各占50%。</a:t>
            </a:r>
          </a:p>
          <a:p>
            <a:pPr lvl="1" algn="just">
              <a:lnSpc>
                <a:spcPct val="100000"/>
              </a:lnSpc>
            </a:pPr>
            <a:r>
              <a:rPr lang="zh-CN" altLang="en-US"/>
              <a:t>（2）针对学生汇报内容及批改后的写作内容，得到教师问题反馈后，归纳修改要点，完成课程论文</a:t>
            </a:r>
            <a:r>
              <a:rPr lang="en-US" altLang="zh-CN"/>
              <a:t>/</a:t>
            </a:r>
            <a:r>
              <a:rPr lang="zh-CN" altLang="en-US"/>
              <a:t>报告，再次提交。</a:t>
            </a:r>
          </a:p>
        </p:txBody>
      </p:sp>
      <p:sp>
        <p:nvSpPr>
          <p:cNvPr id="4" name="灯片编号占位符 3"/>
          <p:cNvSpPr>
            <a:spLocks noGrp="1"/>
          </p:cNvSpPr>
          <p:nvPr>
            <p:ph type="sldNum" sz="quarter" idx="12"/>
          </p:nvPr>
        </p:nvSpPr>
        <p:spPr/>
        <p:txBody>
          <a:bodyPr/>
          <a:lstStyle/>
          <a:p>
            <a:pPr>
              <a:spcAft>
                <a:spcPts val="0"/>
              </a:spcAft>
            </a:pPr>
            <a:fld id="{0A87016D-FB72-E547-B65A-2D62D59DAE8C}" type="slidenum">
              <a:rPr kumimoji="1" lang="zh-CN" altLang="en-US" sz="505" smtClean="0"/>
              <a:t>16</a:t>
            </a:fld>
            <a:endParaRPr kumimoji="1" lang="zh-CN" altLang="en-US" sz="505"/>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solidFill>
            <a:srgbClr val="E7F5F8"/>
          </a:solidFill>
        </p:spPr>
        <p:txBody>
          <a:bodyPr/>
          <a:lstStyle/>
          <a:p>
            <a:pPr>
              <a:spcAft>
                <a:spcPts val="0"/>
              </a:spcAft>
            </a:pPr>
            <a:r>
              <a:rPr lang="zh-CN" altLang="en-US">
                <a:gradFill>
                  <a:gsLst>
                    <a:gs pos="0">
                      <a:srgbClr val="012D86"/>
                    </a:gs>
                    <a:gs pos="100000">
                      <a:srgbClr val="0E2557"/>
                    </a:gs>
                  </a:gsLst>
                  <a:lin scaled="0"/>
                </a:gradFill>
              </a:rPr>
              <a:t>教材与参考文献</a:t>
            </a:r>
          </a:p>
        </p:txBody>
      </p:sp>
      <p:sp>
        <p:nvSpPr>
          <p:cNvPr id="3" name="内容占位符 2"/>
          <p:cNvSpPr>
            <a:spLocks noGrp="1"/>
          </p:cNvSpPr>
          <p:nvPr>
            <p:ph idx="1"/>
          </p:nvPr>
        </p:nvSpPr>
        <p:spPr/>
        <p:txBody>
          <a:bodyPr/>
          <a:lstStyle/>
          <a:p>
            <a:pPr>
              <a:spcAft>
                <a:spcPts val="0"/>
              </a:spcAft>
            </a:pPr>
            <a:r>
              <a:rPr lang="zh-CN" altLang="en-US" sz="1800"/>
              <a:t>教材：</a:t>
            </a:r>
          </a:p>
          <a:p>
            <a:pPr lvl="1"/>
            <a:r>
              <a:rPr lang="zh-CN" altLang="en-US" sz="1600"/>
              <a:t>王红军. 文献检索与科技论文写作入门[M]. 机械工业出版社:北京，2018.11,ISBN 9787111607120</a:t>
            </a:r>
          </a:p>
          <a:p>
            <a:r>
              <a:rPr lang="zh-CN" altLang="en-US" sz="1800"/>
              <a:t>参考文献</a:t>
            </a:r>
          </a:p>
          <a:p>
            <a:pPr lvl="1"/>
            <a:r>
              <a:rPr lang="zh-CN" altLang="en-US" sz="1600"/>
              <a:t>[1] 钟澄. 科学研究与论文写作. 科学出版社，2020.4</a:t>
            </a:r>
          </a:p>
          <a:p>
            <a:pPr lvl="1"/>
            <a:r>
              <a:rPr lang="zh-CN" altLang="en-US" sz="1600"/>
              <a:t>[2] 里红杰，陶学恒.文献检索与科技论文写作.中国计量出版社，2011</a:t>
            </a:r>
          </a:p>
          <a:p>
            <a:pPr lvl="1"/>
            <a:r>
              <a:rPr lang="zh-CN" altLang="en-US" sz="1600"/>
              <a:t>[3] 吴军，阅读与写作讲义，新星出版社：北京，2021.4,ISBN:978-7-5133-4426-5</a:t>
            </a:r>
          </a:p>
          <a:p>
            <a:pPr lvl="1"/>
            <a:r>
              <a:rPr lang="zh-CN" altLang="en-US" sz="1600"/>
              <a:t>[4] 王荣民，杨云霞，宋鹏飞，科技信息检索与论文写作[M]，科学出版社:北京，2020.8，ISBN 978-7-03-065397-0</a:t>
            </a:r>
          </a:p>
          <a:p>
            <a:pPr lvl="1"/>
            <a:r>
              <a:rPr lang="zh-CN" altLang="en-US" sz="1600"/>
              <a:t>[5] 梅赐琪.清华写作与沟通课教学案例集[M]. 清华大学出版社：北京，2022</a:t>
            </a:r>
          </a:p>
        </p:txBody>
      </p:sp>
      <p:pic>
        <p:nvPicPr>
          <p:cNvPr id="4" name="图片 3"/>
          <p:cNvPicPr>
            <a:picLocks noChangeAspect="1"/>
          </p:cNvPicPr>
          <p:nvPr>
            <p:custDataLst>
              <p:tags r:id="rId2"/>
            </p:custDataLst>
          </p:nvPr>
        </p:nvPicPr>
        <p:blipFill>
          <a:blip r:embed="rId8"/>
          <a:stretch>
            <a:fillRect/>
          </a:stretch>
        </p:blipFill>
        <p:spPr>
          <a:xfrm>
            <a:off x="1285875" y="4335780"/>
            <a:ext cx="1116806" cy="1428750"/>
          </a:xfrm>
          <a:prstGeom prst="rect">
            <a:avLst/>
          </a:prstGeom>
        </p:spPr>
      </p:pic>
      <p:pic>
        <p:nvPicPr>
          <p:cNvPr id="5" name="图片 4"/>
          <p:cNvPicPr>
            <a:picLocks noChangeAspect="1"/>
          </p:cNvPicPr>
          <p:nvPr>
            <p:custDataLst>
              <p:tags r:id="rId3"/>
            </p:custDataLst>
          </p:nvPr>
        </p:nvPicPr>
        <p:blipFill>
          <a:blip r:embed="rId9"/>
          <a:stretch>
            <a:fillRect/>
          </a:stretch>
        </p:blipFill>
        <p:spPr>
          <a:xfrm>
            <a:off x="2505075" y="4319588"/>
            <a:ext cx="1000125" cy="1400651"/>
          </a:xfrm>
          <a:prstGeom prst="rect">
            <a:avLst/>
          </a:prstGeom>
        </p:spPr>
      </p:pic>
      <p:pic>
        <p:nvPicPr>
          <p:cNvPr id="10" name="图片 9"/>
          <p:cNvPicPr>
            <a:picLocks noChangeAspect="1"/>
          </p:cNvPicPr>
          <p:nvPr>
            <p:custDataLst>
              <p:tags r:id="rId4"/>
            </p:custDataLst>
          </p:nvPr>
        </p:nvPicPr>
        <p:blipFill>
          <a:blip r:embed="rId10"/>
          <a:stretch>
            <a:fillRect/>
          </a:stretch>
        </p:blipFill>
        <p:spPr>
          <a:xfrm>
            <a:off x="3679031" y="4335780"/>
            <a:ext cx="1023461" cy="1425893"/>
          </a:xfrm>
          <a:prstGeom prst="rect">
            <a:avLst/>
          </a:prstGeom>
        </p:spPr>
      </p:pic>
      <p:pic>
        <p:nvPicPr>
          <p:cNvPr id="11" name="图片 10"/>
          <p:cNvPicPr>
            <a:picLocks noChangeAspect="1"/>
          </p:cNvPicPr>
          <p:nvPr>
            <p:custDataLst>
              <p:tags r:id="rId5"/>
            </p:custDataLst>
          </p:nvPr>
        </p:nvPicPr>
        <p:blipFill>
          <a:blip r:embed="rId11"/>
          <a:stretch>
            <a:fillRect/>
          </a:stretch>
        </p:blipFill>
        <p:spPr>
          <a:xfrm>
            <a:off x="4976336" y="4335780"/>
            <a:ext cx="1208723" cy="1458278"/>
          </a:xfrm>
          <a:prstGeom prst="rect">
            <a:avLst/>
          </a:prstGeom>
        </p:spPr>
      </p:pic>
      <p:pic>
        <p:nvPicPr>
          <p:cNvPr id="12" name="图片 11"/>
          <p:cNvPicPr>
            <a:picLocks noChangeAspect="1"/>
          </p:cNvPicPr>
          <p:nvPr>
            <p:custDataLst>
              <p:tags r:id="rId6"/>
            </p:custDataLst>
          </p:nvPr>
        </p:nvPicPr>
        <p:blipFill>
          <a:blip r:embed="rId12"/>
          <a:stretch>
            <a:fillRect/>
          </a:stretch>
        </p:blipFill>
        <p:spPr>
          <a:xfrm>
            <a:off x="6458903" y="4319588"/>
            <a:ext cx="1031081" cy="1474946"/>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 name="Rectangle 3"/>
          <p:cNvSpPr>
            <a:spLocks noChangeArrowheads="1"/>
          </p:cNvSpPr>
          <p:nvPr/>
        </p:nvSpPr>
        <p:spPr bwMode="auto">
          <a:xfrm>
            <a:off x="900430" y="1484948"/>
            <a:ext cx="4131945" cy="706755"/>
          </a:xfrm>
          <a:prstGeom prst="rect">
            <a:avLst/>
          </a:prstGeom>
          <a:noFill/>
          <a:ln w="9525">
            <a:noFill/>
            <a:miter lim="800000"/>
          </a:ln>
          <a:effectLst/>
        </p:spPr>
        <p:txBody>
          <a:bodyPr wrap="square" anchor="ctr">
            <a:spAutoFit/>
          </a:bodyPr>
          <a:lstStyle/>
          <a:p>
            <a:pPr marL="457200" marR="0" lvl="0" indent="-457200" algn="l" defTabSz="914400" rtl="0" eaLnBrk="1" fontAlgn="base" latinLnBrk="0" hangingPunct="1">
              <a:lnSpc>
                <a:spcPct val="100000"/>
              </a:lnSpc>
              <a:spcBef>
                <a:spcPct val="0"/>
              </a:spcBef>
              <a:spcAft>
                <a:spcPts val="0"/>
              </a:spcAft>
              <a:buClrTx/>
              <a:buSzTx/>
              <a:buFont typeface="Wingdings" panose="05000000000000000000" pitchFamily="2" charset="2"/>
              <a:buChar char="u"/>
              <a:defRPr/>
            </a:pPr>
            <a:r>
              <a:rPr kumimoji="1" lang="zh-CN" altLang="en-US" sz="4000" b="1" i="0" u="none" strike="noStrike" kern="1200" cap="none" spc="0" normalizeH="0" baseline="0" noProof="0" dirty="0">
                <a:ln>
                  <a:noFill/>
                </a:ln>
                <a:gradFill>
                  <a:gsLst>
                    <a:gs pos="0">
                      <a:srgbClr val="012D86"/>
                    </a:gs>
                    <a:gs pos="100000">
                      <a:srgbClr val="0E2557"/>
                    </a:gs>
                  </a:gsLst>
                  <a:lin scaled="0"/>
                </a:gradFill>
                <a:effectLst>
                  <a:outerShdw blurRad="38100" dist="38100" dir="2700000" algn="tl">
                    <a:srgbClr val="000000"/>
                  </a:outerShdw>
                </a:effectLst>
                <a:uLnTx/>
                <a:uFillTx/>
                <a:latin typeface="黑体" panose="02010609060101010101" charset="-122"/>
                <a:ea typeface="黑体" panose="02010609060101010101" charset="-122"/>
                <a:cs typeface="黑体" panose="02010609060101010101" charset="-122"/>
              </a:rPr>
              <a:t> 本章内容 </a:t>
            </a:r>
          </a:p>
        </p:txBody>
      </p:sp>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2" name="Rectangle 11"/>
          <p:cNvSpPr>
            <a:spLocks noChangeArrowheads="1"/>
          </p:cNvSpPr>
          <p:nvPr/>
        </p:nvSpPr>
        <p:spPr bwMode="auto">
          <a:xfrm>
            <a:off x="900113" y="3068955"/>
            <a:ext cx="7920038" cy="1512570"/>
          </a:xfrm>
          <a:prstGeom prst="rect">
            <a:avLst/>
          </a:prstGeom>
          <a:noFill/>
          <a:ln w="9525">
            <a:noFill/>
            <a:miter lim="800000"/>
          </a:ln>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R="0" lvl="0" algn="just" defTabSz="914400" rtl="0" eaLnBrk="1" fontAlgn="base" latinLnBrk="0" hangingPunct="1">
              <a:lnSpc>
                <a:spcPct val="110000"/>
              </a:lnSpc>
              <a:spcBef>
                <a:spcPct val="0"/>
              </a:spcBef>
              <a:spcAft>
                <a:spcPts val="0"/>
              </a:spcAft>
              <a:buClr>
                <a:schemeClr val="tx2"/>
              </a:buClr>
              <a:buSzTx/>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mn-cs"/>
              </a:rPr>
              <a:t>了解『专业写作</a:t>
            </a:r>
            <a:r>
              <a:rPr lang="zh-CN" altLang="en-US" sz="2800" b="1"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sym typeface="+mn-ea"/>
              </a:rPr>
              <a:t>』</a:t>
            </a: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mn-cs"/>
              </a:rPr>
              <a:t>的目的和意义；</a:t>
            </a:r>
          </a:p>
          <a:p>
            <a:pPr marR="0" lvl="0" algn="just" defTabSz="914400" rtl="0" eaLnBrk="1" fontAlgn="base" latinLnBrk="0" hangingPunct="1">
              <a:lnSpc>
                <a:spcPct val="110000"/>
              </a:lnSpc>
              <a:spcBef>
                <a:spcPts val="0"/>
              </a:spcBef>
              <a:spcAft>
                <a:spcPts val="0"/>
              </a:spcAft>
              <a:buClr>
                <a:schemeClr val="tx2"/>
              </a:buClr>
              <a:buSzTx/>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mn-cs"/>
              </a:rPr>
              <a:t>理解专业写作的基本要求；</a:t>
            </a:r>
          </a:p>
          <a:p>
            <a:pPr marR="0" lvl="0" algn="just" defTabSz="914400" rtl="0" eaLnBrk="1" fontAlgn="base" latinLnBrk="0" hangingPunct="1">
              <a:lnSpc>
                <a:spcPct val="110000"/>
              </a:lnSpc>
              <a:spcBef>
                <a:spcPts val="0"/>
              </a:spcBef>
              <a:spcAft>
                <a:spcPct val="0"/>
              </a:spcAft>
              <a:buClr>
                <a:schemeClr val="tx2"/>
              </a:buClr>
              <a:buSzTx/>
              <a:defRPr/>
            </a:pPr>
            <a:r>
              <a:rPr kumimoji="1" lang="zh-CN" altLang="en-US" sz="28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黑体" panose="02010609060101010101" charset="-122"/>
                <a:ea typeface="黑体" panose="02010609060101010101" charset="-122"/>
                <a:cs typeface="+mn-cs"/>
              </a:rPr>
              <a:t>理解专业写作的目标，清晰本课程教学过程。</a:t>
            </a:r>
          </a:p>
        </p:txBody>
      </p:sp>
      <p:sp>
        <p:nvSpPr>
          <p:cNvPr id="2" name="矩形 1"/>
          <p:cNvSpPr/>
          <p:nvPr/>
        </p:nvSpPr>
        <p:spPr>
          <a:xfrm>
            <a:off x="819150" y="4621530"/>
            <a:ext cx="7239635" cy="1964055"/>
          </a:xfrm>
          <a:prstGeom prst="rect">
            <a:avLst/>
          </a:prstGeom>
          <a:noFill/>
          <a:ln w="9525">
            <a:noFill/>
          </a:ln>
        </p:spPr>
        <p:txBody>
          <a:bodyPr vert="horz" wrap="square" lIns="91440" tIns="45720" rIns="91440" bIns="45720" numCol="1" rtlCol="0" anchor="t" anchorCtr="0" compatLnSpc="1">
            <a:normAutofit fontScale="87500" lnSpcReduction="20000"/>
          </a:body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1" lang="zh-CN" altLang="en-US" sz="4000" b="1" i="0" u="none" strike="noStrike" kern="0" cap="none" spc="0" normalizeH="0" baseline="0" noProof="0" dirty="0">
              <a:ln>
                <a:noFill/>
              </a:ln>
              <a:solidFill>
                <a:srgbClr val="0033CC"/>
              </a:solidFill>
              <a:effectLst>
                <a:outerShdw blurRad="38100" dist="38100" dir="2700000" algn="tl">
                  <a:srgbClr val="000000"/>
                </a:outerShdw>
              </a:effectLst>
              <a:uLnTx/>
              <a:uFillTx/>
              <a:latin typeface="华文楷体" panose="02010600040101010101" pitchFamily="2" charset="-122"/>
              <a:ea typeface="华文楷体" panose="02010600040101010101" pitchFamily="2" charset="-122"/>
              <a:cs typeface="+mn-cs"/>
              <a:sym typeface="+mn-ea"/>
            </a:endParaRPr>
          </a:p>
          <a:p>
            <a:pPr marL="0" marR="0" lvl="0" indent="0" algn="ctr" defTabSz="914400" rtl="0" eaLnBrk="1" fontAlgn="base" latinLnBrk="0" hangingPunct="1">
              <a:lnSpc>
                <a:spcPct val="100000"/>
              </a:lnSpc>
              <a:spcBef>
                <a:spcPts val="20"/>
              </a:spcBef>
              <a:spcAft>
                <a:spcPct val="0"/>
              </a:spcAft>
              <a:buClrTx/>
              <a:buSzTx/>
              <a:buFontTx/>
              <a:buNone/>
              <a:defRPr/>
            </a:pPr>
            <a:r>
              <a:rPr kumimoji="1" lang="zh-CN" altLang="en-US" sz="4000" b="1" kern="0" noProof="0" dirty="0">
                <a:ln>
                  <a:noFill/>
                </a:ln>
                <a:solidFill>
                  <a:srgbClr val="7030A0"/>
                </a:solidFill>
                <a:effectLst>
                  <a:outerShdw blurRad="38100" dist="38100" dir="2700000" algn="tl">
                    <a:srgbClr val="000000"/>
                  </a:outerShdw>
                </a:effectLst>
                <a:uLnTx/>
                <a:uFillTx/>
                <a:latin typeface="华文楷体" panose="02010600040101010101" pitchFamily="2" charset="-122"/>
                <a:ea typeface="华文楷体" panose="02010600040101010101" pitchFamily="2" charset="-122"/>
                <a:sym typeface="+mn-ea"/>
              </a:rPr>
              <a:t>以下幻灯片基于姚佰承、黄勇军、杨鍊、邬震宇、武刚等老师的版本，本人有所补充。</a:t>
            </a:r>
            <a:endParaRPr kumimoji="1" lang="zh-CN" altLang="en-US" sz="4000" b="1" i="0" u="none" strike="noStrike" kern="0" cap="none" spc="0" normalizeH="0" baseline="0" noProof="0" dirty="0">
              <a:ln>
                <a:noFill/>
              </a:ln>
              <a:solidFill>
                <a:srgbClr val="7030A0"/>
              </a:solidFill>
              <a:effectLst>
                <a:outerShdw blurRad="38100" dist="38100" dir="2700000" algn="tl">
                  <a:srgbClr val="000000"/>
                </a:outerShdw>
              </a:effectLst>
              <a:uLnTx/>
              <a:uFillTx/>
              <a:latin typeface="华文楷体" panose="02010600040101010101" pitchFamily="2" charset="-122"/>
              <a:ea typeface="华文楷体" panose="02010600040101010101" pitchFamily="2" charset="-122"/>
              <a:cs typeface="+mn-cs"/>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各位同学是否有</a:t>
            </a:r>
            <a:r>
              <a:rPr lang="en-US" altLang="zh-CN" sz="2600">
                <a:solidFill>
                  <a:srgbClr val="000000"/>
                </a:solidFill>
                <a:latin typeface="微软雅黑" panose="020B0503020204020204" charset="-122"/>
                <a:ea typeface="微软雅黑" panose="020B0503020204020204" charset="-122"/>
              </a:rPr>
              <a:t>“</a:t>
            </a:r>
            <a:r>
              <a:rPr lang="zh-CN" altLang="en-US" sz="2600">
                <a:solidFill>
                  <a:srgbClr val="000000"/>
                </a:solidFill>
                <a:latin typeface="微软雅黑" panose="020B0503020204020204" charset="-122"/>
                <a:ea typeface="微软雅黑" panose="020B0503020204020204" charset="-122"/>
              </a:rPr>
              <a:t>专业写作</a:t>
            </a:r>
            <a:r>
              <a:rPr lang="en-US" altLang="zh-CN" sz="2600">
                <a:solidFill>
                  <a:srgbClr val="000000"/>
                </a:solidFill>
                <a:latin typeface="微软雅黑" panose="020B0503020204020204" charset="-122"/>
                <a:ea typeface="微软雅黑" panose="020B0503020204020204" charset="-122"/>
              </a:rPr>
              <a:t>”</a:t>
            </a:r>
            <a:r>
              <a:rPr lang="zh-CN" altLang="en-US" sz="2600">
                <a:solidFill>
                  <a:srgbClr val="000000"/>
                </a:solidFill>
                <a:latin typeface="微软雅黑" panose="020B0503020204020204" charset="-122"/>
                <a:ea typeface="微软雅黑" panose="020B0503020204020204" charset="-122"/>
              </a:rPr>
              <a:t>的如下经历？</a:t>
            </a:r>
          </a:p>
        </p:txBody>
      </p:sp>
      <p:sp>
        <p:nvSpPr>
          <p:cNvPr id="4" name="文本框 3"/>
          <p:cNvSpPr txBox="1"/>
          <p:nvPr>
            <p:custDataLst>
              <p:tags r:id="rId3"/>
            </p:custDataLst>
          </p:nvPr>
        </p:nvSpPr>
        <p:spPr>
          <a:xfrm>
            <a:off x="1828800" y="2786063"/>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课程设计报告或实验报告</a:t>
            </a:r>
          </a:p>
        </p:txBody>
      </p:sp>
      <p:sp>
        <p:nvSpPr>
          <p:cNvPr id="5" name="文本框 4"/>
          <p:cNvSpPr txBox="1"/>
          <p:nvPr>
            <p:custDataLst>
              <p:tags r:id="rId4"/>
            </p:custDataLst>
          </p:nvPr>
        </p:nvSpPr>
        <p:spPr>
          <a:xfrm>
            <a:off x="1828800" y="3471863"/>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大创申请书</a:t>
            </a:r>
          </a:p>
        </p:txBody>
      </p:sp>
      <p:sp>
        <p:nvSpPr>
          <p:cNvPr id="6" name="文本框 5"/>
          <p:cNvSpPr txBox="1"/>
          <p:nvPr>
            <p:custDataLst>
              <p:tags r:id="rId5"/>
            </p:custDataLst>
          </p:nvPr>
        </p:nvSpPr>
        <p:spPr>
          <a:xfrm>
            <a:off x="1828800" y="4157663"/>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数学建模竞赛，或电子设计类竞赛的报告</a:t>
            </a:r>
          </a:p>
        </p:txBody>
      </p:sp>
      <p:sp>
        <p:nvSpPr>
          <p:cNvPr id="7" name="文本框 6"/>
          <p:cNvSpPr txBox="1"/>
          <p:nvPr>
            <p:custDataLst>
              <p:tags r:id="rId6"/>
            </p:custDataLst>
          </p:nvPr>
        </p:nvSpPr>
        <p:spPr>
          <a:xfrm>
            <a:off x="1828800" y="4843463"/>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投寄给学报</a:t>
            </a:r>
            <a:r>
              <a:rPr lang="en-US" altLang="zh-CN" sz="2600">
                <a:solidFill>
                  <a:srgbClr val="000000"/>
                </a:solidFill>
                <a:latin typeface="微软雅黑" panose="020B0503020204020204" charset="-122"/>
                <a:ea typeface="微软雅黑" panose="020B0503020204020204" charset="-122"/>
              </a:rPr>
              <a:t>/</a:t>
            </a:r>
            <a:r>
              <a:rPr lang="zh-CN" altLang="en-US" sz="2600">
                <a:solidFill>
                  <a:srgbClr val="000000"/>
                </a:solidFill>
                <a:latin typeface="微软雅黑" panose="020B0503020204020204" charset="-122"/>
                <a:ea typeface="微软雅黑" panose="020B0503020204020204" charset="-122"/>
              </a:rPr>
              <a:t>会议的学术论文</a:t>
            </a:r>
          </a:p>
        </p:txBody>
      </p:sp>
      <p:sp>
        <p:nvSpPr>
          <p:cNvPr id="8" name="矩形 7"/>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A</a:t>
            </a:r>
          </a:p>
        </p:txBody>
      </p:sp>
      <p:sp>
        <p:nvSpPr>
          <p:cNvPr id="9" name="矩形 8"/>
          <p:cNvSpPr>
            <a:spLocks noChangeAspect="1"/>
          </p:cNvSpPr>
          <p:nvPr>
            <p:custDataLst>
              <p:tags r:id="rId8"/>
            </p:custDataLst>
          </p:nvPr>
        </p:nvSpPr>
        <p:spPr>
          <a:xfrm>
            <a:off x="1114425" y="3536156"/>
            <a:ext cx="514350" cy="514350"/>
          </a:xfrm>
          <a:prstGeom prst="rect">
            <a:avLst/>
          </a:prstGeom>
          <a:solidFill>
            <a:srgbClr val="808080"/>
          </a:solidFill>
          <a:ln w="127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B</a:t>
            </a:r>
          </a:p>
        </p:txBody>
      </p:sp>
      <p:sp>
        <p:nvSpPr>
          <p:cNvPr id="10" name="矩形 9"/>
          <p:cNvSpPr>
            <a:spLocks noChangeAspect="1"/>
          </p:cNvSpPr>
          <p:nvPr>
            <p:custDataLst>
              <p:tags r:id="rId9"/>
            </p:custDataLst>
          </p:nvPr>
        </p:nvSpPr>
        <p:spPr>
          <a:xfrm>
            <a:off x="1114425" y="4221956"/>
            <a:ext cx="514350" cy="514350"/>
          </a:xfrm>
          <a:prstGeom prst="rect">
            <a:avLst/>
          </a:prstGeom>
          <a:solidFill>
            <a:srgbClr val="808080"/>
          </a:solidFill>
          <a:ln w="127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C</a:t>
            </a:r>
          </a:p>
        </p:txBody>
      </p:sp>
      <p:sp>
        <p:nvSpPr>
          <p:cNvPr id="11" name="矩形 10"/>
          <p:cNvSpPr>
            <a:spLocks noChangeAspect="1"/>
          </p:cNvSpPr>
          <p:nvPr>
            <p:custDataLst>
              <p:tags r:id="rId10"/>
            </p:custDataLst>
          </p:nvPr>
        </p:nvSpPr>
        <p:spPr>
          <a:xfrm>
            <a:off x="1114425" y="4907756"/>
            <a:ext cx="514350" cy="514350"/>
          </a:xfrm>
          <a:prstGeom prst="rect">
            <a:avLst/>
          </a:prstGeom>
          <a:solidFill>
            <a:srgbClr val="808080"/>
          </a:solidFill>
          <a:ln w="127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D</a:t>
            </a: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sp>
        <p:nvSpPr>
          <p:cNvPr id="20" name="文本框 19"/>
          <p:cNvSpPr txBox="1"/>
          <p:nvPr>
            <p:custDataLst>
              <p:tags r:id="rId12"/>
            </p:custDataLst>
          </p:nvPr>
        </p:nvSpPr>
        <p:spPr>
          <a:xfrm>
            <a:off x="1828800" y="5528945"/>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以上都有</a:t>
            </a:r>
          </a:p>
        </p:txBody>
      </p:sp>
      <p:sp>
        <p:nvSpPr>
          <p:cNvPr id="21" name="矩形 20"/>
          <p:cNvSpPr>
            <a:spLocks noChangeAspect="1"/>
          </p:cNvSpPr>
          <p:nvPr>
            <p:custDataLst>
              <p:tags r:id="rId13"/>
            </p:custDataLst>
          </p:nvPr>
        </p:nvSpPr>
        <p:spPr>
          <a:xfrm>
            <a:off x="1114425" y="5593080"/>
            <a:ext cx="514350" cy="514350"/>
          </a:xfrm>
          <a:prstGeom prst="rect">
            <a:avLst/>
          </a:prstGeom>
          <a:solidFill>
            <a:srgbClr val="808080"/>
          </a:solidFill>
          <a:ln w="127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E</a:t>
            </a:r>
          </a:p>
        </p:txBody>
      </p:sp>
      <p:grpSp>
        <p:nvGrpSpPr>
          <p:cNvPr id="17" name="组合 16"/>
          <p:cNvGrpSpPr/>
          <p:nvPr>
            <p:custDataLst>
              <p:tags r:id="rId14"/>
            </p:custDataLst>
          </p:nvPr>
        </p:nvGrpSpPr>
        <p:grpSpPr>
          <a:xfrm>
            <a:off x="0" y="0"/>
            <a:ext cx="9144000" cy="635000"/>
            <a:chOff x="0" y="0"/>
            <a:chExt cx="14400" cy="1000"/>
          </a:xfrm>
        </p:grpSpPr>
        <p:sp>
          <p:nvSpPr>
            <p:cNvPr id="13" name="TitleBackground"/>
            <p:cNvSpPr/>
            <p:nvPr>
              <p:custDataLst>
                <p:tags r:id="rId17"/>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ColorBlock"/>
            <p:cNvSpPr/>
            <p:nvPr>
              <p:custDataLst>
                <p:tags r:id="rId18"/>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TypeText"/>
            <p:cNvSpPr txBox="1"/>
            <p:nvPr>
              <p:custDataLst>
                <p:tags r:id="rId19"/>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多选题</a:t>
              </a:r>
            </a:p>
          </p:txBody>
        </p:sp>
        <p:sp>
          <p:nvSpPr>
            <p:cNvPr id="16" name="TipText"/>
            <p:cNvSpPr txBox="1"/>
            <p:nvPr>
              <p:custDataLst>
                <p:tags r:id="rId20"/>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p>
          </p:txBody>
        </p:sp>
      </p:grpSp>
      <p:pic>
        <p:nvPicPr>
          <p:cNvPr id="2" name="图片 1" descr="tmp46BF"/>
          <p:cNvPicPr>
            <a:picLocks noChangeAspect="1"/>
          </p:cNvPicPr>
          <p:nvPr>
            <p:custDataLst>
              <p:tags r:id="rId15"/>
            </p:custDataLst>
          </p:nvPr>
        </p:nvPicPr>
        <p:blipFill>
          <a:blip r:embed="rId22"/>
          <a:stretch>
            <a:fillRect/>
          </a:stretch>
        </p:blipFill>
        <p:spPr>
          <a:xfrm>
            <a:off x="7594600" y="63500"/>
            <a:ext cx="1422400" cy="508000"/>
          </a:xfrm>
          <a:prstGeom prst="rect">
            <a:avLst/>
          </a:prstGeom>
        </p:spPr>
      </p:pic>
      <p:sp>
        <p:nvSpPr>
          <p:cNvPr id="18" name="文本框 17">
            <a:extLst>
              <a:ext uri="{FF2B5EF4-FFF2-40B4-BE49-F238E27FC236}">
                <a16:creationId xmlns:a16="http://schemas.microsoft.com/office/drawing/2014/main" id="{BBDCA8E6-C021-6471-2E9E-8D95C200FCBC}"/>
              </a:ext>
            </a:extLst>
          </p:cNvPr>
          <p:cNvSpPr txBox="1"/>
          <p:nvPr>
            <p:custDataLst>
              <p:tags r:id="rId16"/>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2291" name="矩形 23"/>
          <p:cNvSpPr/>
          <p:nvPr/>
        </p:nvSpPr>
        <p:spPr>
          <a:xfrm>
            <a:off x="546546" y="765493"/>
            <a:ext cx="6151245" cy="1014730"/>
          </a:xfrm>
          <a:prstGeom prst="rect">
            <a:avLst/>
          </a:prstGeom>
          <a:noFill/>
          <a:ln w="9525">
            <a:noFill/>
          </a:ln>
        </p:spPr>
        <p:txBody>
          <a:bodyPr wrap="none" anchor="t">
            <a:spAutoFit/>
          </a:bodyPr>
          <a:lstStyle/>
          <a:p>
            <a:pPr defTabSz="457200">
              <a:spcAft>
                <a:spcPts val="0"/>
              </a:spcAft>
            </a:pPr>
            <a:r>
              <a:rPr lang="zh-CN" altLang="en-US" sz="3600" b="1" dirty="0">
                <a:solidFill>
                  <a:srgbClr val="000000"/>
                </a:solidFill>
                <a:latin typeface="黑体" panose="02010609060101010101" charset="-122"/>
                <a:ea typeface="黑体" panose="02010609060101010101" charset="-122"/>
              </a:rPr>
              <a:t>专业写作基础是一门什么课？</a:t>
            </a:r>
          </a:p>
          <a:p>
            <a:pPr defTabSz="457200">
              <a:spcBef>
                <a:spcPts val="0"/>
              </a:spcBef>
            </a:pPr>
            <a:r>
              <a:rPr lang="zh-CN" altLang="en-US" sz="2400" b="1" dirty="0">
                <a:solidFill>
                  <a:srgbClr val="FF0000"/>
                </a:solidFill>
                <a:latin typeface="黑体" panose="02010609060101010101" charset="-122"/>
                <a:ea typeface="黑体" panose="02010609060101010101" charset="-122"/>
              </a:rPr>
              <a:t>为什么需要准确、简洁、清晰的专业写作？</a:t>
            </a:r>
          </a:p>
        </p:txBody>
      </p:sp>
      <p:sp>
        <p:nvSpPr>
          <p:cNvPr id="26" name="圆角矩形标注 11"/>
          <p:cNvSpPr/>
          <p:nvPr/>
        </p:nvSpPr>
        <p:spPr>
          <a:xfrm>
            <a:off x="2059433" y="1842770"/>
            <a:ext cx="5400675" cy="659765"/>
          </a:xfrm>
          <a:prstGeom prst="wedgeRoundRectCallout">
            <a:avLst>
              <a:gd name="adj1" fmla="val -58640"/>
              <a:gd name="adj2" fmla="val -14213"/>
              <a:gd name="adj3" fmla="val 16667"/>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感觉就是听说读写嘛，我小学三年级就会了。</a:t>
            </a:r>
            <a:endPar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pic>
        <p:nvPicPr>
          <p:cNvPr id="12294" name="图片 26"/>
          <p:cNvPicPr>
            <a:picLocks noChangeAspect="1"/>
          </p:cNvPicPr>
          <p:nvPr/>
        </p:nvPicPr>
        <p:blipFill>
          <a:blip r:embed="rId6"/>
          <a:stretch>
            <a:fillRect/>
          </a:stretch>
        </p:blipFill>
        <p:spPr>
          <a:xfrm>
            <a:off x="7387718" y="2637155"/>
            <a:ext cx="1301115" cy="1826895"/>
          </a:xfrm>
          <a:prstGeom prst="rect">
            <a:avLst/>
          </a:prstGeom>
          <a:noFill/>
          <a:ln w="9525">
            <a:noFill/>
          </a:ln>
        </p:spPr>
      </p:pic>
      <p:sp>
        <p:nvSpPr>
          <p:cNvPr id="12296" name="矩形 28"/>
          <p:cNvSpPr/>
          <p:nvPr/>
        </p:nvSpPr>
        <p:spPr>
          <a:xfrm>
            <a:off x="403671" y="4365625"/>
            <a:ext cx="8632825" cy="1999615"/>
          </a:xfrm>
          <a:prstGeom prst="rect">
            <a:avLst/>
          </a:prstGeom>
          <a:noFill/>
          <a:ln w="9525">
            <a:noFill/>
          </a:ln>
        </p:spPr>
        <p:txBody>
          <a:bodyPr anchor="t">
            <a:spAutoFit/>
          </a:bodyPr>
          <a:lstStyle/>
          <a:p>
            <a:pPr defTabSz="457200">
              <a:spcAft>
                <a:spcPts val="600"/>
              </a:spcAft>
            </a:pPr>
            <a:r>
              <a:rPr lang="zh-CN" altLang="en-US" sz="2000" b="1" dirty="0">
                <a:solidFill>
                  <a:srgbClr val="000000"/>
                </a:solidFill>
                <a:latin typeface="黑体" panose="02010609060101010101" charset="-122"/>
                <a:ea typeface="黑体" panose="02010609060101010101" charset="-122"/>
                <a:cs typeface="黑体" panose="02010609060101010101" charset="-122"/>
              </a:rPr>
              <a:t>专业写作的核心内涵：</a:t>
            </a:r>
            <a:endParaRPr lang="en-US" altLang="zh-CN" sz="2000" b="1" dirty="0">
              <a:solidFill>
                <a:srgbClr val="000000"/>
              </a:solidFill>
              <a:latin typeface="黑体" panose="02010609060101010101" charset="-122"/>
              <a:ea typeface="黑体" panose="02010609060101010101" charset="-122"/>
              <a:cs typeface="黑体" panose="02010609060101010101" charset="-122"/>
            </a:endParaRPr>
          </a:p>
          <a:p>
            <a:pPr marL="342900" indent="-342900" defTabSz="457200">
              <a:spcBef>
                <a:spcPts val="0"/>
              </a:spcBef>
              <a:spcAft>
                <a:spcPts val="600"/>
              </a:spcAft>
              <a:buFont typeface="Arial" panose="020B0604020202020204" pitchFamily="34" charset="0"/>
              <a:buChar char="•"/>
            </a:pPr>
            <a:r>
              <a:rPr lang="zh-CN" altLang="en-US" sz="2000" b="1" dirty="0">
                <a:solidFill>
                  <a:srgbClr val="000000"/>
                </a:solidFill>
                <a:latin typeface="黑体" panose="02010609060101010101" charset="-122"/>
                <a:ea typeface="黑体" panose="02010609060101010101" charset="-122"/>
                <a:cs typeface="黑体" panose="02010609060101010101" charset="-122"/>
              </a:rPr>
              <a:t>专业信息准确、科学、简洁、清晰的传递</a:t>
            </a:r>
            <a:r>
              <a:rPr lang="en-US" altLang="zh-CN" sz="2000" b="1" dirty="0">
                <a:solidFill>
                  <a:srgbClr val="000000"/>
                </a:solidFill>
                <a:latin typeface="黑体" panose="02010609060101010101" charset="-122"/>
                <a:ea typeface="黑体" panose="02010609060101010101" charset="-122"/>
                <a:cs typeface="黑体" panose="02010609060101010101" charset="-122"/>
              </a:rPr>
              <a:t>!</a:t>
            </a:r>
          </a:p>
          <a:p>
            <a:pPr marL="342900" indent="-342900" defTabSz="457200">
              <a:spcBef>
                <a:spcPts val="0"/>
              </a:spcBef>
              <a:spcAft>
                <a:spcPts val="600"/>
              </a:spcAft>
              <a:buFont typeface="Arial" panose="020B0604020202020204" pitchFamily="34" charset="0"/>
              <a:buChar char="•"/>
            </a:pPr>
            <a:r>
              <a:rPr lang="zh-CN" altLang="en-US" sz="2000" b="1" dirty="0">
                <a:solidFill>
                  <a:srgbClr val="000000"/>
                </a:solidFill>
                <a:latin typeface="黑体" panose="02010609060101010101" charset="-122"/>
                <a:ea typeface="黑体" panose="02010609060101010101" charset="-122"/>
                <a:cs typeface="黑体" panose="02010609060101010101" charset="-122"/>
              </a:rPr>
              <a:t>不仅关乎演说和写作形式的美，更集中体现</a:t>
            </a:r>
            <a:r>
              <a:rPr lang="zh-CN" altLang="en-US" sz="2400" b="1" dirty="0">
                <a:solidFill>
                  <a:srgbClr val="FF0000"/>
                </a:solidFill>
                <a:latin typeface="黑体" panose="02010609060101010101" charset="-122"/>
                <a:ea typeface="黑体" panose="02010609060101010101" charset="-122"/>
                <a:cs typeface="黑体" panose="02010609060101010101" charset="-122"/>
              </a:rPr>
              <a:t>通信</a:t>
            </a:r>
            <a:r>
              <a:rPr lang="zh-CN" altLang="en-US" sz="2000" b="1" dirty="0">
                <a:solidFill>
                  <a:srgbClr val="000000"/>
                </a:solidFill>
                <a:latin typeface="黑体" panose="02010609060101010101" charset="-122"/>
                <a:ea typeface="黑体" panose="02010609060101010101" charset="-122"/>
                <a:cs typeface="黑体" panose="02010609060101010101" charset="-122"/>
              </a:rPr>
              <a:t>的基本哲学：</a:t>
            </a:r>
            <a:endParaRPr lang="en-US" altLang="zh-CN" sz="2000" b="1" dirty="0">
              <a:solidFill>
                <a:srgbClr val="000000"/>
              </a:solidFill>
              <a:latin typeface="黑体" panose="02010609060101010101" charset="-122"/>
              <a:ea typeface="黑体" panose="02010609060101010101" charset="-122"/>
              <a:cs typeface="黑体" panose="02010609060101010101" charset="-122"/>
            </a:endParaRPr>
          </a:p>
          <a:p>
            <a:pPr marL="342900" indent="-342900" defTabSz="457200">
              <a:spcBef>
                <a:spcPts val="0"/>
              </a:spcBef>
              <a:spcAft>
                <a:spcPts val="600"/>
              </a:spcAft>
              <a:buFont typeface="Arial" panose="020B0604020202020204" pitchFamily="34" charset="0"/>
              <a:buChar char="•"/>
            </a:pPr>
            <a:r>
              <a:rPr lang="zh-CN" altLang="en-US" sz="2000" b="1" dirty="0">
                <a:solidFill>
                  <a:srgbClr val="000000"/>
                </a:solidFill>
                <a:latin typeface="黑体" panose="02010609060101010101" charset="-122"/>
                <a:ea typeface="黑体" panose="02010609060101010101" charset="-122"/>
                <a:cs typeface="黑体" panose="02010609060101010101" charset="-122"/>
              </a:rPr>
              <a:t>你传达的复杂信息，到底有没有人愿意听、能够懂、记得住、还给点赞。</a:t>
            </a:r>
            <a:endParaRPr lang="en-US" altLang="zh-CN" sz="2000" b="1" dirty="0">
              <a:solidFill>
                <a:srgbClr val="000000"/>
              </a:solidFill>
              <a:latin typeface="黑体" panose="02010609060101010101" charset="-122"/>
              <a:ea typeface="黑体" panose="02010609060101010101" charset="-122"/>
              <a:cs typeface="黑体" panose="02010609060101010101" charset="-122"/>
            </a:endParaRPr>
          </a:p>
          <a:p>
            <a:pPr marL="342900" indent="-342900" defTabSz="457200">
              <a:spcBef>
                <a:spcPts val="0"/>
              </a:spcBef>
              <a:spcAft>
                <a:spcPts val="600"/>
              </a:spcAft>
              <a:buFont typeface="Arial" panose="020B0604020202020204" pitchFamily="34" charset="0"/>
              <a:buChar char="•"/>
            </a:pPr>
            <a:r>
              <a:rPr lang="zh-CN" altLang="en-US" sz="2000" b="1" dirty="0">
                <a:solidFill>
                  <a:srgbClr val="000000"/>
                </a:solidFill>
                <a:latin typeface="黑体" panose="02010609060101010101" charset="-122"/>
                <a:ea typeface="黑体" panose="02010609060101010101" charset="-122"/>
                <a:cs typeface="黑体" panose="02010609060101010101" charset="-122"/>
              </a:rPr>
              <a:t>逻辑与结构、观点与事实、写作规范与学术道德</a:t>
            </a:r>
          </a:p>
        </p:txBody>
      </p:sp>
      <p:sp>
        <p:nvSpPr>
          <p:cNvPr id="2" name="圆角矩形标注 14"/>
          <p:cNvSpPr/>
          <p:nvPr/>
        </p:nvSpPr>
        <p:spPr>
          <a:xfrm>
            <a:off x="530353" y="2921000"/>
            <a:ext cx="6367145" cy="1360170"/>
          </a:xfrm>
          <a:prstGeom prst="wedgeRoundRectCallout">
            <a:avLst>
              <a:gd name="adj1" fmla="val 56432"/>
              <a:gd name="adj2" fmla="val -28235"/>
              <a:gd name="adj3" fmla="val 16667"/>
            </a:avLst>
          </a:prstGeom>
          <a:solidFill>
            <a:srgbClr val="00206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kern="0" noProof="0" dirty="0">
                <a:ln>
                  <a:noFill/>
                </a:ln>
                <a:solidFill>
                  <a:srgbClr val="FFFFFF"/>
                </a:solidFill>
                <a:effectLst/>
                <a:uLnTx/>
                <a:uFillTx/>
                <a:latin typeface="黑体" panose="02010609060101010101" charset="-122"/>
                <a:ea typeface="黑体" panose="02010609060101010101" charset="-122"/>
                <a:sym typeface="+mn-ea"/>
              </a:rPr>
              <a:t>在哪些课程提交了课程报告或小论文呢？</a:t>
            </a:r>
            <a:endParaRPr kumimoji="0" lang="zh-CN" altLang="en-US" sz="24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kern="0" noProof="0" dirty="0">
                <a:ln>
                  <a:noFill/>
                </a:ln>
                <a:solidFill>
                  <a:srgbClr val="FFFFFF"/>
                </a:solidFill>
                <a:effectLst/>
                <a:uLnTx/>
                <a:uFillTx/>
                <a:latin typeface="黑体" panose="02010609060101010101" charset="-122"/>
                <a:ea typeface="黑体" panose="02010609060101010101" charset="-122"/>
                <a:sym typeface="+mn-ea"/>
              </a:rPr>
              <a:t>参加过数学建模竞赛或</a:t>
            </a:r>
            <a:r>
              <a:rPr lang="en-US" altLang="zh-CN" sz="2400" kern="0" noProof="0" dirty="0">
                <a:ln>
                  <a:noFill/>
                </a:ln>
                <a:solidFill>
                  <a:srgbClr val="FFFFFF"/>
                </a:solidFill>
                <a:effectLst/>
                <a:uLnTx/>
                <a:uFillTx/>
                <a:latin typeface="黑体" panose="02010609060101010101" charset="-122"/>
                <a:ea typeface="黑体" panose="02010609060101010101" charset="-122"/>
                <a:sym typeface="+mn-ea"/>
              </a:rPr>
              <a:t>EDA</a:t>
            </a:r>
            <a:r>
              <a:rPr lang="zh-CN" altLang="en-US" sz="2400" kern="0" noProof="0" dirty="0">
                <a:ln>
                  <a:noFill/>
                </a:ln>
                <a:solidFill>
                  <a:srgbClr val="FFFFFF"/>
                </a:solidFill>
                <a:effectLst/>
                <a:uLnTx/>
                <a:uFillTx/>
                <a:latin typeface="黑体" panose="02010609060101010101" charset="-122"/>
                <a:ea typeface="黑体" panose="02010609060101010101" charset="-122"/>
                <a:sym typeface="+mn-ea"/>
              </a:rPr>
              <a:t>设计大赛吗？</a:t>
            </a:r>
            <a:endParaRPr kumimoji="0" lang="zh-CN" altLang="en-US" sz="24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kern="0" noProof="0" dirty="0">
                <a:ln>
                  <a:noFill/>
                </a:ln>
                <a:solidFill>
                  <a:srgbClr val="FFFFFF"/>
                </a:solidFill>
                <a:effectLst/>
                <a:uLnTx/>
                <a:uFillTx/>
                <a:latin typeface="黑体" panose="02010609060101010101" charset="-122"/>
                <a:ea typeface="黑体" panose="02010609060101010101" charset="-122"/>
                <a:sym typeface="+mn-ea"/>
              </a:rPr>
              <a:t>写过大创申请书吗？写作难吗？</a:t>
            </a:r>
            <a:endParaRPr kumimoji="0" lang="zh-CN" altLang="en-US" sz="24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pic>
        <p:nvPicPr>
          <p:cNvPr id="3" name="图片 2" descr="小学男学生"/>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6818" y="1917065"/>
            <a:ext cx="914400" cy="914400"/>
          </a:xfrm>
          <a:prstGeom prst="rect">
            <a:avLst/>
          </a:prstGeom>
        </p:spPr>
      </p:pic>
      <p:pic>
        <p:nvPicPr>
          <p:cNvPr id="4" name="图片 3" descr="学生"/>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9298" y="2061210"/>
            <a:ext cx="914400" cy="914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294"/>
                                        </p:tgtEl>
                                        <p:attrNameLst>
                                          <p:attrName>style.visibility</p:attrName>
                                        </p:attrNameLst>
                                      </p:cBhvr>
                                      <p:to>
                                        <p:strVal val="visible"/>
                                      </p:to>
                                    </p:set>
                                    <p:anim calcmode="lin" valueType="num">
                                      <p:cBhvr additive="base">
                                        <p:cTn id="11" dur="500" fill="hold"/>
                                        <p:tgtEl>
                                          <p:spTgt spid="12294"/>
                                        </p:tgtEl>
                                        <p:attrNameLst>
                                          <p:attrName>ppt_x</p:attrName>
                                        </p:attrNameLst>
                                      </p:cBhvr>
                                      <p:tavLst>
                                        <p:tav tm="0">
                                          <p:val>
                                            <p:strVal val="#ppt_x"/>
                                          </p:val>
                                        </p:tav>
                                        <p:tav tm="100000">
                                          <p:val>
                                            <p:strVal val="#ppt_x"/>
                                          </p:val>
                                        </p:tav>
                                      </p:tavLst>
                                    </p:anim>
                                    <p:anim calcmode="lin" valueType="num">
                                      <p:cBhvr additive="base">
                                        <p:cTn id="12" dur="500" fill="hold"/>
                                        <p:tgtEl>
                                          <p:spTgt spid="1229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296">
                                            <p:txEl>
                                              <p:pRg st="0" end="0"/>
                                            </p:txEl>
                                          </p:spTgt>
                                        </p:tgtEl>
                                        <p:attrNameLst>
                                          <p:attrName>style.visibility</p:attrName>
                                        </p:attrNameLst>
                                      </p:cBhvr>
                                      <p:to>
                                        <p:strVal val="visible"/>
                                      </p:to>
                                    </p:set>
                                    <p:anim calcmode="lin" valueType="num">
                                      <p:cBhvr additive="base">
                                        <p:cTn id="17" dur="500" fill="hold"/>
                                        <p:tgtEl>
                                          <p:spTgt spid="12296">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296">
                                            <p:txEl>
                                              <p:pRg st="1" end="1"/>
                                            </p:txEl>
                                          </p:spTgt>
                                        </p:tgtEl>
                                        <p:attrNameLst>
                                          <p:attrName>style.visibility</p:attrName>
                                        </p:attrNameLst>
                                      </p:cBhvr>
                                      <p:to>
                                        <p:strVal val="visible"/>
                                      </p:to>
                                    </p:set>
                                    <p:anim calcmode="lin" valueType="num">
                                      <p:cBhvr additive="base">
                                        <p:cTn id="23" dur="500" fill="hold"/>
                                        <p:tgtEl>
                                          <p:spTgt spid="12296">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2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2296">
                                            <p:txEl>
                                              <p:pRg st="2" end="2"/>
                                            </p:txEl>
                                          </p:spTgt>
                                        </p:tgtEl>
                                        <p:attrNameLst>
                                          <p:attrName>style.visibility</p:attrName>
                                        </p:attrNameLst>
                                      </p:cBhvr>
                                      <p:to>
                                        <p:strVal val="visible"/>
                                      </p:to>
                                    </p:set>
                                    <p:anim calcmode="lin" valueType="num">
                                      <p:cBhvr additive="base">
                                        <p:cTn id="29" dur="500" fill="hold"/>
                                        <p:tgtEl>
                                          <p:spTgt spid="12296">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2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2296">
                                            <p:txEl>
                                              <p:pRg st="3" end="3"/>
                                            </p:txEl>
                                          </p:spTgt>
                                        </p:tgtEl>
                                        <p:attrNameLst>
                                          <p:attrName>style.visibility</p:attrName>
                                        </p:attrNameLst>
                                      </p:cBhvr>
                                      <p:to>
                                        <p:strVal val="visible"/>
                                      </p:to>
                                    </p:set>
                                    <p:anim calcmode="lin" valueType="num">
                                      <p:cBhvr additive="base">
                                        <p:cTn id="35" dur="500" fill="hold"/>
                                        <p:tgtEl>
                                          <p:spTgt spid="12296">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2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2296">
                                            <p:txEl>
                                              <p:pRg st="4" end="4"/>
                                            </p:txEl>
                                          </p:spTgt>
                                        </p:tgtEl>
                                        <p:attrNameLst>
                                          <p:attrName>style.visibility</p:attrName>
                                        </p:attrNameLst>
                                      </p:cBhvr>
                                      <p:to>
                                        <p:strVal val="visible"/>
                                      </p:to>
                                    </p:set>
                                    <p:anim calcmode="lin" valueType="num">
                                      <p:cBhvr additive="base">
                                        <p:cTn id="41" dur="500" fill="hold"/>
                                        <p:tgtEl>
                                          <p:spTgt spid="12296">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29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2291" name="矩形 23"/>
          <p:cNvSpPr/>
          <p:nvPr/>
        </p:nvSpPr>
        <p:spPr>
          <a:xfrm>
            <a:off x="539433" y="692468"/>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sp>
        <p:nvSpPr>
          <p:cNvPr id="12296" name="矩形 28"/>
          <p:cNvSpPr/>
          <p:nvPr/>
        </p:nvSpPr>
        <p:spPr>
          <a:xfrm>
            <a:off x="107315" y="4005094"/>
            <a:ext cx="7530465" cy="829945"/>
          </a:xfrm>
          <a:prstGeom prst="rect">
            <a:avLst/>
          </a:prstGeom>
          <a:noFill/>
          <a:ln w="9525">
            <a:noFill/>
          </a:ln>
        </p:spPr>
        <p:txBody>
          <a:bodyPr wrap="square" anchor="t">
            <a:spAutoFit/>
          </a:bodyPr>
          <a:lstStyle/>
          <a:p>
            <a:pPr defTabSz="457200">
              <a:spcAft>
                <a:spcPts val="600"/>
              </a:spcAft>
            </a:pPr>
            <a:r>
              <a:rPr lang="zh-CN" altLang="en-US" sz="2400" b="1" dirty="0">
                <a:solidFill>
                  <a:srgbClr val="0000FF"/>
                </a:solidFill>
                <a:latin typeface="方正大黑简体" panose="02000000000000000000" charset="-122"/>
                <a:ea typeface="方正大黑简体" panose="02000000000000000000" charset="-122"/>
                <a:cs typeface="方正大黑简体" panose="02000000000000000000" charset="-122"/>
              </a:rPr>
              <a:t>“把成都电讯工程学院办成我国乃至整个亚洲第一流的无线电大学”！</a:t>
            </a:r>
          </a:p>
        </p:txBody>
      </p:sp>
      <p:pic>
        <p:nvPicPr>
          <p:cNvPr id="103" name="图片 102"/>
          <p:cNvPicPr/>
          <p:nvPr/>
        </p:nvPicPr>
        <p:blipFill>
          <a:blip r:embed="rId5"/>
          <a:stretch>
            <a:fillRect/>
          </a:stretch>
        </p:blipFill>
        <p:spPr>
          <a:xfrm>
            <a:off x="3812540" y="1844824"/>
            <a:ext cx="1222375" cy="1550035"/>
          </a:xfrm>
          <a:prstGeom prst="rect">
            <a:avLst/>
          </a:prstGeom>
          <a:noFill/>
          <a:ln w="9525">
            <a:noFill/>
          </a:ln>
        </p:spPr>
      </p:pic>
      <p:sp>
        <p:nvSpPr>
          <p:cNvPr id="2" name="文本框 1"/>
          <p:cNvSpPr txBox="1"/>
          <p:nvPr/>
        </p:nvSpPr>
        <p:spPr>
          <a:xfrm>
            <a:off x="3420110" y="3573294"/>
            <a:ext cx="3421380" cy="398780"/>
          </a:xfrm>
          <a:prstGeom prst="rect">
            <a:avLst/>
          </a:prstGeom>
          <a:noFill/>
        </p:spPr>
        <p:txBody>
          <a:bodyPr wrap="square" rtlCol="0" anchor="t">
            <a:spAutoFit/>
          </a:bodyPr>
          <a:lstStyle/>
          <a:p>
            <a:pPr>
              <a:spcAft>
                <a:spcPts val="0"/>
              </a:spcAft>
            </a:pPr>
            <a:r>
              <a:rPr lang="zh-CN" altLang="en-US" sz="2000"/>
              <a:t>首任院长兼党委书记吴立人</a:t>
            </a:r>
          </a:p>
        </p:txBody>
      </p:sp>
      <p:pic>
        <p:nvPicPr>
          <p:cNvPr id="3" name="图片 2"/>
          <p:cNvPicPr>
            <a:picLocks noChangeAspect="1"/>
          </p:cNvPicPr>
          <p:nvPr/>
        </p:nvPicPr>
        <p:blipFill>
          <a:blip r:embed="rId6"/>
          <a:stretch>
            <a:fillRect/>
          </a:stretch>
        </p:blipFill>
        <p:spPr>
          <a:xfrm>
            <a:off x="251460" y="1917214"/>
            <a:ext cx="2969260" cy="1931035"/>
          </a:xfrm>
          <a:prstGeom prst="rect">
            <a:avLst/>
          </a:prstGeom>
        </p:spPr>
      </p:pic>
      <p:pic>
        <p:nvPicPr>
          <p:cNvPr id="4" name="图片 3"/>
          <p:cNvPicPr>
            <a:picLocks noChangeAspect="1"/>
          </p:cNvPicPr>
          <p:nvPr/>
        </p:nvPicPr>
        <p:blipFill>
          <a:blip r:embed="rId7"/>
          <a:stretch>
            <a:fillRect/>
          </a:stretch>
        </p:blipFill>
        <p:spPr>
          <a:xfrm>
            <a:off x="5224145" y="1845459"/>
            <a:ext cx="2719705" cy="1685925"/>
          </a:xfrm>
          <a:prstGeom prst="rect">
            <a:avLst/>
          </a:prstGeom>
        </p:spPr>
      </p:pic>
      <p:pic>
        <p:nvPicPr>
          <p:cNvPr id="104" name="图片 103"/>
          <p:cNvPicPr/>
          <p:nvPr/>
        </p:nvPicPr>
        <p:blipFill>
          <a:blip r:embed="rId8"/>
          <a:srcRect l="72407" t="12204" r="7237" b="11148"/>
          <a:stretch>
            <a:fillRect/>
          </a:stretch>
        </p:blipFill>
        <p:spPr>
          <a:xfrm>
            <a:off x="7943850" y="1916579"/>
            <a:ext cx="1092200" cy="4514215"/>
          </a:xfrm>
          <a:prstGeom prst="rect">
            <a:avLst/>
          </a:prstGeom>
          <a:noFill/>
          <a:ln w="9525">
            <a:noFill/>
          </a:ln>
        </p:spPr>
      </p:pic>
      <p:sp>
        <p:nvSpPr>
          <p:cNvPr id="6" name="文本框 5"/>
          <p:cNvSpPr txBox="1"/>
          <p:nvPr/>
        </p:nvSpPr>
        <p:spPr>
          <a:xfrm>
            <a:off x="251460" y="4869180"/>
            <a:ext cx="7677785" cy="1322070"/>
          </a:xfrm>
          <a:prstGeom prst="rect">
            <a:avLst/>
          </a:prstGeom>
          <a:noFill/>
        </p:spPr>
        <p:txBody>
          <a:bodyPr wrap="square" rtlCol="0" anchor="t">
            <a:spAutoFit/>
          </a:bodyPr>
          <a:lstStyle/>
          <a:p>
            <a:pPr>
              <a:spcAft>
                <a:spcPts val="0"/>
              </a:spcAft>
            </a:pPr>
            <a:r>
              <a:rPr lang="zh-CN" altLang="en-US" sz="2000" dirty="0">
                <a:latin typeface="方正大黑简体" panose="02000000000000000000" charset="-122"/>
                <a:ea typeface="方正大黑简体" panose="02000000000000000000" charset="-122"/>
                <a:cs typeface="方正大黑简体" panose="02000000000000000000" charset="-122"/>
              </a:rPr>
              <a:t>电子科技大学以“</a:t>
            </a:r>
            <a:r>
              <a:rPr lang="zh-CN" altLang="en-US" sz="2000" b="1" dirty="0">
                <a:solidFill>
                  <a:srgbClr val="0000FF"/>
                </a:solidFill>
                <a:latin typeface="华文新魏" panose="02010800040101010101" charset="-122"/>
                <a:ea typeface="华文新魏" panose="02010800040101010101" charset="-122"/>
                <a:cs typeface="方正大黑简体" panose="02000000000000000000" charset="-122"/>
              </a:rPr>
              <a:t>求实求真、大气大为</a:t>
            </a:r>
            <a:r>
              <a:rPr lang="zh-CN" altLang="en-US" sz="2000" dirty="0">
                <a:latin typeface="方正大黑简体" panose="02000000000000000000" charset="-122"/>
                <a:ea typeface="方正大黑简体" panose="02000000000000000000" charset="-122"/>
                <a:cs typeface="方正大黑简体" panose="02000000000000000000" charset="-122"/>
              </a:rPr>
              <a:t>”为校训，以人才培养为根本，以服务国防建设和国家、地方经济建设为己任，加强基础前沿交叉研究，开拓进取，锐意创新，为早日建成中国特色世界一流大学而努力奋斗！</a:t>
            </a:r>
          </a:p>
        </p:txBody>
      </p:sp>
      <p:sp>
        <p:nvSpPr>
          <p:cNvPr id="5" name="文本框 4"/>
          <p:cNvSpPr txBox="1"/>
          <p:nvPr/>
        </p:nvSpPr>
        <p:spPr>
          <a:xfrm>
            <a:off x="640994" y="1359853"/>
            <a:ext cx="4572000" cy="460375"/>
          </a:xfrm>
          <a:prstGeom prst="rect">
            <a:avLst/>
          </a:prstGeom>
          <a:noFill/>
        </p:spPr>
        <p:txBody>
          <a:bodyPr wrap="square" rtlCol="0" anchor="t">
            <a:spAutoFit/>
          </a:bodyPr>
          <a:lstStyle/>
          <a:p>
            <a:pPr>
              <a:spcAft>
                <a:spcPts val="0"/>
              </a:spcAft>
            </a:pPr>
            <a:r>
              <a:rPr lang="zh-CN" altLang="en-US" sz="2400" b="1" dirty="0">
                <a:solidFill>
                  <a:srgbClr val="FF0000"/>
                </a:solidFill>
                <a:ea typeface="方正大黑简体" panose="02000000000000000000" charset="-122"/>
                <a:sym typeface="+mn-ea"/>
              </a:rPr>
              <a:t>践行校训，以专业报国！</a:t>
            </a:r>
          </a:p>
        </p:txBody>
      </p:sp>
      <p:sp>
        <p:nvSpPr>
          <p:cNvPr id="10" name="文本框 9">
            <a:extLst>
              <a:ext uri="{FF2B5EF4-FFF2-40B4-BE49-F238E27FC236}">
                <a16:creationId xmlns:a16="http://schemas.microsoft.com/office/drawing/2014/main" id="{54813C1D-F532-4B03-298F-B44A41F4C9B3}"/>
              </a:ext>
            </a:extLst>
          </p:cNvPr>
          <p:cNvSpPr txBox="1"/>
          <p:nvPr/>
        </p:nvSpPr>
        <p:spPr>
          <a:xfrm>
            <a:off x="251460" y="6279703"/>
            <a:ext cx="7848932" cy="461665"/>
          </a:xfrm>
          <a:prstGeom prst="rect">
            <a:avLst/>
          </a:prstGeom>
          <a:noFill/>
        </p:spPr>
        <p:txBody>
          <a:bodyPr wrap="square">
            <a:spAutoFit/>
          </a:bodyPr>
          <a:lstStyle/>
          <a:p>
            <a:r>
              <a:rPr lang="zh-CN" altLang="en-US" sz="2400" b="1" dirty="0">
                <a:solidFill>
                  <a:srgbClr val="0000FF"/>
                </a:solidFill>
                <a:ea typeface="方正大黑简体" panose="02000000000000000000" charset="-122"/>
              </a:rPr>
              <a:t>将个人专业知识转化为公共价值和社会生产力的关键桥梁。</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
                                        </p:tgtEl>
                                        <p:attrNameLst>
                                          <p:attrName>style.visibility</p:attrName>
                                        </p:attrNameLst>
                                      </p:cBhvr>
                                      <p:to>
                                        <p:strVal val="visible"/>
                                      </p:to>
                                    </p:set>
                                    <p:anim calcmode="lin" valueType="num">
                                      <p:cBhvr additive="base">
                                        <p:cTn id="13" dur="500" fill="hold"/>
                                        <p:tgtEl>
                                          <p:spTgt spid="103"/>
                                        </p:tgtEl>
                                        <p:attrNameLst>
                                          <p:attrName>ppt_x</p:attrName>
                                        </p:attrNameLst>
                                      </p:cBhvr>
                                      <p:tavLst>
                                        <p:tav tm="0">
                                          <p:val>
                                            <p:strVal val="#ppt_x"/>
                                          </p:val>
                                        </p:tav>
                                        <p:tav tm="100000">
                                          <p:val>
                                            <p:strVal val="#ppt_x"/>
                                          </p:val>
                                        </p:tav>
                                      </p:tavLst>
                                    </p:anim>
                                    <p:anim calcmode="lin" valueType="num">
                                      <p:cBhvr additive="base">
                                        <p:cTn id="14" dur="500" fill="hold"/>
                                        <p:tgtEl>
                                          <p:spTgt spid="10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4"/>
                                        </p:tgtEl>
                                        <p:attrNameLst>
                                          <p:attrName>style.visibility</p:attrName>
                                        </p:attrNameLst>
                                      </p:cBhvr>
                                      <p:to>
                                        <p:strVal val="visible"/>
                                      </p:to>
                                    </p:set>
                                    <p:anim calcmode="lin" valueType="num">
                                      <p:cBhvr additive="base">
                                        <p:cTn id="25" dur="500" fill="hold"/>
                                        <p:tgtEl>
                                          <p:spTgt spid="104"/>
                                        </p:tgtEl>
                                        <p:attrNameLst>
                                          <p:attrName>ppt_x</p:attrName>
                                        </p:attrNameLst>
                                      </p:cBhvr>
                                      <p:tavLst>
                                        <p:tav tm="0">
                                          <p:val>
                                            <p:strVal val="#ppt_x"/>
                                          </p:val>
                                        </p:tav>
                                        <p:tav tm="100000">
                                          <p:val>
                                            <p:strVal val="#ppt_x"/>
                                          </p:val>
                                        </p:tav>
                                      </p:tavLst>
                                    </p:anim>
                                    <p:anim calcmode="lin" valueType="num">
                                      <p:cBhvr additive="base">
                                        <p:cTn id="26" dur="500" fill="hold"/>
                                        <p:tgtEl>
                                          <p:spTgt spid="10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296"/>
                                        </p:tgtEl>
                                        <p:attrNameLst>
                                          <p:attrName>style.visibility</p:attrName>
                                        </p:attrNameLst>
                                      </p:cBhvr>
                                      <p:to>
                                        <p:strVal val="visible"/>
                                      </p:to>
                                    </p:set>
                                    <p:anim calcmode="lin" valueType="num">
                                      <p:cBhvr additive="base">
                                        <p:cTn id="29" dur="500" fill="hold"/>
                                        <p:tgtEl>
                                          <p:spTgt spid="12296"/>
                                        </p:tgtEl>
                                        <p:attrNameLst>
                                          <p:attrName>ppt_x</p:attrName>
                                        </p:attrNameLst>
                                      </p:cBhvr>
                                      <p:tavLst>
                                        <p:tav tm="0">
                                          <p:val>
                                            <p:strVal val="#ppt_x"/>
                                          </p:val>
                                        </p:tav>
                                        <p:tav tm="100000">
                                          <p:val>
                                            <p:strVal val="#ppt_x"/>
                                          </p:val>
                                        </p:tav>
                                      </p:tavLst>
                                    </p:anim>
                                    <p:anim calcmode="lin" valueType="num">
                                      <p:cBhvr additive="base">
                                        <p:cTn id="30" dur="500" fill="hold"/>
                                        <p:tgtEl>
                                          <p:spTgt spid="1229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p:bldP spid="12296" grpId="1"/>
      <p:bldP spid="2" grpId="0"/>
      <p:bldP spid="2" grpId="1"/>
      <p:bldP spid="6" grpId="0"/>
      <p:bldP spid="6" grpId="1"/>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3315" name="矩形 9"/>
          <p:cNvSpPr/>
          <p:nvPr/>
        </p:nvSpPr>
        <p:spPr>
          <a:xfrm>
            <a:off x="683578" y="764223"/>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pic>
        <p:nvPicPr>
          <p:cNvPr id="13317" name="图片 17"/>
          <p:cNvPicPr>
            <a:picLocks noChangeAspect="1"/>
          </p:cNvPicPr>
          <p:nvPr/>
        </p:nvPicPr>
        <p:blipFill>
          <a:blip r:embed="rId6"/>
          <a:stretch>
            <a:fillRect/>
          </a:stretch>
        </p:blipFill>
        <p:spPr>
          <a:xfrm>
            <a:off x="909320" y="1670050"/>
            <a:ext cx="3620770" cy="2004695"/>
          </a:xfrm>
          <a:prstGeom prst="rect">
            <a:avLst/>
          </a:prstGeom>
          <a:noFill/>
          <a:ln w="9525">
            <a:noFill/>
          </a:ln>
        </p:spPr>
      </p:pic>
      <p:sp>
        <p:nvSpPr>
          <p:cNvPr id="13318" name="矩形 18"/>
          <p:cNvSpPr/>
          <p:nvPr/>
        </p:nvSpPr>
        <p:spPr>
          <a:xfrm>
            <a:off x="4924108" y="1985010"/>
            <a:ext cx="3401060" cy="645160"/>
          </a:xfrm>
          <a:prstGeom prst="rect">
            <a:avLst/>
          </a:prstGeom>
          <a:noFill/>
          <a:ln w="9525">
            <a:noFill/>
          </a:ln>
        </p:spPr>
        <p:txBody>
          <a:bodyPr wrap="non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电子科技大学国家级教学成果奖</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cs typeface="黑体" panose="02010609060101010101" charset="-122"/>
              </a:rPr>
              <a:t>“新四会”：听说读写</a:t>
            </a:r>
          </a:p>
        </p:txBody>
      </p:sp>
      <p:sp>
        <p:nvSpPr>
          <p:cNvPr id="13319" name="矩形 19"/>
          <p:cNvSpPr/>
          <p:nvPr/>
        </p:nvSpPr>
        <p:spPr>
          <a:xfrm>
            <a:off x="1200468" y="3756025"/>
            <a:ext cx="2941320" cy="645160"/>
          </a:xfrm>
          <a:prstGeom prst="rect">
            <a:avLst/>
          </a:prstGeom>
          <a:noFill/>
          <a:ln w="9525">
            <a:noFill/>
          </a:ln>
        </p:spPr>
        <p:txBody>
          <a:bodyPr wrap="none" anchor="t">
            <a:spAutoFit/>
          </a:bodyPr>
          <a:lstStyle/>
          <a:p>
            <a:pPr algn="r" defTabSz="457200">
              <a:spcAft>
                <a:spcPts val="0"/>
              </a:spcAft>
            </a:pPr>
            <a:r>
              <a:rPr lang="zh-CN" altLang="en-US" sz="1800" b="1" dirty="0">
                <a:solidFill>
                  <a:srgbClr val="000000"/>
                </a:solidFill>
                <a:latin typeface="黑体" panose="02010609060101010101" charset="-122"/>
                <a:ea typeface="黑体" panose="02010609060101010101" charset="-122"/>
              </a:rPr>
              <a:t>清华大学苏世民书院</a:t>
            </a:r>
            <a:endParaRPr lang="en-US" altLang="zh-CN" sz="1800" b="1" dirty="0">
              <a:solidFill>
                <a:srgbClr val="000000"/>
              </a:solidFill>
              <a:latin typeface="黑体" panose="02010609060101010101" charset="-122"/>
              <a:ea typeface="黑体" panose="02010609060101010101" charset="-122"/>
            </a:endParaRPr>
          </a:p>
          <a:p>
            <a:pPr algn="r" defTabSz="457200">
              <a:spcBef>
                <a:spcPts val="0"/>
              </a:spcBef>
            </a:pPr>
            <a:r>
              <a:rPr lang="zh-CN" altLang="en-US" sz="1800" b="1" dirty="0">
                <a:solidFill>
                  <a:srgbClr val="000000"/>
                </a:solidFill>
                <a:latin typeface="黑体" panose="02010609060101010101" charset="-122"/>
                <a:ea typeface="黑体" panose="02010609060101010101" charset="-122"/>
              </a:rPr>
              <a:t>听说读写，属于核心领导力</a:t>
            </a:r>
          </a:p>
        </p:txBody>
      </p:sp>
      <p:sp>
        <p:nvSpPr>
          <p:cNvPr id="2" name="矩形 19"/>
          <p:cNvSpPr/>
          <p:nvPr/>
        </p:nvSpPr>
        <p:spPr>
          <a:xfrm>
            <a:off x="683578" y="5301615"/>
            <a:ext cx="3056890" cy="368300"/>
          </a:xfrm>
          <a:prstGeom prst="rect">
            <a:avLst/>
          </a:prstGeom>
          <a:noFill/>
          <a:ln w="9525">
            <a:noFill/>
          </a:ln>
        </p:spPr>
        <p:txBody>
          <a:bodyPr wrap="none" anchor="t">
            <a:spAutoFit/>
          </a:bodyPr>
          <a:lstStyle/>
          <a:p>
            <a:pPr algn="r" defTabSz="457200">
              <a:spcAft>
                <a:spcPts val="0"/>
              </a:spcAft>
            </a:pPr>
            <a:r>
              <a:rPr lang="zh-CN" altLang="en-US" sz="1800" b="1" dirty="0">
                <a:solidFill>
                  <a:srgbClr val="000000"/>
                </a:solidFill>
                <a:latin typeface="黑体" panose="02010609060101010101" charset="-122"/>
                <a:ea typeface="黑体" panose="02010609060101010101" charset="-122"/>
              </a:rPr>
              <a:t>电子科技大学校长</a:t>
            </a:r>
            <a:r>
              <a:rPr lang="en-US" altLang="zh-CN" sz="1800" b="1" dirty="0">
                <a:solidFill>
                  <a:srgbClr val="000000"/>
                </a:solidFill>
                <a:latin typeface="黑体" panose="02010609060101010101" charset="-122"/>
                <a:ea typeface="黑体" panose="02010609060101010101" charset="-122"/>
              </a:rPr>
              <a:t> </a:t>
            </a:r>
            <a:r>
              <a:rPr lang="zh-CN" altLang="en-US" sz="1800" b="1" dirty="0">
                <a:solidFill>
                  <a:srgbClr val="000000"/>
                </a:solidFill>
                <a:latin typeface="黑体" panose="02010609060101010101" charset="-122"/>
                <a:ea typeface="黑体" panose="02010609060101010101" charset="-122"/>
              </a:rPr>
              <a:t>曾勇教授</a:t>
            </a:r>
          </a:p>
        </p:txBody>
      </p:sp>
      <p:sp>
        <p:nvSpPr>
          <p:cNvPr id="3" name="文本框 2"/>
          <p:cNvSpPr txBox="1"/>
          <p:nvPr/>
        </p:nvSpPr>
        <p:spPr>
          <a:xfrm>
            <a:off x="2427605" y="5800090"/>
            <a:ext cx="6631305" cy="1007745"/>
          </a:xfrm>
          <a:prstGeom prst="rect">
            <a:avLst/>
          </a:prstGeom>
          <a:noFill/>
        </p:spPr>
        <p:txBody>
          <a:bodyPr wrap="square" rtlCol="0" anchor="t">
            <a:noAutofit/>
          </a:bodyPr>
          <a:lstStyle/>
          <a:p>
            <a:pPr>
              <a:spcAft>
                <a:spcPts val="0"/>
              </a:spcAft>
            </a:pPr>
            <a:r>
              <a:rPr lang="zh-CN" altLang="en-US" sz="1800" b="1">
                <a:solidFill>
                  <a:srgbClr val="0000FF"/>
                </a:solidFill>
                <a:latin typeface="方正楷体_GB2312" panose="02000000000000000000" charset="-122"/>
                <a:ea typeface="方正楷体_GB2312" panose="02000000000000000000" charset="-122"/>
              </a:rPr>
              <a:t>大家要相互关心、与人为善、</a:t>
            </a:r>
            <a:r>
              <a:rPr lang="zh-CN" altLang="en-US" sz="1800" b="1">
                <a:solidFill>
                  <a:srgbClr val="FF0000"/>
                </a:solidFill>
                <a:latin typeface="方正楷体_GB2312" panose="02000000000000000000" charset="-122"/>
                <a:ea typeface="方正楷体_GB2312" panose="02000000000000000000" charset="-122"/>
              </a:rPr>
              <a:t>学会分享</a:t>
            </a:r>
            <a:r>
              <a:rPr lang="zh-CN" altLang="en-US" sz="1800" b="1">
                <a:solidFill>
                  <a:srgbClr val="0000FF"/>
                </a:solidFill>
                <a:latin typeface="方正楷体_GB2312" panose="02000000000000000000" charset="-122"/>
                <a:ea typeface="方正楷体_GB2312" panose="02000000000000000000" charset="-122"/>
              </a:rPr>
              <a:t>、懂得感恩，正因为大学四年是人生的关键时期，同学们在人生探索、欢乐与痛苦的交流分享中所建立的友谊，将伴随你们的终生。</a:t>
            </a:r>
          </a:p>
        </p:txBody>
      </p:sp>
      <p:pic>
        <p:nvPicPr>
          <p:cNvPr id="4" name="图片 3"/>
          <p:cNvPicPr>
            <a:picLocks noChangeAspect="1"/>
          </p:cNvPicPr>
          <p:nvPr/>
        </p:nvPicPr>
        <p:blipFill>
          <a:blip r:embed="rId7"/>
          <a:stretch>
            <a:fillRect/>
          </a:stretch>
        </p:blipFill>
        <p:spPr>
          <a:xfrm>
            <a:off x="755650" y="5733415"/>
            <a:ext cx="1537970" cy="979170"/>
          </a:xfrm>
          <a:prstGeom prst="rect">
            <a:avLst/>
          </a:prstGeom>
        </p:spPr>
      </p:pic>
      <p:sp>
        <p:nvSpPr>
          <p:cNvPr id="5" name="文本框 4"/>
          <p:cNvSpPr txBox="1"/>
          <p:nvPr>
            <p:custDataLst>
              <p:tags r:id="rId3"/>
            </p:custDataLst>
          </p:nvPr>
        </p:nvSpPr>
        <p:spPr>
          <a:xfrm>
            <a:off x="2771775" y="1318260"/>
            <a:ext cx="4572000" cy="460375"/>
          </a:xfrm>
          <a:prstGeom prst="rect">
            <a:avLst/>
          </a:prstGeom>
          <a:noFill/>
        </p:spPr>
        <p:txBody>
          <a:bodyPr wrap="square" rtlCol="0" anchor="t">
            <a:spAutoFit/>
          </a:bodyPr>
          <a:lstStyle/>
          <a:p>
            <a:pPr>
              <a:spcAft>
                <a:spcPts val="0"/>
              </a:spcAft>
            </a:pPr>
            <a:r>
              <a:rPr lang="zh-CN" altLang="en-US" sz="2400" b="1" dirty="0">
                <a:solidFill>
                  <a:srgbClr val="FF0000"/>
                </a:solidFill>
                <a:ea typeface="方正大黑简体" panose="02000000000000000000" charset="-122"/>
                <a:sym typeface="+mn-ea"/>
              </a:rPr>
              <a:t>学会分享，伴随终身！</a:t>
            </a:r>
          </a:p>
        </p:txBody>
      </p:sp>
      <p:grpSp>
        <p:nvGrpSpPr>
          <p:cNvPr id="8" name="组合 7"/>
          <p:cNvGrpSpPr/>
          <p:nvPr/>
        </p:nvGrpSpPr>
        <p:grpSpPr>
          <a:xfrm>
            <a:off x="4521200" y="3390265"/>
            <a:ext cx="4493260" cy="2232660"/>
            <a:chOff x="7120" y="5339"/>
            <a:chExt cx="7076" cy="3516"/>
          </a:xfrm>
        </p:grpSpPr>
        <p:pic>
          <p:nvPicPr>
            <p:cNvPr id="13316" name="图片 15"/>
            <p:cNvPicPr>
              <a:picLocks noChangeAspect="1"/>
            </p:cNvPicPr>
            <p:nvPr/>
          </p:nvPicPr>
          <p:blipFill>
            <a:blip r:embed="rId8"/>
            <a:srcRect l="2441" r="4797"/>
            <a:stretch>
              <a:fillRect/>
            </a:stretch>
          </p:blipFill>
          <p:spPr>
            <a:xfrm>
              <a:off x="7120" y="5339"/>
              <a:ext cx="7076" cy="3516"/>
            </a:xfrm>
            <a:prstGeom prst="rect">
              <a:avLst/>
            </a:prstGeom>
            <a:noFill/>
            <a:ln w="9525">
              <a:noFill/>
            </a:ln>
          </p:spPr>
        </p:pic>
        <p:sp>
          <p:nvSpPr>
            <p:cNvPr id="7" name="文本框 6"/>
            <p:cNvSpPr txBox="1"/>
            <p:nvPr/>
          </p:nvSpPr>
          <p:spPr>
            <a:xfrm>
              <a:off x="9582" y="8235"/>
              <a:ext cx="3684" cy="434"/>
            </a:xfrm>
            <a:prstGeom prst="rect">
              <a:avLst/>
            </a:prstGeom>
            <a:solidFill>
              <a:srgbClr val="B2B6BF"/>
            </a:solidFill>
          </p:spPr>
          <p:txBody>
            <a:bodyPr wrap="square" rtlCol="0" anchor="t">
              <a:spAutoFit/>
            </a:bodyPr>
            <a:lstStyle/>
            <a:p>
              <a:r>
                <a:rPr lang="zh-CN" altLang="en-US" sz="1200" b="1" dirty="0">
                  <a:solidFill>
                    <a:srgbClr val="0000FF"/>
                  </a:solidFill>
                  <a:latin typeface="楷体" panose="02010609060101010101" charset="-122"/>
                  <a:ea typeface="楷体" panose="02010609060101010101" charset="-122"/>
                  <a:cs typeface="楷体" panose="02010609060101010101" charset="-122"/>
                  <a:sym typeface="+mn-ea"/>
                </a:rPr>
                <a:t>电子科技大学前校长</a:t>
              </a:r>
              <a:r>
                <a:rPr lang="en-US" altLang="zh-CN" sz="1200" b="1" dirty="0">
                  <a:solidFill>
                    <a:srgbClr val="0000FF"/>
                  </a:solidFill>
                  <a:latin typeface="楷体" panose="02010609060101010101" charset="-122"/>
                  <a:ea typeface="楷体" panose="02010609060101010101" charset="-122"/>
                  <a:cs typeface="楷体" panose="02010609060101010101" charset="-122"/>
                  <a:sym typeface="+mn-ea"/>
                </a:rPr>
                <a:t> </a:t>
              </a:r>
              <a:r>
                <a:rPr lang="zh-CN" altLang="en-US" sz="1200" b="1" dirty="0">
                  <a:solidFill>
                    <a:srgbClr val="0000FF"/>
                  </a:solidFill>
                  <a:latin typeface="楷体" panose="02010609060101010101" charset="-122"/>
                  <a:ea typeface="楷体" panose="02010609060101010101" charset="-122"/>
                  <a:cs typeface="楷体" panose="02010609060101010101" charset="-122"/>
                  <a:sym typeface="+mn-ea"/>
                </a:rPr>
                <a:t>李言荣</a:t>
              </a:r>
            </a:p>
          </p:txBody>
        </p:sp>
      </p:grpSp>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 calcmode="lin" valueType="num">
                                      <p:cBhvr additive="base">
                                        <p:cTn id="7" dur="500" fill="hold"/>
                                        <p:tgtEl>
                                          <p:spTgt spid="13317"/>
                                        </p:tgtEl>
                                        <p:attrNameLst>
                                          <p:attrName>ppt_x</p:attrName>
                                        </p:attrNameLst>
                                      </p:cBhvr>
                                      <p:tavLst>
                                        <p:tav tm="0">
                                          <p:val>
                                            <p:strVal val="#ppt_x"/>
                                          </p:val>
                                        </p:tav>
                                        <p:tav tm="100000">
                                          <p:val>
                                            <p:strVal val="#ppt_x"/>
                                          </p:val>
                                        </p:tav>
                                      </p:tavLst>
                                    </p:anim>
                                    <p:anim calcmode="lin" valueType="num">
                                      <p:cBhvr additive="base">
                                        <p:cTn id="8" dur="500" fill="hold"/>
                                        <p:tgtEl>
                                          <p:spTgt spid="133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318"/>
                                        </p:tgtEl>
                                        <p:attrNameLst>
                                          <p:attrName>style.visibility</p:attrName>
                                        </p:attrNameLst>
                                      </p:cBhvr>
                                      <p:to>
                                        <p:strVal val="visible"/>
                                      </p:to>
                                    </p:set>
                                    <p:anim calcmode="lin" valueType="num">
                                      <p:cBhvr additive="base">
                                        <p:cTn id="11" dur="500" fill="hold"/>
                                        <p:tgtEl>
                                          <p:spTgt spid="13318"/>
                                        </p:tgtEl>
                                        <p:attrNameLst>
                                          <p:attrName>ppt_x</p:attrName>
                                        </p:attrNameLst>
                                      </p:cBhvr>
                                      <p:tavLst>
                                        <p:tav tm="0">
                                          <p:val>
                                            <p:strVal val="#ppt_x"/>
                                          </p:val>
                                        </p:tav>
                                        <p:tav tm="100000">
                                          <p:val>
                                            <p:strVal val="#ppt_x"/>
                                          </p:val>
                                        </p:tav>
                                      </p:tavLst>
                                    </p:anim>
                                    <p:anim calcmode="lin" valueType="num">
                                      <p:cBhvr additive="base">
                                        <p:cTn id="12" dur="500" fill="hold"/>
                                        <p:tgtEl>
                                          <p:spTgt spid="133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9"/>
                                        </p:tgtEl>
                                        <p:attrNameLst>
                                          <p:attrName>style.visibility</p:attrName>
                                        </p:attrNameLst>
                                      </p:cBhvr>
                                      <p:to>
                                        <p:strVal val="visible"/>
                                      </p:to>
                                    </p:set>
                                    <p:animEffect transition="in" filter="blinds(horizontal)">
                                      <p:cBhvr>
                                        <p:cTn id="17" dur="500"/>
                                        <p:tgtEl>
                                          <p:spTgt spid="1331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par>
                          <p:cTn id="34" fill="hold">
                            <p:stCondLst>
                              <p:cond delay="500"/>
                            </p:stCondLst>
                            <p:childTnLst>
                              <p:par>
                                <p:cTn id="35" presetID="2" presetClass="entr" presetSubtype="4"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p:bldP spid="13319" grpId="0"/>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userDrawn="1">
            <p:custDataLst>
              <p:tags r:id="rId1"/>
            </p:custDataLst>
          </p:nvPr>
        </p:nvPicPr>
        <p:blipFill>
          <a:blip r:embed="rId5"/>
          <a:stretch>
            <a:fillRect/>
          </a:stretch>
        </p:blipFill>
        <p:spPr>
          <a:xfrm>
            <a:off x="48577" y="249238"/>
            <a:ext cx="1127284" cy="1068705"/>
          </a:xfrm>
          <a:prstGeom prst="rect">
            <a:avLst/>
          </a:prstGeom>
        </p:spPr>
      </p:pic>
      <p:sp>
        <p:nvSpPr>
          <p:cNvPr id="9" name="Rectangle 2"/>
          <p:cNvSpPr>
            <a:spLocks noGrp="1" noChangeArrowheads="1"/>
          </p:cNvSpPr>
          <p:nvPr/>
        </p:nvSpPr>
        <p:spPr>
          <a:xfrm>
            <a:off x="1187450" y="44450"/>
            <a:ext cx="6624638" cy="792163"/>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3315" name="矩形 9"/>
          <p:cNvSpPr/>
          <p:nvPr/>
        </p:nvSpPr>
        <p:spPr>
          <a:xfrm>
            <a:off x="683578" y="764223"/>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sp>
        <p:nvSpPr>
          <p:cNvPr id="5" name="文本框 4"/>
          <p:cNvSpPr txBox="1"/>
          <p:nvPr>
            <p:custDataLst>
              <p:tags r:id="rId2"/>
            </p:custDataLst>
          </p:nvPr>
        </p:nvSpPr>
        <p:spPr>
          <a:xfrm>
            <a:off x="167640" y="1364615"/>
            <a:ext cx="8863965" cy="875030"/>
          </a:xfrm>
          <a:prstGeom prst="rect">
            <a:avLst/>
          </a:prstGeom>
          <a:noFill/>
        </p:spPr>
        <p:txBody>
          <a:bodyPr wrap="square" rtlCol="0" anchor="t">
            <a:noAutofit/>
          </a:bodyPr>
          <a:lstStyle/>
          <a:p>
            <a:pPr>
              <a:spcAft>
                <a:spcPts val="0"/>
              </a:spcAft>
            </a:pPr>
            <a:r>
              <a:rPr lang="zh-CN" altLang="en-US" sz="2400" b="1" dirty="0">
                <a:solidFill>
                  <a:srgbClr val="0000FF"/>
                </a:solidFill>
                <a:latin typeface="黑体" panose="02010609060101010101" charset="-122"/>
                <a:ea typeface="黑体" panose="02010609060101010101" charset="-122"/>
                <a:sym typeface="+mn-ea"/>
              </a:rPr>
              <a:t>迎接时代变迁，培养创新意识和能力，培养团结奉献的精神品格！</a:t>
            </a:r>
          </a:p>
        </p:txBody>
      </p:sp>
      <p:sp>
        <p:nvSpPr>
          <p:cNvPr id="3" name="文本框 2"/>
          <p:cNvSpPr txBox="1"/>
          <p:nvPr/>
        </p:nvSpPr>
        <p:spPr>
          <a:xfrm>
            <a:off x="3275856" y="2840037"/>
            <a:ext cx="5544616" cy="2264851"/>
          </a:xfrm>
          <a:prstGeom prst="rect">
            <a:avLst/>
          </a:prstGeom>
        </p:spPr>
        <p:txBody>
          <a:bodyPr wrap="square">
            <a:spAutoFit/>
          </a:bodyPr>
          <a:lstStyle/>
          <a:p>
            <a:pPr marL="0" indent="0" algn="just">
              <a:lnSpc>
                <a:spcPct val="150000"/>
              </a:lnSpc>
            </a:pPr>
            <a:r>
              <a:rPr lang="zh-CN" altLang="en-US" sz="1600" b="0" i="0" dirty="0">
                <a:solidFill>
                  <a:srgbClr val="3E3E3E"/>
                </a:solidFill>
                <a:latin typeface="微软雅黑" panose="020B0503020204020204" charset="-122"/>
                <a:ea typeface="微软雅黑" panose="020B0503020204020204" charset="-122"/>
              </a:rPr>
              <a:t>“当今世界正在经历百年未有之大变局，我国也正处于实现中华民族伟大复兴的关键时期，科技创新的重要性日益凸显。这为同学们发挥聪明才智、立志民族复兴提供了更广阔的舞台。现在，距离建成教育强国还有不到</a:t>
            </a:r>
            <a:r>
              <a:rPr lang="en-US" altLang="zh-CN" sz="1600" b="0" i="0" dirty="0">
                <a:solidFill>
                  <a:srgbClr val="3E3E3E"/>
                </a:solidFill>
                <a:latin typeface="微软雅黑" panose="020B0503020204020204" charset="-122"/>
                <a:ea typeface="微软雅黑" panose="020B0503020204020204" charset="-122"/>
              </a:rPr>
              <a:t>10</a:t>
            </a:r>
            <a:r>
              <a:rPr lang="zh-CN" altLang="en-US" sz="1600" b="0" i="0" dirty="0">
                <a:solidFill>
                  <a:srgbClr val="3E3E3E"/>
                </a:solidFill>
                <a:latin typeface="微软雅黑" panose="020B0503020204020204" charset="-122"/>
                <a:ea typeface="微软雅黑" panose="020B0503020204020204" charset="-122"/>
              </a:rPr>
              <a:t>年的时间。你们的成长将与国家的发展紧密相连，你们的担当将与民族的复兴同频共振，你们的奋斗将与时代的潮流同向而行。”</a:t>
            </a:r>
          </a:p>
        </p:txBody>
      </p:sp>
      <p:sp>
        <p:nvSpPr>
          <p:cNvPr id="8" name="文本框 7"/>
          <p:cNvSpPr txBox="1"/>
          <p:nvPr/>
        </p:nvSpPr>
        <p:spPr>
          <a:xfrm>
            <a:off x="1175861" y="1955520"/>
            <a:ext cx="7107714" cy="825408"/>
          </a:xfrm>
          <a:prstGeom prst="rect">
            <a:avLst/>
          </a:prstGeom>
        </p:spPr>
        <p:txBody>
          <a:bodyPr>
            <a:noAutofit/>
          </a:bodyPr>
          <a:lstStyle/>
          <a:p>
            <a:pPr algn="ctr">
              <a:lnSpc>
                <a:spcPct val="100000"/>
              </a:lnSpc>
              <a:spcAft>
                <a:spcPct val="0"/>
              </a:spcAft>
            </a:pPr>
            <a:r>
              <a:rPr lang="zh-CN" altLang="en-US" sz="1800" b="1" i="0" dirty="0">
                <a:solidFill>
                  <a:schemeClr val="tx1"/>
                </a:solidFill>
                <a:latin typeface="微软雅黑" panose="020B0503020204020204" charset="-122"/>
                <a:ea typeface="微软雅黑" panose="020B0503020204020204" charset="-122"/>
              </a:rPr>
              <a:t>心怀国之大者，把论文写在祖国大地上</a:t>
            </a:r>
            <a:endParaRPr lang="en-US" altLang="zh-CN" sz="1800" b="1" i="0" dirty="0">
              <a:solidFill>
                <a:schemeClr val="tx1"/>
              </a:solidFill>
              <a:latin typeface="微软雅黑" panose="020B0503020204020204" charset="-122"/>
              <a:ea typeface="微软雅黑" panose="020B0503020204020204" charset="-122"/>
            </a:endParaRPr>
          </a:p>
          <a:p>
            <a:pPr algn="ctr">
              <a:lnSpc>
                <a:spcPct val="100000"/>
              </a:lnSpc>
              <a:spcAft>
                <a:spcPct val="0"/>
              </a:spcAft>
            </a:pPr>
            <a:r>
              <a:rPr lang="en-US" altLang="zh-CN" sz="1600" b="0" i="0" dirty="0">
                <a:solidFill>
                  <a:schemeClr val="tx1"/>
                </a:solidFill>
                <a:latin typeface="Arial" panose="020B0604020202020204"/>
                <a:ea typeface="Arial" panose="020B0604020202020204"/>
              </a:rPr>
              <a:t>——2025</a:t>
            </a:r>
            <a:r>
              <a:rPr lang="zh-CN" altLang="en-US" sz="1600" b="0" i="0" dirty="0">
                <a:solidFill>
                  <a:schemeClr val="tx1"/>
                </a:solidFill>
                <a:latin typeface="Arial" panose="020B0604020202020204"/>
                <a:ea typeface="Arial" panose="020B0604020202020204"/>
              </a:rPr>
              <a:t>级</a:t>
            </a:r>
            <a:r>
              <a:rPr lang="zh-CN" altLang="en-US" sz="1600" dirty="0">
                <a:latin typeface="Arial" panose="020B0604020202020204"/>
                <a:ea typeface="Arial" panose="020B0604020202020204"/>
              </a:rPr>
              <a:t>研究生</a:t>
            </a:r>
            <a:r>
              <a:rPr lang="zh-CN" altLang="en-US" sz="1600" b="0" i="0" dirty="0">
                <a:solidFill>
                  <a:schemeClr val="tx1"/>
                </a:solidFill>
                <a:latin typeface="Arial" panose="020B0604020202020204"/>
                <a:ea typeface="Arial" panose="020B0604020202020204"/>
              </a:rPr>
              <a:t>新生开学典礼致辞</a:t>
            </a:r>
          </a:p>
          <a:p>
            <a:pPr algn="ctr">
              <a:lnSpc>
                <a:spcPct val="100000"/>
              </a:lnSpc>
              <a:spcAft>
                <a:spcPct val="0"/>
              </a:spcAft>
            </a:pPr>
            <a:r>
              <a:rPr lang="zh-CN" altLang="en-US" sz="1600" b="0" i="0" dirty="0">
                <a:solidFill>
                  <a:schemeClr val="tx1"/>
                </a:solidFill>
                <a:latin typeface="Arial" panose="020B0604020202020204"/>
                <a:ea typeface="Arial" panose="020B0604020202020204"/>
              </a:rPr>
              <a:t>校长 胡 俊</a:t>
            </a:r>
          </a:p>
        </p:txBody>
      </p:sp>
      <p:pic>
        <p:nvPicPr>
          <p:cNvPr id="10" name="图片 9">
            <a:extLst>
              <a:ext uri="{FF2B5EF4-FFF2-40B4-BE49-F238E27FC236}">
                <a16:creationId xmlns:a16="http://schemas.microsoft.com/office/drawing/2014/main" id="{0A611CB0-4FB5-F922-08FD-4F9AC059DE95}"/>
              </a:ext>
            </a:extLst>
          </p:cNvPr>
          <p:cNvPicPr>
            <a:picLocks noChangeAspect="1"/>
          </p:cNvPicPr>
          <p:nvPr/>
        </p:nvPicPr>
        <p:blipFill>
          <a:blip r:embed="rId6"/>
          <a:stretch>
            <a:fillRect/>
          </a:stretch>
        </p:blipFill>
        <p:spPr>
          <a:xfrm>
            <a:off x="287840" y="3051319"/>
            <a:ext cx="2844000" cy="1889849"/>
          </a:xfrm>
          <a:prstGeom prst="rect">
            <a:avLst/>
          </a:prstGeom>
        </p:spPr>
      </p:pic>
      <p:sp>
        <p:nvSpPr>
          <p:cNvPr id="12" name="文本框 11">
            <a:extLst>
              <a:ext uri="{FF2B5EF4-FFF2-40B4-BE49-F238E27FC236}">
                <a16:creationId xmlns:a16="http://schemas.microsoft.com/office/drawing/2014/main" id="{0174D496-62CF-1569-4EC9-C043BFBD7947}"/>
              </a:ext>
            </a:extLst>
          </p:cNvPr>
          <p:cNvSpPr txBox="1"/>
          <p:nvPr/>
        </p:nvSpPr>
        <p:spPr>
          <a:xfrm>
            <a:off x="3287728" y="5301208"/>
            <a:ext cx="3876560" cy="1323439"/>
          </a:xfrm>
          <a:prstGeom prst="rect">
            <a:avLst/>
          </a:prstGeom>
          <a:noFill/>
        </p:spPr>
        <p:txBody>
          <a:bodyPr wrap="square">
            <a:spAutoFit/>
          </a:bodyPr>
          <a:lstStyle/>
          <a:p>
            <a:r>
              <a:rPr lang="zh-CN" altLang="en-US" sz="1600" dirty="0">
                <a:solidFill>
                  <a:srgbClr val="3E3E3E"/>
                </a:solidFill>
                <a:latin typeface="微软雅黑" panose="020B0503020204020204" charset="-122"/>
                <a:ea typeface="微软雅黑" panose="020B0503020204020204" charset="-122"/>
              </a:rPr>
              <a:t>“一是扎根中国大地，把准科研方向。</a:t>
            </a:r>
            <a:endParaRPr lang="en-US" altLang="zh-CN" sz="1600" dirty="0">
              <a:solidFill>
                <a:srgbClr val="3E3E3E"/>
              </a:solidFill>
              <a:latin typeface="微软雅黑" panose="020B0503020204020204" charset="-122"/>
              <a:ea typeface="微软雅黑" panose="020B0503020204020204" charset="-122"/>
            </a:endParaRPr>
          </a:p>
          <a:p>
            <a:r>
              <a:rPr lang="zh-CN" altLang="en-US" sz="1600" dirty="0">
                <a:solidFill>
                  <a:srgbClr val="3E3E3E"/>
                </a:solidFill>
                <a:latin typeface="微软雅黑" panose="020B0503020204020204" charset="-122"/>
                <a:ea typeface="微软雅黑" panose="020B0503020204020204" charset="-122"/>
              </a:rPr>
              <a:t>   二是聚焦行业前沿，拓展全球视野。</a:t>
            </a:r>
            <a:endParaRPr lang="en-US" altLang="zh-CN" sz="1600" dirty="0">
              <a:solidFill>
                <a:srgbClr val="3E3E3E"/>
              </a:solidFill>
              <a:latin typeface="微软雅黑" panose="020B0503020204020204" charset="-122"/>
              <a:ea typeface="微软雅黑" panose="020B0503020204020204" charset="-122"/>
            </a:endParaRPr>
          </a:p>
          <a:p>
            <a:r>
              <a:rPr lang="zh-CN" altLang="en-US" sz="1600" dirty="0">
                <a:solidFill>
                  <a:srgbClr val="3E3E3E"/>
                </a:solidFill>
                <a:latin typeface="微软雅黑" panose="020B0503020204020204" charset="-122"/>
                <a:ea typeface="微软雅黑" panose="020B0503020204020204" charset="-122"/>
              </a:rPr>
              <a:t>   三是坚持求真务实，培育严谨学风。</a:t>
            </a:r>
            <a:endParaRPr lang="en-US" altLang="zh-CN" sz="1600" dirty="0">
              <a:solidFill>
                <a:srgbClr val="3E3E3E"/>
              </a:solidFill>
              <a:latin typeface="微软雅黑" panose="020B0503020204020204" charset="-122"/>
              <a:ea typeface="微软雅黑" panose="020B0503020204020204" charset="-122"/>
            </a:endParaRPr>
          </a:p>
          <a:p>
            <a:r>
              <a:rPr lang="zh-CN" altLang="en-US" sz="1600" dirty="0">
                <a:solidFill>
                  <a:srgbClr val="3E3E3E"/>
                </a:solidFill>
                <a:latin typeface="微软雅黑" panose="020B0503020204020204" charset="-122"/>
                <a:ea typeface="微软雅黑" panose="020B0503020204020204" charset="-122"/>
              </a:rPr>
              <a:t>   四是锤炼坚韧品格，矢志原始创新。</a:t>
            </a:r>
            <a:endParaRPr lang="en-US" altLang="zh-CN" sz="1600" dirty="0">
              <a:solidFill>
                <a:srgbClr val="3E3E3E"/>
              </a:solidFill>
              <a:latin typeface="微软雅黑" panose="020B0503020204020204" charset="-122"/>
              <a:ea typeface="微软雅黑" panose="020B0503020204020204" charset="-122"/>
            </a:endParaRPr>
          </a:p>
          <a:p>
            <a:r>
              <a:rPr lang="zh-CN" altLang="en-US" sz="1600" dirty="0">
                <a:solidFill>
                  <a:srgbClr val="3E3E3E"/>
                </a:solidFill>
                <a:latin typeface="微软雅黑" panose="020B0503020204020204" charset="-122"/>
                <a:ea typeface="微软雅黑" panose="020B0503020204020204" charset="-122"/>
              </a:rPr>
              <a:t>   五是增强团队精神，学会相互协作。“</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cms.org.cn/ueditor/php/upload/image/20231225/1703508681784509.jpg"/>
          <p:cNvPicPr>
            <a:picLocks noChangeAspect="1" noChangeArrowheads="1"/>
          </p:cNvPicPr>
          <p:nvPr/>
        </p:nvPicPr>
        <p:blipFill>
          <a:blip r:embed="rId2"/>
          <a:srcRect/>
          <a:stretch>
            <a:fillRect/>
          </a:stretch>
        </p:blipFill>
        <p:spPr bwMode="auto">
          <a:xfrm>
            <a:off x="1" y="1500174"/>
            <a:ext cx="2893238" cy="1928826"/>
          </a:xfrm>
          <a:prstGeom prst="rect">
            <a:avLst/>
          </a:prstGeom>
          <a:noFill/>
        </p:spPr>
      </p:pic>
      <p:sp>
        <p:nvSpPr>
          <p:cNvPr id="3" name="Rectangle 2"/>
          <p:cNvSpPr txBox="1">
            <a:spLocks noChangeArrowheads="1"/>
          </p:cNvSpPr>
          <p:nvPr/>
        </p:nvSpPr>
        <p:spPr>
          <a:xfrm>
            <a:off x="0" y="857252"/>
            <a:ext cx="9144000" cy="573881"/>
          </a:xfrm>
          <a:prstGeom prst="rect">
            <a:avLst/>
          </a:prstGeom>
          <a:solidFill>
            <a:schemeClr val="accent1"/>
          </a:solidFill>
        </p:spPr>
        <p:txBody>
          <a:bodyPr vert="horz" wrap="square" lIns="68580" tIns="34290" rIns="68580" bIns="34290" rtlCol="0" anchor="ctr">
            <a:normAutofit/>
          </a:bodyPr>
          <a:lstStyle/>
          <a:p>
            <a:pPr>
              <a:lnSpc>
                <a:spcPct val="90000"/>
              </a:lnSpc>
              <a:spcBef>
                <a:spcPct val="0"/>
              </a:spcBef>
            </a:pPr>
            <a:r>
              <a:rPr lang="en-US" altLang="zh-CN" sz="2100" b="1" dirty="0">
                <a:solidFill>
                  <a:srgbClr val="0000FF"/>
                </a:solidFill>
                <a:latin typeface="宋体" panose="02010600030101010101" pitchFamily="2" charset="-122"/>
                <a:ea typeface="宋体" panose="02010600030101010101" pitchFamily="2" charset="-122"/>
              </a:rPr>
              <a:t>【</a:t>
            </a:r>
            <a:r>
              <a:rPr lang="zh-CN" altLang="en-US" sz="2100" b="1" dirty="0">
                <a:solidFill>
                  <a:srgbClr val="0000FF"/>
                </a:solidFill>
                <a:latin typeface="宋体" panose="02010600030101010101" pitchFamily="2" charset="-122"/>
                <a:ea typeface="宋体" panose="02010600030101010101" pitchFamily="2" charset="-122"/>
              </a:rPr>
              <a:t>中国科学报</a:t>
            </a:r>
            <a:r>
              <a:rPr lang="en-US" altLang="zh-CN" sz="2100" b="1" dirty="0">
                <a:solidFill>
                  <a:srgbClr val="0000FF"/>
                </a:solidFill>
                <a:latin typeface="宋体" panose="02010600030101010101" pitchFamily="2" charset="-122"/>
                <a:ea typeface="宋体" panose="02010600030101010101" pitchFamily="2" charset="-122"/>
              </a:rPr>
              <a:t>】</a:t>
            </a:r>
            <a:r>
              <a:rPr lang="zh-CN" altLang="en-US" sz="2100" b="1" dirty="0">
                <a:solidFill>
                  <a:srgbClr val="0000FF"/>
                </a:solidFill>
                <a:latin typeface="宋体" panose="02010600030101010101" pitchFamily="2" charset="-122"/>
                <a:ea typeface="宋体" panose="02010600030101010101" pitchFamily="2" charset="-122"/>
              </a:rPr>
              <a:t>袁亚湘：要关注在中国大地上写论文的科技人员</a:t>
            </a:r>
          </a:p>
        </p:txBody>
      </p:sp>
      <p:sp>
        <p:nvSpPr>
          <p:cNvPr id="4" name="矩形 3"/>
          <p:cNvSpPr/>
          <p:nvPr/>
        </p:nvSpPr>
        <p:spPr>
          <a:xfrm>
            <a:off x="4143372" y="1643050"/>
            <a:ext cx="4749108" cy="3894208"/>
          </a:xfrm>
          <a:prstGeom prst="rect">
            <a:avLst/>
          </a:prstGeom>
        </p:spPr>
        <p:txBody>
          <a:bodyPr wrap="square">
            <a:spAutoFit/>
          </a:bodyPr>
          <a:lstStyle/>
          <a:p>
            <a:pPr>
              <a:lnSpc>
                <a:spcPct val="150000"/>
              </a:lnSpc>
            </a:pPr>
            <a:r>
              <a:rPr lang="zh-CN" altLang="en-US" sz="2800" dirty="0">
                <a:latin typeface="微软雅黑" panose="020B0503020204020204" charset="-122"/>
                <a:ea typeface="微软雅黑" panose="020B0503020204020204" charset="-122"/>
              </a:rPr>
              <a:t>   “不但要将论文写在祖国大地上，更要在祖国大地上作出重要工作和贡献。</a:t>
            </a:r>
            <a:endParaRPr lang="en-US" altLang="zh-CN" sz="2800" dirty="0">
              <a:latin typeface="微软雅黑" panose="020B0503020204020204" charset="-122"/>
              <a:ea typeface="微软雅黑" panose="020B0503020204020204" charset="-122"/>
            </a:endParaRPr>
          </a:p>
          <a:p>
            <a:pPr>
              <a:lnSpc>
                <a:spcPct val="150000"/>
              </a:lnSpc>
            </a:pPr>
            <a:r>
              <a:rPr lang="zh-CN" altLang="en-US" sz="2800" dirty="0">
                <a:latin typeface="微软雅黑" panose="020B0503020204020204" charset="-122"/>
                <a:ea typeface="微软雅黑" panose="020B0503020204020204" charset="-122"/>
              </a:rPr>
              <a:t>      他还建议，科技评价中应更多关注在中国大地上写论文的科技人员。</a:t>
            </a:r>
          </a:p>
        </p:txBody>
      </p:sp>
      <p:sp>
        <p:nvSpPr>
          <p:cNvPr id="5" name="矩形 4"/>
          <p:cNvSpPr/>
          <p:nvPr/>
        </p:nvSpPr>
        <p:spPr>
          <a:xfrm>
            <a:off x="467544" y="5105216"/>
            <a:ext cx="2714644" cy="275590"/>
          </a:xfrm>
          <a:prstGeom prst="rect">
            <a:avLst/>
          </a:prstGeom>
        </p:spPr>
        <p:txBody>
          <a:bodyPr wrap="square">
            <a:spAutoFit/>
          </a:bodyPr>
          <a:lstStyle/>
          <a:p>
            <a:r>
              <a:rPr lang="zh-CN" altLang="en-US" sz="1200" dirty="0">
                <a:latin typeface="仿宋" panose="02010609060101010101" pitchFamily="49" charset="-122"/>
                <a:ea typeface="仿宋" panose="02010609060101010101" pitchFamily="49" charset="-122"/>
              </a:rPr>
              <a:t>中国数学会</a:t>
            </a:r>
            <a:r>
              <a:rPr lang="en-US" altLang="zh-CN" sz="1200" dirty="0">
                <a:latin typeface="仿宋" panose="02010609060101010101" pitchFamily="49" charset="-122"/>
                <a:ea typeface="仿宋" panose="02010609060101010101" pitchFamily="49" charset="-122"/>
              </a:rPr>
              <a:t>2023</a:t>
            </a:r>
            <a:r>
              <a:rPr lang="zh-CN" altLang="en-US" sz="1200" dirty="0">
                <a:latin typeface="仿宋" panose="02010609060101010101" pitchFamily="49" charset="-122"/>
                <a:ea typeface="仿宋" panose="02010609060101010101" pitchFamily="49" charset="-122"/>
              </a:rPr>
              <a:t>年学术年会开幕式</a:t>
            </a:r>
            <a:endParaRPr lang="en-US" altLang="zh-CN" sz="1200" dirty="0">
              <a:latin typeface="仿宋" panose="02010609060101010101" pitchFamily="49" charset="-122"/>
              <a:ea typeface="仿宋" panose="02010609060101010101" pitchFamily="49" charset="-122"/>
            </a:endParaRPr>
          </a:p>
        </p:txBody>
      </p:sp>
      <p:sp>
        <p:nvSpPr>
          <p:cNvPr id="6" name="矩形 5"/>
          <p:cNvSpPr/>
          <p:nvPr/>
        </p:nvSpPr>
        <p:spPr>
          <a:xfrm>
            <a:off x="0" y="3857628"/>
            <a:ext cx="3429024" cy="737235"/>
          </a:xfrm>
          <a:prstGeom prst="rect">
            <a:avLst/>
          </a:prstGeom>
        </p:spPr>
        <p:txBody>
          <a:bodyPr wrap="square">
            <a:spAutoFit/>
          </a:bodyPr>
          <a:lstStyle/>
          <a:p>
            <a:pPr algn="ctr"/>
            <a:r>
              <a:rPr lang="zh-CN" altLang="en-US" sz="1400" dirty="0"/>
              <a:t>袁亚湘</a:t>
            </a:r>
            <a:endParaRPr lang="en-US" altLang="zh-CN" sz="1400" dirty="0"/>
          </a:p>
          <a:p>
            <a:pPr algn="ctr"/>
            <a:r>
              <a:rPr lang="zh-CN" altLang="en-US" sz="1400" dirty="0"/>
              <a:t>中国科学院院士</a:t>
            </a:r>
            <a:endParaRPr lang="en-US" altLang="zh-CN" sz="1400" dirty="0"/>
          </a:p>
          <a:p>
            <a:pPr algn="ctr"/>
            <a:r>
              <a:rPr lang="zh-CN" altLang="en-US" sz="1400" dirty="0"/>
              <a:t>中国科学院数学与系统科学研究院研究员</a:t>
            </a:r>
          </a:p>
        </p:txBody>
      </p:sp>
      <p:sp>
        <p:nvSpPr>
          <p:cNvPr id="7" name="矩形 6"/>
          <p:cNvSpPr/>
          <p:nvPr/>
        </p:nvSpPr>
        <p:spPr>
          <a:xfrm>
            <a:off x="168631" y="5846797"/>
            <a:ext cx="3091761" cy="400110"/>
          </a:xfrm>
          <a:prstGeom prst="rect">
            <a:avLst/>
          </a:prstGeom>
        </p:spPr>
        <p:txBody>
          <a:bodyPr wrap="square">
            <a:spAutoFit/>
          </a:bodyPr>
          <a:lstStyle/>
          <a:p>
            <a:r>
              <a:rPr lang="zh-CN" altLang="en-US" sz="10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000" dirty="0">
                <a:latin typeface="Times New Roman" panose="02020603050405020304" pitchFamily="18" charset="0"/>
                <a:ea typeface="仿宋" panose="02010609060101010101" pitchFamily="49" charset="-122"/>
                <a:cs typeface="Times New Roman" panose="02020603050405020304" pitchFamily="18" charset="0"/>
              </a:rPr>
              <a:t> http://www.casad.cas.cn/mtbd2022/202401/t20240104_4998732.html </a:t>
            </a:r>
            <a:r>
              <a:rPr lang="zh-CN" altLang="en-US" sz="1000" dirty="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9" name="矩形 8"/>
          <p:cNvSpPr/>
          <p:nvPr/>
        </p:nvSpPr>
        <p:spPr>
          <a:xfrm>
            <a:off x="3563887" y="4788108"/>
            <a:ext cx="5401551" cy="1953260"/>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buFont typeface="Wingdings" panose="05000000000000000000" pitchFamily="2" charset="2"/>
              <a:buChar char="l"/>
            </a:pPr>
            <a:r>
              <a:rPr lang="zh-CN" altLang="en-US" sz="1400" dirty="0"/>
              <a:t>华罗庚：仅有初中文凭，却凭一己之力开创了中国解析数论学派</a:t>
            </a:r>
            <a:endParaRPr lang="en-US" altLang="zh-CN" sz="1400" dirty="0"/>
          </a:p>
          <a:p>
            <a:pPr>
              <a:lnSpc>
                <a:spcPct val="150000"/>
              </a:lnSpc>
              <a:buFont typeface="Wingdings" panose="05000000000000000000" pitchFamily="2" charset="2"/>
              <a:buChar char="l"/>
            </a:pPr>
            <a:r>
              <a:rPr lang="zh-CN" altLang="en-US" sz="1400" dirty="0"/>
              <a:t>陈景润：关于哥德巴赫猜想“</a:t>
            </a:r>
            <a:r>
              <a:rPr lang="en-US" altLang="zh-CN" sz="1400" dirty="0"/>
              <a:t>1</a:t>
            </a:r>
            <a:r>
              <a:rPr lang="zh-CN" altLang="en-US" sz="1400" dirty="0"/>
              <a:t>＋</a:t>
            </a:r>
            <a:r>
              <a:rPr lang="en-US" altLang="zh-CN" sz="1400" dirty="0"/>
              <a:t>2”</a:t>
            </a:r>
            <a:r>
              <a:rPr lang="zh-CN" altLang="en-US" sz="1400" dirty="0"/>
              <a:t>的详细证明发表于国内期刊</a:t>
            </a:r>
            <a:endParaRPr lang="en-US" altLang="zh-CN" sz="1400" dirty="0"/>
          </a:p>
          <a:p>
            <a:pPr>
              <a:lnSpc>
                <a:spcPct val="150000"/>
              </a:lnSpc>
            </a:pPr>
            <a:r>
              <a:rPr lang="en-US" altLang="zh-CN" sz="1400" dirty="0"/>
              <a:t>《</a:t>
            </a:r>
            <a:r>
              <a:rPr lang="zh-CN" altLang="en-US" sz="1400" dirty="0"/>
              <a:t>中国科学</a:t>
            </a:r>
            <a:r>
              <a:rPr lang="en-US" altLang="zh-CN" sz="1400" dirty="0"/>
              <a:t>》</a:t>
            </a:r>
            <a:r>
              <a:rPr lang="zh-CN" altLang="en-US" sz="1400" dirty="0"/>
              <a:t>，这一成果至今仍在相关研究中保持世界领先水平</a:t>
            </a:r>
            <a:endParaRPr lang="en-US" altLang="zh-CN" sz="1400" dirty="0"/>
          </a:p>
          <a:p>
            <a:pPr>
              <a:lnSpc>
                <a:spcPct val="150000"/>
              </a:lnSpc>
              <a:buFont typeface="Wingdings" panose="05000000000000000000" pitchFamily="2" charset="2"/>
              <a:buChar char="l"/>
            </a:pPr>
            <a:r>
              <a:rPr lang="zh-CN" altLang="en-US" sz="1400" dirty="0"/>
              <a:t>袁隆平：</a:t>
            </a:r>
            <a:r>
              <a:rPr lang="en-US" altLang="zh-CN" sz="1400" dirty="0"/>
              <a:t>《</a:t>
            </a:r>
            <a:r>
              <a:rPr lang="zh-CN" altLang="en-US" sz="1400" dirty="0"/>
              <a:t>水稻的雄性不孕性</a:t>
            </a:r>
            <a:r>
              <a:rPr lang="en-US" altLang="zh-CN" sz="1400" dirty="0"/>
              <a:t>》</a:t>
            </a:r>
            <a:r>
              <a:rPr lang="zh-CN" altLang="en-US" sz="1400" dirty="0"/>
              <a:t>的研究论文发表在国内期刊</a:t>
            </a:r>
            <a:endParaRPr lang="en-US" altLang="zh-CN" sz="1400" dirty="0"/>
          </a:p>
          <a:p>
            <a:pPr>
              <a:lnSpc>
                <a:spcPct val="150000"/>
              </a:lnSpc>
            </a:pPr>
            <a:r>
              <a:rPr lang="en-US" altLang="zh-CN" sz="1400" dirty="0"/>
              <a:t>《</a:t>
            </a:r>
            <a:r>
              <a:rPr lang="zh-CN" altLang="en-US" sz="1400" dirty="0"/>
              <a:t>科学通报</a:t>
            </a:r>
            <a:r>
              <a:rPr lang="en-US" altLang="zh-CN" sz="1400" dirty="0"/>
              <a:t>》</a:t>
            </a:r>
            <a:r>
              <a:rPr lang="zh-CN" altLang="en-US" sz="1400" dirty="0"/>
              <a:t>上</a:t>
            </a:r>
            <a:endParaRPr lang="en-US" altLang="zh-CN" sz="1400" dirty="0"/>
          </a:p>
          <a:p>
            <a:pPr>
              <a:buFont typeface="Wingdings" panose="05000000000000000000" pitchFamily="2" charset="2"/>
              <a:buChar char="l"/>
            </a:pPr>
            <a:r>
              <a:rPr lang="en-US" altLang="zh-CN" sz="1600" dirty="0"/>
              <a:t>……</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1000100" y="1928801"/>
            <a:ext cx="2714644" cy="3637135"/>
          </a:xfrm>
          <a:prstGeom prst="rect">
            <a:avLst/>
          </a:prstGeom>
          <a:noFill/>
          <a:ln w="9525">
            <a:noFill/>
            <a:miter lim="800000"/>
            <a:headEnd/>
            <a:tailEnd/>
          </a:ln>
          <a:effectLst/>
        </p:spPr>
      </p:pic>
      <p:pic>
        <p:nvPicPr>
          <p:cNvPr id="3" name="图片 6"/>
          <p:cNvPicPr>
            <a:picLocks noChangeAspect="1"/>
          </p:cNvPicPr>
          <p:nvPr/>
        </p:nvPicPr>
        <p:blipFill>
          <a:blip r:embed="rId3" cstate="print"/>
          <a:stretch>
            <a:fillRect/>
          </a:stretch>
        </p:blipFill>
        <p:spPr>
          <a:xfrm>
            <a:off x="4714876" y="1928802"/>
            <a:ext cx="2714644" cy="3632950"/>
          </a:xfrm>
          <a:prstGeom prst="rect">
            <a:avLst/>
          </a:prstGeom>
        </p:spPr>
      </p:pic>
      <p:sp>
        <p:nvSpPr>
          <p:cNvPr id="5" name="Rectangle 2"/>
          <p:cNvSpPr txBox="1">
            <a:spLocks noChangeArrowheads="1"/>
          </p:cNvSpPr>
          <p:nvPr/>
        </p:nvSpPr>
        <p:spPr>
          <a:xfrm>
            <a:off x="0" y="857252"/>
            <a:ext cx="3071802" cy="573881"/>
          </a:xfrm>
          <a:prstGeom prst="rect">
            <a:avLst/>
          </a:prstGeom>
          <a:solidFill>
            <a:schemeClr val="accent1"/>
          </a:solidFill>
        </p:spPr>
        <p:txBody>
          <a:bodyPr vert="horz" wrap="square" lIns="68580" tIns="34290" rIns="68580" bIns="34290" rtlCol="0" anchor="ctr">
            <a:normAutofit/>
          </a:bodyPr>
          <a:lstStyle/>
          <a:p>
            <a:pPr>
              <a:lnSpc>
                <a:spcPct val="90000"/>
              </a:lnSpc>
              <a:spcBef>
                <a:spcPct val="0"/>
              </a:spcBef>
            </a:pPr>
            <a:r>
              <a:rPr lang="en-US" altLang="zh-CN" sz="2100" b="1" dirty="0">
                <a:solidFill>
                  <a:srgbClr val="0000FF"/>
                </a:solidFill>
                <a:latin typeface="微软雅黑" panose="020B0503020204020204" charset="-122"/>
              </a:rPr>
              <a:t>《</a:t>
            </a:r>
            <a:r>
              <a:rPr lang="zh-CN" altLang="en-US" sz="2100" b="1" dirty="0">
                <a:solidFill>
                  <a:srgbClr val="0000FF"/>
                </a:solidFill>
                <a:latin typeface="微软雅黑" panose="020B0503020204020204" charset="-122"/>
              </a:rPr>
              <a:t>电子科技大学学报</a:t>
            </a:r>
            <a:r>
              <a:rPr lang="en-US" altLang="zh-CN" sz="2100" b="1" dirty="0">
                <a:solidFill>
                  <a:srgbClr val="0000FF"/>
                </a:solidFill>
                <a:latin typeface="微软雅黑" panose="020B0503020204020204" charset="-122"/>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3"/>
          <a:srcRect/>
          <a:stretch>
            <a:fillRect/>
          </a:stretch>
        </p:blipFill>
        <p:spPr bwMode="auto">
          <a:xfrm>
            <a:off x="214282" y="857250"/>
            <a:ext cx="2928958" cy="3706827"/>
          </a:xfrm>
          <a:prstGeom prst="rect">
            <a:avLst/>
          </a:prstGeom>
          <a:noFill/>
          <a:ln w="9525">
            <a:noFill/>
            <a:miter lim="800000"/>
            <a:headEnd/>
            <a:tailEnd/>
          </a:ln>
          <a:effectLst/>
        </p:spPr>
      </p:pic>
      <p:sp>
        <p:nvSpPr>
          <p:cNvPr id="3" name="矩形 2"/>
          <p:cNvSpPr/>
          <p:nvPr/>
        </p:nvSpPr>
        <p:spPr>
          <a:xfrm>
            <a:off x="214282" y="4857760"/>
            <a:ext cx="8501122" cy="1076325"/>
          </a:xfrm>
          <a:prstGeom prst="rect">
            <a:avLst/>
          </a:prstGeom>
        </p:spPr>
        <p:txBody>
          <a:bodyPr wrap="square">
            <a:spAutoFit/>
          </a:bodyPr>
          <a:lstStyle/>
          <a:p>
            <a:r>
              <a:rPr lang="zh-CN" altLang="en-US" sz="1600" dirty="0">
                <a:solidFill>
                  <a:srgbClr val="0000FF"/>
                </a:solidFill>
              </a:rPr>
              <a:t>林为干 ，孔祥生</a:t>
            </a:r>
            <a:endParaRPr lang="en-US" altLang="zh-CN" sz="1600" dirty="0">
              <a:solidFill>
                <a:srgbClr val="0000FF"/>
              </a:solidFill>
            </a:endParaRPr>
          </a:p>
          <a:p>
            <a:r>
              <a:rPr lang="zh-CN" altLang="en-US" sz="1600" i="1" dirty="0">
                <a:solidFill>
                  <a:srgbClr val="0000FF"/>
                </a:solidFill>
              </a:rPr>
              <a:t>林为干（</a:t>
            </a:r>
            <a:r>
              <a:rPr lang="en-US" altLang="zh-CN" sz="1600" i="1" dirty="0">
                <a:solidFill>
                  <a:srgbClr val="0000FF"/>
                </a:solidFill>
              </a:rPr>
              <a:t>1919</a:t>
            </a:r>
            <a:r>
              <a:rPr lang="zh-CN" altLang="en-US" sz="1600" i="1" dirty="0">
                <a:solidFill>
                  <a:srgbClr val="0000FF"/>
                </a:solidFill>
              </a:rPr>
              <a:t>年</a:t>
            </a:r>
            <a:r>
              <a:rPr lang="en-US" altLang="zh-CN" sz="1600" i="1" dirty="0">
                <a:solidFill>
                  <a:srgbClr val="0000FF"/>
                </a:solidFill>
              </a:rPr>
              <a:t>10</a:t>
            </a:r>
            <a:r>
              <a:rPr lang="zh-CN" altLang="en-US" sz="1600" i="1" dirty="0">
                <a:solidFill>
                  <a:srgbClr val="0000FF"/>
                </a:solidFill>
              </a:rPr>
              <a:t>月</a:t>
            </a:r>
            <a:r>
              <a:rPr lang="en-US" altLang="zh-CN" sz="1600" i="1" dirty="0">
                <a:solidFill>
                  <a:srgbClr val="0000FF"/>
                </a:solidFill>
              </a:rPr>
              <a:t>20</a:t>
            </a:r>
            <a:r>
              <a:rPr lang="zh-CN" altLang="en-US" sz="1600" i="1" dirty="0">
                <a:solidFill>
                  <a:srgbClr val="0000FF"/>
                </a:solidFill>
              </a:rPr>
              <a:t>日</a:t>
            </a:r>
            <a:r>
              <a:rPr lang="en-US" altLang="zh-CN" sz="1600" i="1" dirty="0">
                <a:solidFill>
                  <a:srgbClr val="0000FF"/>
                </a:solidFill>
              </a:rPr>
              <a:t>—2015</a:t>
            </a:r>
            <a:r>
              <a:rPr lang="zh-CN" altLang="en-US" sz="1600" i="1" dirty="0">
                <a:solidFill>
                  <a:srgbClr val="0000FF"/>
                </a:solidFill>
              </a:rPr>
              <a:t>年</a:t>
            </a:r>
            <a:r>
              <a:rPr lang="en-US" altLang="zh-CN" sz="1600" i="1" dirty="0">
                <a:solidFill>
                  <a:srgbClr val="0000FF"/>
                </a:solidFill>
              </a:rPr>
              <a:t>1</a:t>
            </a:r>
            <a:r>
              <a:rPr lang="zh-CN" altLang="en-US" sz="1600" i="1" dirty="0">
                <a:solidFill>
                  <a:srgbClr val="0000FF"/>
                </a:solidFill>
              </a:rPr>
              <a:t>月</a:t>
            </a:r>
            <a:r>
              <a:rPr lang="en-US" altLang="zh-CN" sz="1600" i="1" dirty="0">
                <a:solidFill>
                  <a:srgbClr val="0000FF"/>
                </a:solidFill>
              </a:rPr>
              <a:t>23</a:t>
            </a:r>
            <a:r>
              <a:rPr lang="zh-CN" altLang="en-US" sz="1600" i="1" dirty="0">
                <a:solidFill>
                  <a:srgbClr val="0000FF"/>
                </a:solidFill>
              </a:rPr>
              <a:t>日） </a:t>
            </a:r>
            <a:endParaRPr lang="en-US" altLang="zh-CN" sz="1600" i="1" dirty="0">
              <a:solidFill>
                <a:srgbClr val="0000FF"/>
              </a:solidFill>
            </a:endParaRPr>
          </a:p>
          <a:p>
            <a:r>
              <a:rPr lang="zh-CN" altLang="en-US" sz="1600" dirty="0">
                <a:solidFill>
                  <a:srgbClr val="0000FF"/>
                </a:solidFill>
              </a:rPr>
              <a:t>微波理论学家，中国科学院学部委员（院士），美国麻省理工学院电磁科学院院士</a:t>
            </a:r>
            <a:endParaRPr lang="en-US" altLang="zh-CN" sz="1600" dirty="0">
              <a:solidFill>
                <a:srgbClr val="0000FF"/>
              </a:solidFill>
            </a:endParaRPr>
          </a:p>
          <a:p>
            <a:r>
              <a:rPr lang="zh-CN" altLang="en-US" sz="1600" dirty="0">
                <a:solidFill>
                  <a:srgbClr val="0000FF"/>
                </a:solidFill>
              </a:rPr>
              <a:t>“</a:t>
            </a:r>
            <a:r>
              <a:rPr lang="zh-TW" altLang="en-US" sz="1600" dirty="0">
                <a:solidFill>
                  <a:srgbClr val="0000FF"/>
                </a:solidFill>
              </a:rPr>
              <a:t>三厘米囘波箱的設計和試制</a:t>
            </a:r>
            <a:r>
              <a:rPr lang="zh-CN" altLang="en-US" sz="1600" dirty="0">
                <a:solidFill>
                  <a:srgbClr val="0000FF"/>
                </a:solidFill>
              </a:rPr>
              <a:t>” ， </a:t>
            </a:r>
            <a:r>
              <a:rPr lang="en-US" altLang="zh-CN" sz="1600" dirty="0">
                <a:solidFill>
                  <a:srgbClr val="0000FF"/>
                </a:solidFill>
              </a:rPr>
              <a:t>《</a:t>
            </a:r>
            <a:r>
              <a:rPr lang="zh-CN" altLang="en-US" sz="1600" dirty="0">
                <a:solidFill>
                  <a:srgbClr val="0000FF"/>
                </a:solidFill>
              </a:rPr>
              <a:t>成都电讯工程学院学报</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 1959</a:t>
            </a:r>
            <a:r>
              <a:rPr lang="zh-CN" altLang="en-US" sz="1600" dirty="0">
                <a:solidFill>
                  <a:srgbClr val="0000FF"/>
                </a:solidFill>
              </a:rPr>
              <a:t>年</a:t>
            </a:r>
            <a:r>
              <a:rPr lang="en-US" altLang="zh-CN" sz="1600" dirty="0">
                <a:solidFill>
                  <a:srgbClr val="0000FF"/>
                </a:solidFill>
              </a:rPr>
              <a:t>01</a:t>
            </a:r>
            <a:r>
              <a:rPr lang="zh-CN" altLang="en-US" sz="1600" dirty="0">
                <a:solidFill>
                  <a:srgbClr val="0000FF"/>
                </a:solidFill>
              </a:rPr>
              <a:t>期</a:t>
            </a:r>
          </a:p>
        </p:txBody>
      </p:sp>
      <p:pic>
        <p:nvPicPr>
          <p:cNvPr id="61442" name="Picture 2"/>
          <p:cNvPicPr>
            <a:picLocks noChangeAspect="1" noChangeArrowheads="1"/>
          </p:cNvPicPr>
          <p:nvPr/>
        </p:nvPicPr>
        <p:blipFill>
          <a:blip r:embed="rId4"/>
          <a:srcRect/>
          <a:stretch>
            <a:fillRect/>
          </a:stretch>
        </p:blipFill>
        <p:spPr bwMode="auto">
          <a:xfrm>
            <a:off x="4786314" y="1071546"/>
            <a:ext cx="2689584" cy="318612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4282" y="4892754"/>
            <a:ext cx="8501122" cy="1322070"/>
          </a:xfrm>
          <a:prstGeom prst="rect">
            <a:avLst/>
          </a:prstGeom>
        </p:spPr>
        <p:txBody>
          <a:bodyPr wrap="square">
            <a:spAutoFit/>
          </a:bodyPr>
          <a:lstStyle/>
          <a:p>
            <a:r>
              <a:rPr lang="zh-CN" altLang="en-US" sz="1600" dirty="0">
                <a:solidFill>
                  <a:srgbClr val="0000FF"/>
                </a:solidFill>
              </a:rPr>
              <a:t>刘盛纲</a:t>
            </a:r>
            <a:r>
              <a:rPr lang="zh-CN" altLang="en-US" sz="1600" i="1" dirty="0">
                <a:solidFill>
                  <a:srgbClr val="0000FF"/>
                </a:solidFill>
              </a:rPr>
              <a:t>（</a:t>
            </a:r>
            <a:r>
              <a:rPr lang="en-US" altLang="zh-CN" sz="1600" i="1" dirty="0">
                <a:solidFill>
                  <a:srgbClr val="0000FF"/>
                </a:solidFill>
              </a:rPr>
              <a:t>1933</a:t>
            </a:r>
            <a:r>
              <a:rPr lang="zh-CN" altLang="en-US" sz="1600" i="1" dirty="0">
                <a:solidFill>
                  <a:srgbClr val="0000FF"/>
                </a:solidFill>
              </a:rPr>
              <a:t>年</a:t>
            </a:r>
            <a:r>
              <a:rPr lang="en-US" altLang="zh-CN" sz="1600" i="1" dirty="0">
                <a:solidFill>
                  <a:srgbClr val="0000FF"/>
                </a:solidFill>
              </a:rPr>
              <a:t>12</a:t>
            </a:r>
            <a:r>
              <a:rPr lang="zh-CN" altLang="en-US" sz="1600" i="1" dirty="0">
                <a:solidFill>
                  <a:srgbClr val="0000FF"/>
                </a:solidFill>
              </a:rPr>
              <a:t>月</a:t>
            </a:r>
            <a:r>
              <a:rPr lang="en-US" altLang="zh-CN" sz="1600" i="1" dirty="0">
                <a:solidFill>
                  <a:srgbClr val="0000FF"/>
                </a:solidFill>
              </a:rPr>
              <a:t>26</a:t>
            </a:r>
            <a:r>
              <a:rPr lang="zh-CN" altLang="en-US" sz="1600" i="1" dirty="0">
                <a:solidFill>
                  <a:srgbClr val="0000FF"/>
                </a:solidFill>
              </a:rPr>
              <a:t>日</a:t>
            </a:r>
            <a:r>
              <a:rPr lang="en-US" altLang="zh-CN" sz="1600" i="1" dirty="0">
                <a:solidFill>
                  <a:srgbClr val="0000FF"/>
                </a:solidFill>
              </a:rPr>
              <a:t>-   </a:t>
            </a:r>
            <a:r>
              <a:rPr lang="zh-CN" altLang="en-US" sz="1600" i="1" dirty="0">
                <a:solidFill>
                  <a:srgbClr val="0000FF"/>
                </a:solidFill>
              </a:rPr>
              <a:t>） </a:t>
            </a:r>
            <a:endParaRPr lang="en-US" altLang="zh-CN" sz="1600" dirty="0">
              <a:solidFill>
                <a:srgbClr val="0000FF"/>
              </a:solidFill>
            </a:endParaRPr>
          </a:p>
          <a:p>
            <a:r>
              <a:rPr lang="zh-CN" altLang="en-US" sz="1600" dirty="0">
                <a:solidFill>
                  <a:srgbClr val="0000FF"/>
                </a:solidFill>
              </a:rPr>
              <a:t>电子物理学家，中国科学院学部委员（院士），乌克兰国家科学院院士</a:t>
            </a:r>
            <a:endParaRPr lang="en-US" altLang="zh-CN" sz="1600" dirty="0">
              <a:solidFill>
                <a:srgbClr val="0000FF"/>
              </a:solidFill>
            </a:endParaRPr>
          </a:p>
          <a:p>
            <a:r>
              <a:rPr lang="zh-CN" altLang="en-US" sz="1600" dirty="0">
                <a:solidFill>
                  <a:srgbClr val="0000FF"/>
                </a:solidFill>
              </a:rPr>
              <a:t> “测量空腔谐振器品质因素的新方法”， </a:t>
            </a:r>
            <a:r>
              <a:rPr lang="en-US" altLang="zh-CN" sz="1600" dirty="0">
                <a:solidFill>
                  <a:srgbClr val="0000FF"/>
                </a:solidFill>
              </a:rPr>
              <a:t>《</a:t>
            </a:r>
            <a:r>
              <a:rPr lang="zh-CN" altLang="en-US" sz="1600" dirty="0">
                <a:solidFill>
                  <a:srgbClr val="0000FF"/>
                </a:solidFill>
              </a:rPr>
              <a:t>成都电讯工程学院学报</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 1959</a:t>
            </a:r>
            <a:r>
              <a:rPr lang="zh-CN" altLang="en-US" sz="1600" dirty="0">
                <a:solidFill>
                  <a:srgbClr val="0000FF"/>
                </a:solidFill>
              </a:rPr>
              <a:t>年</a:t>
            </a:r>
            <a:r>
              <a:rPr lang="en-US" altLang="zh-CN" sz="1600" dirty="0">
                <a:solidFill>
                  <a:srgbClr val="0000FF"/>
                </a:solidFill>
              </a:rPr>
              <a:t>01</a:t>
            </a:r>
            <a:r>
              <a:rPr lang="zh-CN" altLang="en-US" sz="1600" dirty="0">
                <a:solidFill>
                  <a:srgbClr val="0000FF"/>
                </a:solidFill>
              </a:rPr>
              <a:t>期</a:t>
            </a:r>
          </a:p>
          <a:p>
            <a:br>
              <a:rPr lang="zh-CN" altLang="en-US" sz="1600" b="1" dirty="0">
                <a:solidFill>
                  <a:srgbClr val="0000FF"/>
                </a:solidFill>
              </a:rPr>
            </a:br>
            <a:endParaRPr lang="zh-CN" altLang="en-US" sz="1600" b="1" dirty="0">
              <a:solidFill>
                <a:srgbClr val="0000FF"/>
              </a:solidFill>
            </a:endParaRPr>
          </a:p>
        </p:txBody>
      </p:sp>
      <p:pic>
        <p:nvPicPr>
          <p:cNvPr id="57346" name="Picture 2"/>
          <p:cNvPicPr>
            <a:picLocks noChangeAspect="1" noChangeArrowheads="1"/>
          </p:cNvPicPr>
          <p:nvPr/>
        </p:nvPicPr>
        <p:blipFill>
          <a:blip r:embed="rId2"/>
          <a:srcRect/>
          <a:stretch>
            <a:fillRect/>
          </a:stretch>
        </p:blipFill>
        <p:spPr bwMode="auto">
          <a:xfrm>
            <a:off x="4714876" y="1071546"/>
            <a:ext cx="3071834" cy="4028792"/>
          </a:xfrm>
          <a:prstGeom prst="rect">
            <a:avLst/>
          </a:prstGeom>
          <a:noFill/>
          <a:ln w="9525">
            <a:noFill/>
            <a:miter lim="800000"/>
            <a:headEnd/>
            <a:tailEnd/>
          </a:ln>
          <a:effectLst/>
        </p:spPr>
      </p:pic>
      <p:pic>
        <p:nvPicPr>
          <p:cNvPr id="57348" name="Picture 4" descr="https://bkimg.cdn.bcebos.com/pic/3c6d55fbb2fb43166d2233a482f2512309f7915275ec?x-bce-process=image/format,f_auto/quality,Q_70/resize,m_lfit,limit_1,w_536"/>
          <p:cNvPicPr>
            <a:picLocks noChangeAspect="1" noChangeArrowheads="1"/>
          </p:cNvPicPr>
          <p:nvPr/>
        </p:nvPicPr>
        <p:blipFill>
          <a:blip r:embed="rId3"/>
          <a:srcRect/>
          <a:stretch>
            <a:fillRect/>
          </a:stretch>
        </p:blipFill>
        <p:spPr bwMode="auto">
          <a:xfrm>
            <a:off x="214282" y="1214422"/>
            <a:ext cx="3962392" cy="2971795"/>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85720" y="4923532"/>
            <a:ext cx="8358246" cy="1076325"/>
          </a:xfrm>
          <a:prstGeom prst="rect">
            <a:avLst/>
          </a:prstGeom>
        </p:spPr>
        <p:txBody>
          <a:bodyPr wrap="square">
            <a:spAutoFit/>
          </a:bodyPr>
          <a:lstStyle/>
          <a:p>
            <a:r>
              <a:rPr lang="zh-CN" altLang="en-US" sz="1600" dirty="0">
                <a:solidFill>
                  <a:srgbClr val="0000FF"/>
                </a:solidFill>
              </a:rPr>
              <a:t>李乐民 </a:t>
            </a:r>
            <a:r>
              <a:rPr lang="zh-CN" altLang="en-US" sz="1600" i="1" dirty="0">
                <a:solidFill>
                  <a:srgbClr val="0000FF"/>
                </a:solidFill>
              </a:rPr>
              <a:t>（</a:t>
            </a:r>
            <a:r>
              <a:rPr lang="en-US" altLang="zh-CN" sz="1600" i="1" dirty="0">
                <a:solidFill>
                  <a:srgbClr val="0000FF"/>
                </a:solidFill>
              </a:rPr>
              <a:t>1932</a:t>
            </a:r>
            <a:r>
              <a:rPr lang="zh-CN" altLang="en-US" sz="1600" i="1" dirty="0">
                <a:solidFill>
                  <a:srgbClr val="0000FF"/>
                </a:solidFill>
              </a:rPr>
              <a:t>年</a:t>
            </a:r>
            <a:r>
              <a:rPr lang="en-US" altLang="zh-CN" sz="1600" i="1" dirty="0">
                <a:solidFill>
                  <a:srgbClr val="0000FF"/>
                </a:solidFill>
              </a:rPr>
              <a:t>5</a:t>
            </a:r>
            <a:r>
              <a:rPr lang="zh-CN" altLang="en-US" sz="1600" i="1" dirty="0">
                <a:solidFill>
                  <a:srgbClr val="0000FF"/>
                </a:solidFill>
              </a:rPr>
              <a:t>月</a:t>
            </a:r>
            <a:r>
              <a:rPr lang="en-US" altLang="zh-CN" sz="1600" i="1" dirty="0">
                <a:solidFill>
                  <a:srgbClr val="0000FF"/>
                </a:solidFill>
              </a:rPr>
              <a:t>28</a:t>
            </a:r>
            <a:r>
              <a:rPr lang="zh-CN" altLang="en-US" sz="1600" i="1" dirty="0">
                <a:solidFill>
                  <a:srgbClr val="0000FF"/>
                </a:solidFill>
              </a:rPr>
              <a:t>日</a:t>
            </a:r>
            <a:r>
              <a:rPr lang="en-US" altLang="zh-CN" sz="1600" i="1" dirty="0">
                <a:solidFill>
                  <a:srgbClr val="0000FF"/>
                </a:solidFill>
              </a:rPr>
              <a:t>-   </a:t>
            </a:r>
            <a:r>
              <a:rPr lang="zh-CN" altLang="en-US" sz="1600" i="1" dirty="0">
                <a:solidFill>
                  <a:srgbClr val="0000FF"/>
                </a:solidFill>
              </a:rPr>
              <a:t>） </a:t>
            </a:r>
            <a:endParaRPr lang="en-US" altLang="zh-CN" sz="1600" i="1" dirty="0">
              <a:solidFill>
                <a:srgbClr val="0000FF"/>
              </a:solidFill>
            </a:endParaRPr>
          </a:p>
          <a:p>
            <a:r>
              <a:rPr lang="zh-CN" altLang="en-US" sz="1600" dirty="0">
                <a:solidFill>
                  <a:srgbClr val="0000FF"/>
                </a:solidFill>
              </a:rPr>
              <a:t>中国工程院院士</a:t>
            </a:r>
            <a:endParaRPr lang="en-US" altLang="zh-CN" sz="1600" dirty="0">
              <a:solidFill>
                <a:srgbClr val="0000FF"/>
              </a:solidFill>
            </a:endParaRPr>
          </a:p>
          <a:p>
            <a:r>
              <a:rPr lang="zh-CN" altLang="en-US" sz="1600" dirty="0">
                <a:solidFill>
                  <a:srgbClr val="0000FF"/>
                </a:solidFill>
              </a:rPr>
              <a:t>“脉冲式自动相位微调系统的稳定问题” ，  </a:t>
            </a:r>
            <a:r>
              <a:rPr lang="en-US" altLang="zh-CN" sz="1600" dirty="0">
                <a:solidFill>
                  <a:srgbClr val="0000FF"/>
                </a:solidFill>
              </a:rPr>
              <a:t>《</a:t>
            </a:r>
            <a:r>
              <a:rPr lang="zh-CN" altLang="en-US" sz="1600" dirty="0">
                <a:solidFill>
                  <a:srgbClr val="0000FF"/>
                </a:solidFill>
              </a:rPr>
              <a:t>成都电讯工程学院学报</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 1962</a:t>
            </a:r>
            <a:r>
              <a:rPr lang="zh-CN" altLang="en-US" sz="1600" dirty="0">
                <a:solidFill>
                  <a:srgbClr val="0000FF"/>
                </a:solidFill>
              </a:rPr>
              <a:t>年</a:t>
            </a:r>
            <a:r>
              <a:rPr lang="en-US" altLang="zh-CN" sz="1600" dirty="0">
                <a:solidFill>
                  <a:srgbClr val="0000FF"/>
                </a:solidFill>
              </a:rPr>
              <a:t>01</a:t>
            </a:r>
            <a:r>
              <a:rPr lang="zh-CN" altLang="en-US" sz="1600" dirty="0">
                <a:solidFill>
                  <a:srgbClr val="0000FF"/>
                </a:solidFill>
              </a:rPr>
              <a:t>期</a:t>
            </a:r>
          </a:p>
          <a:p>
            <a:endParaRPr lang="zh-CN" altLang="en-US" sz="1600" dirty="0">
              <a:solidFill>
                <a:srgbClr val="0000FF"/>
              </a:solidFill>
            </a:endParaRPr>
          </a:p>
        </p:txBody>
      </p:sp>
      <p:pic>
        <p:nvPicPr>
          <p:cNvPr id="1027" name="Picture 3"/>
          <p:cNvPicPr>
            <a:picLocks noChangeAspect="1" noChangeArrowheads="1"/>
          </p:cNvPicPr>
          <p:nvPr/>
        </p:nvPicPr>
        <p:blipFill>
          <a:blip r:embed="rId2"/>
          <a:srcRect/>
          <a:stretch>
            <a:fillRect/>
          </a:stretch>
        </p:blipFill>
        <p:spPr bwMode="auto">
          <a:xfrm>
            <a:off x="571472" y="906404"/>
            <a:ext cx="3357586" cy="3706426"/>
          </a:xfrm>
          <a:prstGeom prst="rect">
            <a:avLst/>
          </a:prstGeom>
          <a:noFill/>
          <a:ln w="9525">
            <a:noFill/>
            <a:miter lim="800000"/>
            <a:headEnd/>
            <a:tailEnd/>
          </a:ln>
          <a:effectLst/>
        </p:spPr>
      </p:pic>
      <p:pic>
        <p:nvPicPr>
          <p:cNvPr id="60418" name="Picture 2"/>
          <p:cNvPicPr>
            <a:picLocks noChangeAspect="1" noChangeArrowheads="1"/>
          </p:cNvPicPr>
          <p:nvPr/>
        </p:nvPicPr>
        <p:blipFill>
          <a:blip r:embed="rId3"/>
          <a:srcRect/>
          <a:stretch>
            <a:fillRect/>
          </a:stretch>
        </p:blipFill>
        <p:spPr bwMode="auto">
          <a:xfrm>
            <a:off x="5143504" y="1357298"/>
            <a:ext cx="2470127" cy="2990856"/>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714348" y="1071546"/>
            <a:ext cx="2500330" cy="3636843"/>
          </a:xfrm>
          <a:prstGeom prst="rect">
            <a:avLst/>
          </a:prstGeom>
          <a:noFill/>
          <a:ln w="9525">
            <a:noFill/>
            <a:miter lim="800000"/>
            <a:headEnd/>
            <a:tailEnd/>
          </a:ln>
          <a:effectLst/>
        </p:spPr>
      </p:pic>
      <p:sp>
        <p:nvSpPr>
          <p:cNvPr id="4" name="矩形 3"/>
          <p:cNvSpPr/>
          <p:nvPr/>
        </p:nvSpPr>
        <p:spPr>
          <a:xfrm>
            <a:off x="142844" y="4923532"/>
            <a:ext cx="8001056" cy="1076325"/>
          </a:xfrm>
          <a:prstGeom prst="rect">
            <a:avLst/>
          </a:prstGeom>
        </p:spPr>
        <p:txBody>
          <a:bodyPr wrap="square">
            <a:spAutoFit/>
          </a:bodyPr>
          <a:lstStyle/>
          <a:p>
            <a:r>
              <a:rPr lang="zh-CN" altLang="en-US" sz="1600" dirty="0">
                <a:solidFill>
                  <a:srgbClr val="0000FF"/>
                </a:solidFill>
              </a:rPr>
              <a:t>陈星弼</a:t>
            </a:r>
            <a:r>
              <a:rPr lang="zh-CN" altLang="en-US" sz="1600" i="1" dirty="0">
                <a:solidFill>
                  <a:srgbClr val="0000FF"/>
                </a:solidFill>
              </a:rPr>
              <a:t>（</a:t>
            </a:r>
            <a:r>
              <a:rPr lang="en-US" altLang="zh-CN" sz="1600" i="1" dirty="0">
                <a:solidFill>
                  <a:srgbClr val="0000FF"/>
                </a:solidFill>
              </a:rPr>
              <a:t>1931</a:t>
            </a:r>
            <a:r>
              <a:rPr lang="zh-CN" altLang="en-US" sz="1600" i="1" dirty="0">
                <a:solidFill>
                  <a:srgbClr val="0000FF"/>
                </a:solidFill>
              </a:rPr>
              <a:t>年</a:t>
            </a:r>
            <a:r>
              <a:rPr lang="en-US" altLang="zh-CN" sz="1600" i="1" dirty="0">
                <a:solidFill>
                  <a:srgbClr val="0000FF"/>
                </a:solidFill>
              </a:rPr>
              <a:t>1</a:t>
            </a:r>
            <a:r>
              <a:rPr lang="zh-CN" altLang="en-US" sz="1600" i="1" dirty="0">
                <a:solidFill>
                  <a:srgbClr val="0000FF"/>
                </a:solidFill>
              </a:rPr>
              <a:t>月</a:t>
            </a:r>
            <a:r>
              <a:rPr lang="en-US" altLang="zh-CN" sz="1600" i="1" dirty="0">
                <a:solidFill>
                  <a:srgbClr val="0000FF"/>
                </a:solidFill>
              </a:rPr>
              <a:t>28</a:t>
            </a:r>
            <a:r>
              <a:rPr lang="zh-CN" altLang="en-US" sz="1600" i="1" dirty="0">
                <a:solidFill>
                  <a:srgbClr val="0000FF"/>
                </a:solidFill>
              </a:rPr>
              <a:t>日</a:t>
            </a:r>
            <a:r>
              <a:rPr lang="en-US" altLang="zh-CN" sz="1600" i="1" dirty="0">
                <a:solidFill>
                  <a:srgbClr val="0000FF"/>
                </a:solidFill>
              </a:rPr>
              <a:t>-2019</a:t>
            </a:r>
            <a:r>
              <a:rPr lang="zh-CN" altLang="en-US" sz="1600" i="1" dirty="0">
                <a:solidFill>
                  <a:srgbClr val="0000FF"/>
                </a:solidFill>
              </a:rPr>
              <a:t>年</a:t>
            </a:r>
            <a:r>
              <a:rPr lang="en-US" altLang="zh-CN" sz="1600" i="1" dirty="0">
                <a:solidFill>
                  <a:srgbClr val="0000FF"/>
                </a:solidFill>
              </a:rPr>
              <a:t>12</a:t>
            </a:r>
            <a:r>
              <a:rPr lang="zh-CN" altLang="en-US" sz="1600" i="1" dirty="0">
                <a:solidFill>
                  <a:srgbClr val="0000FF"/>
                </a:solidFill>
              </a:rPr>
              <a:t>月</a:t>
            </a:r>
            <a:r>
              <a:rPr lang="en-US" altLang="zh-CN" sz="1600" i="1" dirty="0">
                <a:solidFill>
                  <a:srgbClr val="0000FF"/>
                </a:solidFill>
              </a:rPr>
              <a:t>4</a:t>
            </a:r>
            <a:r>
              <a:rPr lang="zh-CN" altLang="en-US" sz="1600" i="1" dirty="0">
                <a:solidFill>
                  <a:srgbClr val="0000FF"/>
                </a:solidFill>
              </a:rPr>
              <a:t>日） </a:t>
            </a:r>
            <a:endParaRPr lang="en-US" altLang="zh-CN" sz="1600" dirty="0">
              <a:solidFill>
                <a:srgbClr val="0000FF"/>
              </a:solidFill>
            </a:endParaRPr>
          </a:p>
          <a:p>
            <a:r>
              <a:rPr lang="zh-CN" altLang="en-US" sz="1600" dirty="0">
                <a:solidFill>
                  <a:srgbClr val="0000FF"/>
                </a:solidFill>
              </a:rPr>
              <a:t>中国科学院院士，</a:t>
            </a:r>
            <a:endParaRPr lang="en-US" altLang="zh-CN" sz="1600" dirty="0">
              <a:solidFill>
                <a:srgbClr val="0000FF"/>
              </a:solidFill>
            </a:endParaRPr>
          </a:p>
          <a:p>
            <a:r>
              <a:rPr lang="zh-CN" altLang="en-US" sz="1600" dirty="0">
                <a:solidFill>
                  <a:srgbClr val="0000FF"/>
                </a:solidFill>
              </a:rPr>
              <a:t>半导体器件物理学家，微电子学家</a:t>
            </a:r>
            <a:endParaRPr lang="en-US" altLang="zh-CN" sz="1600" dirty="0">
              <a:solidFill>
                <a:srgbClr val="0000FF"/>
              </a:solidFill>
            </a:endParaRPr>
          </a:p>
          <a:p>
            <a:r>
              <a:rPr lang="zh-CN" altLang="en-US" sz="1600" dirty="0">
                <a:solidFill>
                  <a:srgbClr val="0000FF"/>
                </a:solidFill>
              </a:rPr>
              <a:t>“一维不均匀媒质中的镜像法”，  </a:t>
            </a:r>
            <a:r>
              <a:rPr lang="en-US" altLang="zh-CN" sz="1600" dirty="0">
                <a:solidFill>
                  <a:srgbClr val="0000FF"/>
                </a:solidFill>
              </a:rPr>
              <a:t>《</a:t>
            </a:r>
            <a:r>
              <a:rPr lang="zh-CN" altLang="en-US" sz="1600" dirty="0">
                <a:solidFill>
                  <a:srgbClr val="0000FF"/>
                </a:solidFill>
              </a:rPr>
              <a:t>成都电讯工程学院学报</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 1963</a:t>
            </a:r>
            <a:r>
              <a:rPr lang="zh-CN" altLang="en-US" sz="1600" dirty="0">
                <a:solidFill>
                  <a:srgbClr val="0000FF"/>
                </a:solidFill>
              </a:rPr>
              <a:t>年</a:t>
            </a:r>
            <a:r>
              <a:rPr lang="en-US" altLang="zh-CN" sz="1600" dirty="0">
                <a:solidFill>
                  <a:srgbClr val="0000FF"/>
                </a:solidFill>
              </a:rPr>
              <a:t>03</a:t>
            </a:r>
            <a:r>
              <a:rPr lang="zh-CN" altLang="en-US" sz="1600" dirty="0">
                <a:solidFill>
                  <a:srgbClr val="0000FF"/>
                </a:solidFill>
              </a:rPr>
              <a:t>期</a:t>
            </a:r>
          </a:p>
        </p:txBody>
      </p:sp>
      <p:pic>
        <p:nvPicPr>
          <p:cNvPr id="1029" name="Picture 5"/>
          <p:cNvPicPr>
            <a:picLocks noChangeAspect="1" noChangeArrowheads="1"/>
          </p:cNvPicPr>
          <p:nvPr/>
        </p:nvPicPr>
        <p:blipFill>
          <a:blip r:embed="rId3"/>
          <a:srcRect/>
          <a:stretch>
            <a:fillRect/>
          </a:stretch>
        </p:blipFill>
        <p:spPr bwMode="auto">
          <a:xfrm>
            <a:off x="5143504" y="1142984"/>
            <a:ext cx="2143139" cy="2891808"/>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2844" y="4923532"/>
            <a:ext cx="8001056" cy="829945"/>
          </a:xfrm>
          <a:prstGeom prst="rect">
            <a:avLst/>
          </a:prstGeom>
        </p:spPr>
        <p:txBody>
          <a:bodyPr wrap="square">
            <a:spAutoFit/>
          </a:bodyPr>
          <a:lstStyle/>
          <a:p>
            <a:r>
              <a:rPr lang="zh-CN" altLang="en-US" sz="1600" dirty="0">
                <a:solidFill>
                  <a:srgbClr val="0000FF"/>
                </a:solidFill>
              </a:rPr>
              <a:t>邓龙江</a:t>
            </a:r>
            <a:r>
              <a:rPr lang="en-US" altLang="zh-CN" sz="1600" dirty="0">
                <a:solidFill>
                  <a:srgbClr val="0000FF"/>
                </a:solidFill>
              </a:rPr>
              <a:t>,</a:t>
            </a:r>
            <a:r>
              <a:rPr lang="zh-CN" altLang="en-US" sz="1600" dirty="0">
                <a:solidFill>
                  <a:srgbClr val="0000FF"/>
                </a:solidFill>
              </a:rPr>
              <a:t>过璧君</a:t>
            </a:r>
            <a:r>
              <a:rPr lang="en-US" altLang="zh-CN" sz="1600" dirty="0">
                <a:solidFill>
                  <a:srgbClr val="0000FF"/>
                </a:solidFill>
              </a:rPr>
              <a:t>,</a:t>
            </a:r>
            <a:r>
              <a:rPr lang="zh-CN" altLang="en-US" sz="1600" dirty="0">
                <a:solidFill>
                  <a:srgbClr val="0000FF"/>
                </a:solidFill>
              </a:rPr>
              <a:t>郑宗瑜 </a:t>
            </a:r>
            <a:r>
              <a:rPr lang="zh-CN" altLang="en-US" sz="1600" i="1" dirty="0">
                <a:solidFill>
                  <a:srgbClr val="0000FF"/>
                </a:solidFill>
              </a:rPr>
              <a:t> </a:t>
            </a:r>
            <a:endParaRPr lang="en-US" altLang="zh-CN" sz="1600" dirty="0">
              <a:solidFill>
                <a:srgbClr val="0000FF"/>
              </a:solidFill>
            </a:endParaRPr>
          </a:p>
          <a:p>
            <a:r>
              <a:rPr lang="zh-CN" altLang="en-US" sz="1600" dirty="0">
                <a:solidFill>
                  <a:srgbClr val="0000FF"/>
                </a:solidFill>
              </a:rPr>
              <a:t>邓龙江</a:t>
            </a:r>
            <a:r>
              <a:rPr lang="zh-CN" altLang="en-US" sz="1600" i="1" dirty="0">
                <a:solidFill>
                  <a:srgbClr val="0000FF"/>
                </a:solidFill>
              </a:rPr>
              <a:t>（</a:t>
            </a:r>
            <a:r>
              <a:rPr lang="en-US" altLang="zh-CN" sz="1600" i="1" dirty="0">
                <a:solidFill>
                  <a:srgbClr val="0000FF"/>
                </a:solidFill>
              </a:rPr>
              <a:t>1966</a:t>
            </a:r>
            <a:r>
              <a:rPr lang="zh-CN" altLang="en-US" sz="1600" i="1" dirty="0">
                <a:solidFill>
                  <a:srgbClr val="0000FF"/>
                </a:solidFill>
              </a:rPr>
              <a:t>年</a:t>
            </a:r>
            <a:r>
              <a:rPr lang="en-US" altLang="zh-CN" sz="1600" i="1" dirty="0">
                <a:solidFill>
                  <a:srgbClr val="0000FF"/>
                </a:solidFill>
              </a:rPr>
              <a:t>12</a:t>
            </a:r>
            <a:r>
              <a:rPr lang="zh-CN" altLang="en-US" sz="1600" i="1" dirty="0">
                <a:solidFill>
                  <a:srgbClr val="0000FF"/>
                </a:solidFill>
              </a:rPr>
              <a:t>月</a:t>
            </a:r>
            <a:r>
              <a:rPr lang="en-US" altLang="zh-CN" sz="1600" i="1" dirty="0">
                <a:solidFill>
                  <a:srgbClr val="0000FF"/>
                </a:solidFill>
              </a:rPr>
              <a:t>-   </a:t>
            </a:r>
            <a:r>
              <a:rPr lang="zh-CN" altLang="en-US" sz="1600" i="1" dirty="0">
                <a:solidFill>
                  <a:srgbClr val="0000FF"/>
                </a:solidFill>
              </a:rPr>
              <a:t>） </a:t>
            </a:r>
            <a:r>
              <a:rPr lang="zh-CN" altLang="en-US" sz="1600" dirty="0">
                <a:solidFill>
                  <a:srgbClr val="0000FF"/>
                </a:solidFill>
              </a:rPr>
              <a:t>，中国科学院院士</a:t>
            </a:r>
            <a:endParaRPr lang="en-US" altLang="zh-CN" sz="1600" dirty="0">
              <a:solidFill>
                <a:srgbClr val="0000FF"/>
              </a:solidFill>
            </a:endParaRPr>
          </a:p>
          <a:p>
            <a:r>
              <a:rPr lang="zh-CN" altLang="en-US" sz="1600" dirty="0">
                <a:solidFill>
                  <a:srgbClr val="0000FF"/>
                </a:solidFill>
              </a:rPr>
              <a:t>“</a:t>
            </a:r>
            <a:r>
              <a:rPr lang="en-US" altLang="zh-CN" sz="1600" dirty="0">
                <a:solidFill>
                  <a:srgbClr val="0000FF"/>
                </a:solidFill>
              </a:rPr>
              <a:t>W</a:t>
            </a:r>
            <a:r>
              <a:rPr lang="zh-CN" altLang="en-US" sz="1600" dirty="0">
                <a:solidFill>
                  <a:srgbClr val="0000FF"/>
                </a:solidFill>
              </a:rPr>
              <a:t>型六角铁氧体的研制”，  </a:t>
            </a:r>
            <a:r>
              <a:rPr lang="en-US" altLang="zh-CN" sz="1600" dirty="0">
                <a:solidFill>
                  <a:srgbClr val="0000FF"/>
                </a:solidFill>
              </a:rPr>
              <a:t>《</a:t>
            </a:r>
            <a:r>
              <a:rPr lang="zh-CN" altLang="en-US" sz="1600" dirty="0">
                <a:solidFill>
                  <a:srgbClr val="0000FF"/>
                </a:solidFill>
              </a:rPr>
              <a:t>电子科技大学学报</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 1990</a:t>
            </a:r>
            <a:r>
              <a:rPr lang="zh-CN" altLang="en-US" sz="1600" dirty="0">
                <a:solidFill>
                  <a:srgbClr val="0000FF"/>
                </a:solidFill>
              </a:rPr>
              <a:t>年</a:t>
            </a:r>
            <a:r>
              <a:rPr lang="en-US" altLang="zh-CN" sz="1600" dirty="0">
                <a:solidFill>
                  <a:srgbClr val="0000FF"/>
                </a:solidFill>
              </a:rPr>
              <a:t>04</a:t>
            </a:r>
            <a:r>
              <a:rPr lang="zh-CN" altLang="en-US" sz="1600" dirty="0">
                <a:solidFill>
                  <a:srgbClr val="0000FF"/>
                </a:solidFill>
              </a:rPr>
              <a:t>期</a:t>
            </a:r>
          </a:p>
        </p:txBody>
      </p:sp>
      <p:pic>
        <p:nvPicPr>
          <p:cNvPr id="62466" name="Picture 2"/>
          <p:cNvPicPr>
            <a:picLocks noChangeAspect="1" noChangeArrowheads="1"/>
          </p:cNvPicPr>
          <p:nvPr/>
        </p:nvPicPr>
        <p:blipFill>
          <a:blip r:embed="rId2"/>
          <a:srcRect/>
          <a:stretch>
            <a:fillRect/>
          </a:stretch>
        </p:blipFill>
        <p:spPr bwMode="auto">
          <a:xfrm>
            <a:off x="357158" y="1071546"/>
            <a:ext cx="2803296" cy="3767487"/>
          </a:xfrm>
          <a:prstGeom prst="rect">
            <a:avLst/>
          </a:prstGeom>
          <a:noFill/>
          <a:ln w="9525">
            <a:noFill/>
            <a:miter lim="800000"/>
            <a:headEnd/>
            <a:tailEnd/>
          </a:ln>
          <a:effectLst/>
        </p:spPr>
      </p:pic>
      <p:pic>
        <p:nvPicPr>
          <p:cNvPr id="62467" name="Picture 3"/>
          <p:cNvPicPr>
            <a:picLocks noChangeAspect="1" noChangeArrowheads="1"/>
          </p:cNvPicPr>
          <p:nvPr/>
        </p:nvPicPr>
        <p:blipFill>
          <a:blip r:embed="rId3"/>
          <a:srcRect/>
          <a:stretch>
            <a:fillRect/>
          </a:stretch>
        </p:blipFill>
        <p:spPr bwMode="auto">
          <a:xfrm>
            <a:off x="5000628" y="1142984"/>
            <a:ext cx="2334827" cy="3176593"/>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850" y="5661977"/>
            <a:ext cx="5080000" cy="583565"/>
          </a:xfrm>
          <a:prstGeom prst="rect">
            <a:avLst/>
          </a:prstGeom>
        </p:spPr>
        <p:txBody>
          <a:bodyPr>
            <a:spAutoFit/>
          </a:bodyPr>
          <a:lstStyle/>
          <a:p>
            <a:pPr marL="0" indent="0" algn="l"/>
            <a:r>
              <a:rPr lang="en-US" altLang="zh-CN" sz="1600" b="0" i="0">
                <a:solidFill>
                  <a:srgbClr val="0000FF"/>
                </a:solidFill>
                <a:latin typeface="微软雅黑" panose="020B0503020204020204" charset="-122"/>
                <a:ea typeface="微软雅黑" panose="020B0503020204020204" charset="-122"/>
              </a:rPr>
              <a:t>[1]</a:t>
            </a:r>
            <a:r>
              <a:rPr lang="zh-CN" altLang="en-US" sz="1600" b="0" i="0">
                <a:solidFill>
                  <a:srgbClr val="0000FF"/>
                </a:solidFill>
                <a:latin typeface="微软雅黑" panose="020B0503020204020204" charset="-122"/>
                <a:ea typeface="微软雅黑" panose="020B0503020204020204" charset="-122"/>
              </a:rPr>
              <a:t>祝宁华</a:t>
            </a:r>
            <a:r>
              <a:rPr lang="en-US" altLang="zh-CN" sz="1600" b="0" i="0">
                <a:solidFill>
                  <a:srgbClr val="0000FF"/>
                </a:solidFill>
                <a:latin typeface="微软雅黑" panose="020B0503020204020204" charset="-122"/>
                <a:ea typeface="微软雅黑" panose="020B0503020204020204" charset="-122"/>
              </a:rPr>
              <a:t>,</a:t>
            </a:r>
            <a:r>
              <a:rPr lang="zh-CN" altLang="en-US" sz="1600" b="0" i="0">
                <a:solidFill>
                  <a:srgbClr val="0000FF"/>
                </a:solidFill>
                <a:latin typeface="微软雅黑" panose="020B0503020204020204" charset="-122"/>
                <a:ea typeface="微软雅黑" panose="020B0503020204020204" charset="-122"/>
              </a:rPr>
              <a:t>王仁明</a:t>
            </a:r>
            <a:r>
              <a:rPr lang="en-US" altLang="zh-CN" sz="1600" b="0" i="0">
                <a:solidFill>
                  <a:srgbClr val="0000FF"/>
                </a:solidFill>
                <a:latin typeface="微软雅黑" panose="020B0503020204020204" charset="-122"/>
                <a:ea typeface="微软雅黑" panose="020B0503020204020204" charset="-122"/>
              </a:rPr>
              <a:t>,</a:t>
            </a:r>
            <a:r>
              <a:rPr lang="zh-CN" altLang="en-US" sz="1600" b="0" i="0">
                <a:solidFill>
                  <a:srgbClr val="0000FF"/>
                </a:solidFill>
                <a:latin typeface="微软雅黑" panose="020B0503020204020204" charset="-122"/>
                <a:ea typeface="微软雅黑" panose="020B0503020204020204" charset="-122"/>
              </a:rPr>
              <a:t>王子谦</a:t>
            </a:r>
            <a:r>
              <a:rPr lang="en-US" altLang="zh-CN" sz="1600" b="0" i="0">
                <a:solidFill>
                  <a:srgbClr val="0000FF"/>
                </a:solidFill>
                <a:latin typeface="微软雅黑" panose="020B0503020204020204" charset="-122"/>
                <a:ea typeface="微软雅黑" panose="020B0503020204020204" charset="-122"/>
              </a:rPr>
              <a:t>.</a:t>
            </a:r>
            <a:r>
              <a:rPr lang="zh-CN" altLang="en-US" sz="1600" b="0" i="0">
                <a:solidFill>
                  <a:srgbClr val="0000FF"/>
                </a:solidFill>
                <a:latin typeface="微软雅黑" panose="020B0503020204020204" charset="-122"/>
                <a:ea typeface="微软雅黑" panose="020B0503020204020204" charset="-122"/>
              </a:rPr>
              <a:t>集成光波导本征模的变分分析及其应用</a:t>
            </a:r>
            <a:r>
              <a:rPr lang="en-US" altLang="zh-CN" sz="1600" b="0" i="0">
                <a:solidFill>
                  <a:srgbClr val="0000FF"/>
                </a:solidFill>
                <a:latin typeface="微软雅黑" panose="020B0503020204020204" charset="-122"/>
                <a:ea typeface="微软雅黑" panose="020B0503020204020204" charset="-122"/>
              </a:rPr>
              <a:t>[J].</a:t>
            </a:r>
            <a:r>
              <a:rPr lang="zh-CN" altLang="en-US" sz="1600" b="0" i="0">
                <a:solidFill>
                  <a:srgbClr val="0000FF"/>
                </a:solidFill>
                <a:latin typeface="微软雅黑" panose="020B0503020204020204" charset="-122"/>
                <a:ea typeface="微软雅黑" panose="020B0503020204020204" charset="-122"/>
              </a:rPr>
              <a:t>中国科学（</a:t>
            </a:r>
            <a:r>
              <a:rPr lang="en-US" altLang="zh-CN" sz="1600" b="0" i="0">
                <a:solidFill>
                  <a:srgbClr val="0000FF"/>
                </a:solidFill>
                <a:latin typeface="微软雅黑" panose="020B0503020204020204" charset="-122"/>
                <a:ea typeface="微软雅黑" panose="020B0503020204020204" charset="-122"/>
              </a:rPr>
              <a:t>A</a:t>
            </a:r>
            <a:r>
              <a:rPr lang="zh-CN" altLang="en-US" sz="1600" b="0" i="0">
                <a:solidFill>
                  <a:srgbClr val="0000FF"/>
                </a:solidFill>
                <a:latin typeface="微软雅黑" panose="020B0503020204020204" charset="-122"/>
                <a:ea typeface="微软雅黑" panose="020B0503020204020204" charset="-122"/>
              </a:rPr>
              <a:t>辑）</a:t>
            </a:r>
            <a:r>
              <a:rPr lang="en-US" altLang="zh-CN" sz="1600" b="0" i="0">
                <a:solidFill>
                  <a:srgbClr val="0000FF"/>
                </a:solidFill>
                <a:latin typeface="微软雅黑" panose="020B0503020204020204" charset="-122"/>
                <a:ea typeface="微软雅黑" panose="020B0503020204020204" charset="-122"/>
              </a:rPr>
              <a:t>,1995,25(3):319-326</a:t>
            </a:r>
          </a:p>
        </p:txBody>
      </p:sp>
      <p:pic>
        <p:nvPicPr>
          <p:cNvPr id="3" name="图片 2"/>
          <p:cNvPicPr>
            <a:picLocks noChangeAspect="1"/>
          </p:cNvPicPr>
          <p:nvPr/>
        </p:nvPicPr>
        <p:blipFill>
          <a:blip r:embed="rId2"/>
          <a:stretch>
            <a:fillRect/>
          </a:stretch>
        </p:blipFill>
        <p:spPr>
          <a:xfrm>
            <a:off x="5724525" y="1125220"/>
            <a:ext cx="3133725" cy="4162425"/>
          </a:xfrm>
          <a:prstGeom prst="rect">
            <a:avLst/>
          </a:prstGeom>
        </p:spPr>
      </p:pic>
      <p:sp>
        <p:nvSpPr>
          <p:cNvPr id="4" name="文本框 3"/>
          <p:cNvSpPr txBox="1"/>
          <p:nvPr/>
        </p:nvSpPr>
        <p:spPr>
          <a:xfrm>
            <a:off x="467995" y="1413192"/>
            <a:ext cx="5080000" cy="3784600"/>
          </a:xfrm>
          <a:prstGeom prst="rect">
            <a:avLst/>
          </a:prstGeom>
        </p:spPr>
        <p:txBody>
          <a:bodyPr>
            <a:spAutoFit/>
          </a:bodyPr>
          <a:lstStyle/>
          <a:p>
            <a:pPr marL="285750" indent="-285750">
              <a:buFont typeface="Arial" panose="020B0604020202020204" pitchFamily="34" charset="0"/>
              <a:buChar char="•"/>
            </a:pPr>
            <a:r>
              <a:rPr lang="en-US" altLang="zh-CN" sz="1600" b="0" i="0">
                <a:solidFill>
                  <a:srgbClr val="333333"/>
                </a:solidFill>
                <a:latin typeface="Helvetica Neue"/>
                <a:ea typeface="Helvetica Neue"/>
              </a:rPr>
              <a:t>1978</a:t>
            </a:r>
            <a:r>
              <a:rPr lang="zh-CN" altLang="en-US" sz="1600" b="0" i="0">
                <a:solidFill>
                  <a:srgbClr val="333333"/>
                </a:solidFill>
                <a:latin typeface="Helvetica Neue"/>
                <a:ea typeface="Helvetica Neue"/>
              </a:rPr>
              <a:t>年</a:t>
            </a:r>
            <a:r>
              <a:rPr lang="en-US" altLang="zh-CN" sz="1600" b="0" i="0">
                <a:solidFill>
                  <a:srgbClr val="333333"/>
                </a:solidFill>
                <a:latin typeface="Helvetica Neue"/>
                <a:ea typeface="Helvetica Neue"/>
              </a:rPr>
              <a:t>3</a:t>
            </a:r>
            <a:r>
              <a:rPr lang="zh-CN" altLang="en-US" sz="1600" b="0" i="0">
                <a:solidFill>
                  <a:srgbClr val="333333"/>
                </a:solidFill>
                <a:latin typeface="Helvetica Neue"/>
                <a:ea typeface="Helvetica Neue"/>
              </a:rPr>
              <a:t>月</a:t>
            </a:r>
            <a:r>
              <a:rPr lang="en-US" altLang="zh-CN" sz="1600" b="0" i="0">
                <a:solidFill>
                  <a:srgbClr val="333333"/>
                </a:solidFill>
                <a:latin typeface="Helvetica Neue"/>
                <a:ea typeface="Helvetica Neue"/>
              </a:rPr>
              <a:t>—1982</a:t>
            </a:r>
            <a:r>
              <a:rPr lang="zh-CN" altLang="en-US" sz="1600" b="0" i="0">
                <a:solidFill>
                  <a:srgbClr val="333333"/>
                </a:solidFill>
                <a:latin typeface="Helvetica Neue"/>
                <a:ea typeface="Helvetica Neue"/>
              </a:rPr>
              <a:t>年</a:t>
            </a:r>
            <a:r>
              <a:rPr lang="en-US" altLang="zh-CN" sz="1600" b="0" i="0">
                <a:solidFill>
                  <a:srgbClr val="333333"/>
                </a:solidFill>
                <a:latin typeface="Helvetica Neue"/>
                <a:ea typeface="Helvetica Neue"/>
              </a:rPr>
              <a:t>1</a:t>
            </a:r>
            <a:r>
              <a:rPr lang="zh-CN" altLang="en-US" sz="1600" b="0" i="0">
                <a:solidFill>
                  <a:srgbClr val="333333"/>
                </a:solidFill>
                <a:latin typeface="Helvetica Neue"/>
                <a:ea typeface="Helvetica Neue"/>
              </a:rPr>
              <a:t>月，就读于成都电讯工程学院电真空器件专业，毕业并获得学士学位。</a:t>
            </a:r>
          </a:p>
          <a:p>
            <a:pPr marL="285750" indent="-285750">
              <a:buFont typeface="Arial" panose="020B0604020202020204" pitchFamily="34" charset="0"/>
              <a:buChar char="•"/>
            </a:pPr>
            <a:r>
              <a:rPr lang="zh-CN" altLang="en-US" sz="1600" b="0" i="0">
                <a:solidFill>
                  <a:srgbClr val="333333"/>
                </a:solidFill>
                <a:latin typeface="Helvetica Neue"/>
                <a:ea typeface="Helvetica Neue"/>
              </a:rPr>
              <a:t>根据2022年6月中国科学院半导体研究所网站显示，祝宁华先后在《Nature Communications》和《Light》等刊物上发表SCI论文283篇（第一作者50篇），受邀在IEEE-JSTQE，IEEE-JQE和JLT等刊物上撰写8篇特邀文章，第一作者出版著作3部</a:t>
            </a:r>
          </a:p>
          <a:p>
            <a:pPr marL="285750" indent="-285750">
              <a:buFont typeface="Arial" panose="020B0604020202020204" pitchFamily="34" charset="0"/>
              <a:buChar char="•"/>
            </a:pPr>
            <a:r>
              <a:rPr lang="zh-CN" altLang="en-US" sz="1600" b="0" i="0">
                <a:solidFill>
                  <a:srgbClr val="333333"/>
                </a:solidFill>
                <a:latin typeface="Helvetica Neue"/>
                <a:ea typeface="Helvetica Neue"/>
              </a:rPr>
              <a:t>2023年5月31日，中国科学院发布消息称，中国科学院半导体研究所集成光电子学国家重点实验室微波光电子课题组李明研究员-祝宁华院士团队研制出一款超高集成度光学卷积处理器。相关研究成果以Compact optical convolution processing unit based on multimode interference为题，发表在《自然-通讯》上。标志着中国在光计算方面有了重大突破。</a:t>
            </a:r>
          </a:p>
        </p:txBody>
      </p:sp>
      <p:sp>
        <p:nvSpPr>
          <p:cNvPr id="5" name="文本框 4"/>
          <p:cNvSpPr txBox="1"/>
          <p:nvPr/>
        </p:nvSpPr>
        <p:spPr>
          <a:xfrm>
            <a:off x="5580380" y="5445760"/>
            <a:ext cx="3549015" cy="1224915"/>
          </a:xfrm>
          <a:prstGeom prst="rect">
            <a:avLst/>
          </a:prstGeom>
        </p:spPr>
        <p:txBody>
          <a:bodyPr>
            <a:noAutofit/>
          </a:bodyPr>
          <a:lstStyle/>
          <a:p>
            <a:pPr marL="0" indent="133350">
              <a:spcAft>
                <a:spcPct val="0"/>
              </a:spcAft>
            </a:pPr>
            <a:r>
              <a:rPr lang="zh-CN" altLang="en-US" sz="1600" b="0" i="0">
                <a:solidFill>
                  <a:srgbClr val="0000FF"/>
                </a:solidFill>
                <a:latin typeface="Helvetica Neue"/>
                <a:ea typeface="Helvetica Neue"/>
              </a:rPr>
              <a:t>祝宁华，</a:t>
            </a:r>
            <a:r>
              <a:rPr lang="en-US" altLang="zh-CN" sz="1600" b="0" i="0">
                <a:solidFill>
                  <a:srgbClr val="0000FF"/>
                </a:solidFill>
                <a:latin typeface="Helvetica Neue"/>
                <a:ea typeface="Helvetica Neue"/>
              </a:rPr>
              <a:t>1959</a:t>
            </a:r>
            <a:r>
              <a:rPr lang="zh-CN" altLang="en-US" sz="1600" b="0" i="0">
                <a:solidFill>
                  <a:srgbClr val="0000FF"/>
                </a:solidFill>
                <a:latin typeface="Helvetica Neue"/>
                <a:ea typeface="Helvetica Neue"/>
              </a:rPr>
              <a:t>年</a:t>
            </a:r>
            <a:r>
              <a:rPr lang="en-US" altLang="zh-CN" sz="1600" b="0" i="0">
                <a:solidFill>
                  <a:srgbClr val="0000FF"/>
                </a:solidFill>
                <a:latin typeface="Helvetica Neue"/>
                <a:ea typeface="Helvetica Neue"/>
              </a:rPr>
              <a:t>12</a:t>
            </a:r>
            <a:r>
              <a:rPr lang="zh-CN" altLang="en-US" sz="1600" b="0" i="0">
                <a:solidFill>
                  <a:srgbClr val="0000FF"/>
                </a:solidFill>
                <a:latin typeface="Helvetica Neue"/>
                <a:ea typeface="Helvetica Neue"/>
              </a:rPr>
              <a:t>月出生于贵州安龙县，微波光子学家，</a:t>
            </a:r>
            <a:r>
              <a:rPr lang="zh-CN" altLang="en-US" sz="1600" b="0" i="0">
                <a:solidFill>
                  <a:srgbClr val="0000FF"/>
                </a:solidFill>
                <a:latin typeface="Helvetica Neue"/>
                <a:ea typeface="Helvetica Neue"/>
                <a:hlinkClick r:id="rId3"/>
              </a:rPr>
              <a:t>中国科学院院士</a:t>
            </a:r>
            <a:r>
              <a:rPr lang="zh-CN" altLang="en-US" sz="1600" b="0" i="0">
                <a:solidFill>
                  <a:srgbClr val="0000FF"/>
                </a:solidFill>
                <a:latin typeface="Helvetica Neue"/>
                <a:ea typeface="Helvetica Neue"/>
              </a:rPr>
              <a:t>，</a:t>
            </a:r>
            <a:r>
              <a:rPr lang="zh-CN" altLang="en-US" sz="1600" b="0" i="0">
                <a:solidFill>
                  <a:srgbClr val="0000FF"/>
                </a:solidFill>
                <a:latin typeface="Helvetica Neue"/>
                <a:ea typeface="Helvetica Neue"/>
                <a:hlinkClick r:id="rId4"/>
              </a:rPr>
              <a:t>中国科学院雄安创新研究院</a:t>
            </a:r>
            <a:r>
              <a:rPr lang="zh-CN" altLang="en-US" sz="1600" b="0" i="0">
                <a:solidFill>
                  <a:srgbClr val="0000FF"/>
                </a:solidFill>
                <a:latin typeface="Helvetica Neue"/>
                <a:ea typeface="Helvetica Neue"/>
              </a:rPr>
              <a:t>院长</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508625" y="836930"/>
            <a:ext cx="3143250" cy="4429125"/>
          </a:xfrm>
          <a:prstGeom prst="rect">
            <a:avLst/>
          </a:prstGeom>
        </p:spPr>
      </p:pic>
      <p:sp>
        <p:nvSpPr>
          <p:cNvPr id="3" name="文本框 2"/>
          <p:cNvSpPr txBox="1"/>
          <p:nvPr/>
        </p:nvSpPr>
        <p:spPr>
          <a:xfrm>
            <a:off x="5292090" y="5517515"/>
            <a:ext cx="3917950" cy="1322070"/>
          </a:xfrm>
          <a:prstGeom prst="rect">
            <a:avLst/>
          </a:prstGeom>
        </p:spPr>
        <p:txBody>
          <a:bodyPr wrap="square">
            <a:spAutoFit/>
          </a:bodyPr>
          <a:lstStyle/>
          <a:p>
            <a:pPr marL="0" indent="133350">
              <a:spcAft>
                <a:spcPct val="0"/>
              </a:spcAft>
            </a:pPr>
            <a:r>
              <a:rPr lang="zh-CN" altLang="en-US" sz="1600" b="0" i="0">
                <a:solidFill>
                  <a:srgbClr val="0000FF"/>
                </a:solidFill>
                <a:latin typeface="Helvetica Neue"/>
                <a:ea typeface="Helvetica Neue"/>
              </a:rPr>
              <a:t>吴剑旗，男，汉族，</a:t>
            </a:r>
            <a:r>
              <a:rPr lang="en-US" altLang="zh-CN" sz="1600" b="0" i="0">
                <a:solidFill>
                  <a:srgbClr val="0000FF"/>
                </a:solidFill>
                <a:latin typeface="Helvetica Neue"/>
                <a:ea typeface="Helvetica Neue"/>
              </a:rPr>
              <a:t>1966</a:t>
            </a:r>
            <a:r>
              <a:rPr lang="zh-CN" altLang="en-US" sz="1600" b="0" i="0">
                <a:solidFill>
                  <a:srgbClr val="0000FF"/>
                </a:solidFill>
                <a:latin typeface="Helvetica Neue"/>
                <a:ea typeface="Helvetica Neue"/>
              </a:rPr>
              <a:t>年</a:t>
            </a:r>
            <a:r>
              <a:rPr lang="en-US" altLang="zh-CN" sz="1600" b="0" i="0">
                <a:solidFill>
                  <a:srgbClr val="0000FF"/>
                </a:solidFill>
                <a:latin typeface="Helvetica Neue"/>
                <a:ea typeface="Helvetica Neue"/>
              </a:rPr>
              <a:t>7</a:t>
            </a:r>
            <a:r>
              <a:rPr lang="zh-CN" altLang="en-US" sz="1600" b="0" i="0">
                <a:solidFill>
                  <a:srgbClr val="0000FF"/>
                </a:solidFill>
                <a:latin typeface="Helvetica Neue"/>
                <a:ea typeface="Helvetica Neue"/>
              </a:rPr>
              <a:t>月</a:t>
            </a:r>
            <a:r>
              <a:rPr lang="en-US" altLang="zh-CN" sz="1600" b="0" i="0">
                <a:solidFill>
                  <a:srgbClr val="0000FF"/>
                </a:solidFill>
                <a:latin typeface="Helvetica Neue"/>
                <a:ea typeface="Helvetica Neue"/>
              </a:rPr>
              <a:t>23</a:t>
            </a:r>
            <a:r>
              <a:rPr lang="zh-CN" altLang="en-US" sz="1600" b="0" i="0">
                <a:solidFill>
                  <a:srgbClr val="0000FF"/>
                </a:solidFill>
                <a:latin typeface="Helvetica Neue"/>
                <a:ea typeface="Helvetica Neue"/>
              </a:rPr>
              <a:t>日出生于四川省</a:t>
            </a:r>
            <a:r>
              <a:rPr lang="zh-CN" altLang="en-US" sz="1600" b="0" i="0">
                <a:solidFill>
                  <a:srgbClr val="0000FF"/>
                </a:solidFill>
                <a:latin typeface="Helvetica Neue"/>
                <a:ea typeface="Helvetica Neue"/>
                <a:hlinkClick r:id="rId3"/>
              </a:rPr>
              <a:t>宜宾市</a:t>
            </a:r>
            <a:r>
              <a:rPr lang="zh-CN" altLang="en-US" sz="1600" b="0" i="0">
                <a:solidFill>
                  <a:srgbClr val="0000FF"/>
                </a:solidFill>
                <a:latin typeface="Helvetica Neue"/>
                <a:ea typeface="Helvetica Neue"/>
              </a:rPr>
              <a:t>，籍贯江苏张家港</a:t>
            </a:r>
            <a:r>
              <a:rPr lang="en-US" altLang="zh-CN" sz="1600" b="0" i="0">
                <a:solidFill>
                  <a:srgbClr val="0000FF"/>
                </a:solidFill>
                <a:latin typeface="Helvetica Neue"/>
                <a:ea typeface="Helvetica Neue"/>
              </a:rPr>
              <a:t> [19]</a:t>
            </a:r>
            <a:r>
              <a:rPr lang="zh-CN" altLang="en-US" sz="1600" b="0" i="0">
                <a:solidFill>
                  <a:srgbClr val="0000FF"/>
                </a:solidFill>
                <a:latin typeface="Helvetica Neue"/>
                <a:ea typeface="Helvetica Neue"/>
              </a:rPr>
              <a:t>，雷达领域专家，</a:t>
            </a:r>
            <a:r>
              <a:rPr lang="zh-CN" altLang="en-US" sz="1600" b="0" i="0">
                <a:solidFill>
                  <a:srgbClr val="0000FF"/>
                </a:solidFill>
                <a:latin typeface="Helvetica Neue"/>
                <a:ea typeface="Helvetica Neue"/>
                <a:hlinkClick r:id="rId4"/>
              </a:rPr>
              <a:t>中国工程院院士</a:t>
            </a:r>
            <a:r>
              <a:rPr lang="zh-CN" altLang="en-US" sz="1600" b="0" i="0">
                <a:solidFill>
                  <a:srgbClr val="0000FF"/>
                </a:solidFill>
                <a:latin typeface="Helvetica Neue"/>
                <a:ea typeface="Helvetica Neue"/>
              </a:rPr>
              <a:t>，</a:t>
            </a:r>
            <a:r>
              <a:rPr lang="zh-CN" altLang="en-US" sz="1600" b="0" i="0">
                <a:solidFill>
                  <a:srgbClr val="0000FF"/>
                </a:solidFill>
                <a:latin typeface="Helvetica Neue"/>
                <a:ea typeface="Helvetica Neue"/>
                <a:hlinkClick r:id="rId5"/>
              </a:rPr>
              <a:t>中国电子科技集团公司</a:t>
            </a:r>
            <a:r>
              <a:rPr lang="zh-CN" altLang="en-US" sz="1600" b="0" i="0">
                <a:solidFill>
                  <a:srgbClr val="0000FF"/>
                </a:solidFill>
                <a:latin typeface="Helvetica Neue"/>
                <a:ea typeface="Helvetica Neue"/>
              </a:rPr>
              <a:t>首席科学家，三十八所科学技术委员会主任</a:t>
            </a:r>
          </a:p>
        </p:txBody>
      </p:sp>
      <p:sp>
        <p:nvSpPr>
          <p:cNvPr id="4" name="文本框 3"/>
          <p:cNvSpPr txBox="1"/>
          <p:nvPr/>
        </p:nvSpPr>
        <p:spPr>
          <a:xfrm>
            <a:off x="212090" y="981392"/>
            <a:ext cx="5080000" cy="583565"/>
          </a:xfrm>
          <a:prstGeom prst="rect">
            <a:avLst/>
          </a:prstGeom>
        </p:spPr>
        <p:txBody>
          <a:bodyPr>
            <a:spAutoFit/>
          </a:bodyPr>
          <a:lstStyle/>
          <a:p>
            <a:pPr marL="0" indent="133350">
              <a:spcAft>
                <a:spcPct val="0"/>
              </a:spcAft>
            </a:pPr>
            <a:r>
              <a:rPr lang="en-US" altLang="zh-CN" sz="1600" b="0" i="0">
                <a:solidFill>
                  <a:srgbClr val="333333"/>
                </a:solidFill>
                <a:latin typeface="Helvetica Neue"/>
                <a:ea typeface="Helvetica Neue"/>
              </a:rPr>
              <a:t>1987</a:t>
            </a:r>
            <a:r>
              <a:rPr lang="zh-CN" altLang="en-US" sz="1600" b="0" i="0">
                <a:solidFill>
                  <a:srgbClr val="333333"/>
                </a:solidFill>
                <a:latin typeface="Helvetica Neue"/>
                <a:ea typeface="Helvetica Neue"/>
              </a:rPr>
              <a:t>年，吴剑旗本科毕业于</a:t>
            </a:r>
            <a:r>
              <a:rPr lang="zh-CN" altLang="en-US" sz="1600" b="0" i="0">
                <a:solidFill>
                  <a:srgbClr val="136EC2"/>
                </a:solidFill>
                <a:latin typeface="Helvetica Neue"/>
                <a:ea typeface="Helvetica Neue"/>
                <a:hlinkClick r:id="rId6"/>
              </a:rPr>
              <a:t>北京航空航天大学</a:t>
            </a:r>
            <a:r>
              <a:rPr lang="zh-CN" altLang="en-US" sz="1600" b="0" i="0">
                <a:solidFill>
                  <a:srgbClr val="333333"/>
                </a:solidFill>
                <a:latin typeface="Helvetica Neue"/>
                <a:ea typeface="Helvetica Neue"/>
              </a:rPr>
              <a:t>；</a:t>
            </a:r>
          </a:p>
          <a:p>
            <a:pPr marL="0" indent="133350">
              <a:spcAft>
                <a:spcPct val="0"/>
              </a:spcAft>
            </a:pPr>
            <a:r>
              <a:rPr lang="en-US" altLang="zh-CN" sz="1600" b="0" i="0">
                <a:solidFill>
                  <a:srgbClr val="333333"/>
                </a:solidFill>
                <a:latin typeface="Helvetica Neue"/>
                <a:ea typeface="Helvetica Neue"/>
              </a:rPr>
              <a:t>1990</a:t>
            </a:r>
            <a:r>
              <a:rPr lang="zh-CN" altLang="en-US" sz="1600" b="0" i="0">
                <a:solidFill>
                  <a:srgbClr val="333333"/>
                </a:solidFill>
                <a:latin typeface="Helvetica Neue"/>
                <a:ea typeface="Helvetica Neue"/>
              </a:rPr>
              <a:t>年，硕士毕业于</a:t>
            </a:r>
            <a:r>
              <a:rPr lang="zh-CN" altLang="en-US" sz="1600" b="0" i="0">
                <a:solidFill>
                  <a:srgbClr val="136EC2"/>
                </a:solidFill>
                <a:latin typeface="Helvetica Neue"/>
                <a:ea typeface="Helvetica Neue"/>
                <a:hlinkClick r:id="rId7"/>
              </a:rPr>
              <a:t>电子科技大学</a:t>
            </a:r>
          </a:p>
        </p:txBody>
      </p:sp>
      <p:sp>
        <p:nvSpPr>
          <p:cNvPr id="5" name="文本框 4"/>
          <p:cNvSpPr txBox="1"/>
          <p:nvPr/>
        </p:nvSpPr>
        <p:spPr>
          <a:xfrm>
            <a:off x="35560" y="2349500"/>
            <a:ext cx="5080000" cy="2799715"/>
          </a:xfrm>
          <a:prstGeom prst="rect">
            <a:avLst/>
          </a:prstGeom>
        </p:spPr>
        <p:txBody>
          <a:bodyPr>
            <a:spAutoFit/>
          </a:bodyPr>
          <a:lstStyle/>
          <a:p>
            <a:pPr marL="285750" indent="-285750">
              <a:spcAft>
                <a:spcPct val="0"/>
              </a:spcAft>
              <a:buFont typeface="Arial" panose="020B0604020202020204" pitchFamily="34" charset="0"/>
              <a:buChar char="•"/>
            </a:pPr>
            <a:r>
              <a:rPr lang="zh-CN" altLang="en-US" sz="1600" b="0" i="0">
                <a:solidFill>
                  <a:srgbClr val="333333"/>
                </a:solidFill>
                <a:latin typeface="Helvetica Neue"/>
                <a:ea typeface="Helvetica Neue"/>
              </a:rPr>
              <a:t>截至</a:t>
            </a:r>
            <a:r>
              <a:rPr lang="en-US" altLang="zh-CN" sz="1600" b="0" i="0">
                <a:solidFill>
                  <a:srgbClr val="333333"/>
                </a:solidFill>
                <a:latin typeface="Helvetica Neue"/>
                <a:ea typeface="Helvetica Neue"/>
              </a:rPr>
              <a:t>2022</a:t>
            </a:r>
            <a:r>
              <a:rPr lang="zh-CN" altLang="en-US" sz="1600" b="0" i="0">
                <a:solidFill>
                  <a:srgbClr val="333333"/>
                </a:solidFill>
                <a:latin typeface="Helvetica Neue"/>
                <a:ea typeface="Helvetica Neue"/>
              </a:rPr>
              <a:t>年</a:t>
            </a:r>
            <a:r>
              <a:rPr lang="en-US" altLang="zh-CN" sz="1600" b="0" i="0">
                <a:solidFill>
                  <a:srgbClr val="333333"/>
                </a:solidFill>
                <a:latin typeface="Helvetica Neue"/>
                <a:ea typeface="Helvetica Neue"/>
              </a:rPr>
              <a:t>1</a:t>
            </a:r>
            <a:r>
              <a:rPr lang="zh-CN" altLang="en-US" sz="1600" b="0" i="0">
                <a:solidFill>
                  <a:srgbClr val="333333"/>
                </a:solidFill>
                <a:latin typeface="Helvetica Neue"/>
                <a:ea typeface="Helvetica Neue"/>
              </a:rPr>
              <a:t>月，吴剑旗出版中英文专著</a:t>
            </a:r>
            <a:r>
              <a:rPr lang="en-US" altLang="zh-CN" sz="1600" b="0" i="0">
                <a:solidFill>
                  <a:srgbClr val="333333"/>
                </a:solidFill>
                <a:latin typeface="Helvetica Neue"/>
                <a:ea typeface="Helvetica Neue"/>
              </a:rPr>
              <a:t>《</a:t>
            </a:r>
            <a:r>
              <a:rPr lang="zh-CN" altLang="en-US" sz="1600" b="0" i="0">
                <a:solidFill>
                  <a:srgbClr val="136EC2"/>
                </a:solidFill>
                <a:latin typeface="Helvetica Neue"/>
                <a:ea typeface="Helvetica Neue"/>
                <a:hlinkClick r:id="rId8"/>
              </a:rPr>
              <a:t>综合脉冲孔径雷达</a:t>
            </a:r>
            <a:r>
              <a:rPr lang="en-US" altLang="zh-CN" sz="1600" b="0" i="0">
                <a:solidFill>
                  <a:srgbClr val="333333"/>
                </a:solidFill>
                <a:latin typeface="Helvetica Neue"/>
                <a:ea typeface="Helvetica Neue"/>
              </a:rPr>
              <a:t>》《SyntheticImpulse and Aperture Radar(SIAR):A Novel Multi-Frequency MIMO Radar》</a:t>
            </a:r>
            <a:r>
              <a:rPr lang="zh-CN" altLang="en-US" sz="1600" b="0" i="0">
                <a:solidFill>
                  <a:srgbClr val="333333"/>
                </a:solidFill>
                <a:latin typeface="Helvetica Neue"/>
                <a:ea typeface="Helvetica Neue"/>
              </a:rPr>
              <a:t>（美国</a:t>
            </a:r>
            <a:r>
              <a:rPr lang="en-US" altLang="zh-CN" sz="1600" b="0" i="0">
                <a:solidFill>
                  <a:srgbClr val="333333"/>
                </a:solidFill>
                <a:latin typeface="Helvetica Neue"/>
                <a:ea typeface="Helvetica Neue"/>
              </a:rPr>
              <a:t>Wiley</a:t>
            </a:r>
            <a:r>
              <a:rPr lang="zh-CN" altLang="en-US" sz="1600" b="0" i="0">
                <a:solidFill>
                  <a:srgbClr val="333333"/>
                </a:solidFill>
                <a:latin typeface="Helvetica Neue"/>
                <a:ea typeface="Helvetica Neue"/>
              </a:rPr>
              <a:t>出版公司）</a:t>
            </a:r>
            <a:r>
              <a:rPr lang="en-US" altLang="zh-CN" sz="1600" b="0" i="0">
                <a:solidFill>
                  <a:srgbClr val="333333"/>
                </a:solidFill>
                <a:latin typeface="Helvetica Neue"/>
                <a:ea typeface="Helvetica Neue"/>
              </a:rPr>
              <a:t>《</a:t>
            </a:r>
            <a:r>
              <a:rPr lang="zh-CN" altLang="en-US" sz="1600" b="0" i="0">
                <a:solidFill>
                  <a:srgbClr val="136EC2"/>
                </a:solidFill>
                <a:latin typeface="Helvetica Neue"/>
                <a:ea typeface="Helvetica Neue"/>
                <a:hlinkClick r:id="rId9"/>
              </a:rPr>
              <a:t>先进米波雷达</a:t>
            </a:r>
            <a:r>
              <a:rPr lang="en-US" altLang="zh-CN" sz="1600" b="0" i="0">
                <a:solidFill>
                  <a:srgbClr val="333333"/>
                </a:solidFill>
                <a:latin typeface="Helvetica Neue"/>
                <a:ea typeface="Helvetica Neue"/>
              </a:rPr>
              <a:t>》《AdvancedMetric Wave Radar》</a:t>
            </a:r>
            <a:r>
              <a:rPr lang="zh-CN" altLang="en-US" sz="1600" b="0" i="0">
                <a:solidFill>
                  <a:srgbClr val="333333"/>
                </a:solidFill>
                <a:latin typeface="Helvetica Neue"/>
                <a:ea typeface="Helvetica Neue"/>
              </a:rPr>
              <a:t>（德国</a:t>
            </a:r>
            <a:r>
              <a:rPr lang="en-US" altLang="zh-CN" sz="1600" b="0" i="0">
                <a:solidFill>
                  <a:srgbClr val="333333"/>
                </a:solidFill>
                <a:latin typeface="Helvetica Neue"/>
                <a:ea typeface="Helvetica Neue"/>
              </a:rPr>
              <a:t>Springer</a:t>
            </a:r>
            <a:r>
              <a:rPr lang="zh-CN" altLang="en-US" sz="1600" b="0" i="0">
                <a:solidFill>
                  <a:srgbClr val="333333"/>
                </a:solidFill>
                <a:latin typeface="Helvetica Neue"/>
                <a:ea typeface="Helvetica Neue"/>
              </a:rPr>
              <a:t>出版公司）等</a:t>
            </a:r>
          </a:p>
          <a:p>
            <a:pPr marL="285750" indent="-285750">
              <a:spcAft>
                <a:spcPct val="0"/>
              </a:spcAft>
              <a:buFont typeface="Arial" panose="020B0604020202020204" pitchFamily="34" charset="0"/>
              <a:buChar char="•"/>
            </a:pPr>
            <a:r>
              <a:rPr lang="zh-CN" altLang="en-US" sz="1600" b="0" i="0">
                <a:solidFill>
                  <a:srgbClr val="333333"/>
                </a:solidFill>
                <a:latin typeface="Helvetica Neue"/>
                <a:ea typeface="Helvetica Neue"/>
              </a:rPr>
              <a:t>在中国国内外发表论文</a:t>
            </a:r>
            <a:r>
              <a:rPr lang="en-US" altLang="zh-CN" sz="1600" b="0" i="0">
                <a:solidFill>
                  <a:srgbClr val="333333"/>
                </a:solidFill>
                <a:latin typeface="Helvetica Neue"/>
                <a:ea typeface="Helvetica Neue"/>
              </a:rPr>
              <a:t>30</a:t>
            </a:r>
            <a:r>
              <a:rPr lang="zh-CN" altLang="en-US" sz="1600" b="0" i="0">
                <a:solidFill>
                  <a:srgbClr val="333333"/>
                </a:solidFill>
                <a:latin typeface="Helvetica Neue"/>
                <a:ea typeface="Helvetica Neue"/>
              </a:rPr>
              <a:t>多篇；</a:t>
            </a:r>
          </a:p>
          <a:p>
            <a:pPr marL="285750" indent="-285750">
              <a:spcAft>
                <a:spcPct val="0"/>
              </a:spcAft>
              <a:buFont typeface="Arial" panose="020B0604020202020204" pitchFamily="34" charset="0"/>
              <a:buChar char="•"/>
            </a:pPr>
            <a:r>
              <a:rPr lang="zh-CN" altLang="en-US" sz="1600" b="0" i="0">
                <a:solidFill>
                  <a:srgbClr val="333333"/>
                </a:solidFill>
                <a:latin typeface="Helvetica Neue"/>
                <a:ea typeface="Helvetica Neue"/>
              </a:rPr>
              <a:t>获授权国防发明专利</a:t>
            </a:r>
            <a:r>
              <a:rPr lang="en-US" altLang="zh-CN" sz="1600" b="0" i="0">
                <a:solidFill>
                  <a:srgbClr val="333333"/>
                </a:solidFill>
                <a:latin typeface="Helvetica Neue"/>
                <a:ea typeface="Helvetica Neue"/>
              </a:rPr>
              <a:t>19</a:t>
            </a:r>
            <a:r>
              <a:rPr lang="zh-CN" altLang="en-US" sz="1600" b="0" i="0">
                <a:solidFill>
                  <a:srgbClr val="333333"/>
                </a:solidFill>
                <a:latin typeface="Helvetica Neue"/>
                <a:ea typeface="Helvetica Neue"/>
              </a:rPr>
              <a:t>项</a:t>
            </a:r>
          </a:p>
          <a:p>
            <a:pPr marL="285750" indent="-285750">
              <a:spcAft>
                <a:spcPct val="0"/>
              </a:spcAft>
              <a:buFont typeface="Arial" panose="020B0604020202020204" pitchFamily="34" charset="0"/>
              <a:buChar char="•"/>
            </a:pPr>
            <a:r>
              <a:rPr lang="zh-CN" altLang="en-US" sz="1600" b="0" i="0">
                <a:solidFill>
                  <a:srgbClr val="333333"/>
                </a:solidFill>
                <a:latin typeface="Helvetica Neue"/>
                <a:ea typeface="Helvetica Neue"/>
              </a:rPr>
              <a:t>截至2022年1月，吴剑旗获得国家科技进步奖一等奖1项、二等奖3项，获国防一、二等科学技术奖多项，集团特等、一等科技奖多项</a:t>
            </a:r>
          </a:p>
        </p:txBody>
      </p:sp>
      <p:sp>
        <p:nvSpPr>
          <p:cNvPr id="6" name="文本框 5"/>
          <p:cNvSpPr txBox="1"/>
          <p:nvPr/>
        </p:nvSpPr>
        <p:spPr>
          <a:xfrm>
            <a:off x="107950" y="5661977"/>
            <a:ext cx="5080000" cy="829945"/>
          </a:xfrm>
          <a:prstGeom prst="rect">
            <a:avLst/>
          </a:prstGeom>
        </p:spPr>
        <p:txBody>
          <a:bodyPr>
            <a:spAutoFit/>
          </a:bodyPr>
          <a:lstStyle/>
          <a:p>
            <a:pPr marL="0" indent="0" algn="just" latinLnBrk="1">
              <a:spcAft>
                <a:spcPct val="0"/>
              </a:spcAft>
            </a:pPr>
            <a:r>
              <a:rPr lang="en-US" altLang="zh-CN" sz="1600" b="0" i="0">
                <a:solidFill>
                  <a:srgbClr val="0000FF"/>
                </a:solidFill>
                <a:latin typeface="PingFangSC-Regular"/>
                <a:ea typeface="PingFangSC-Regular"/>
              </a:rPr>
              <a:t>[1]</a:t>
            </a:r>
            <a:r>
              <a:rPr lang="zh-CN" altLang="en-US" sz="1600" b="0" i="0">
                <a:solidFill>
                  <a:srgbClr val="0000FF"/>
                </a:solidFill>
                <a:latin typeface="PingFangSC-Regular"/>
                <a:ea typeface="PingFangSC-Regular"/>
              </a:rPr>
              <a:t>吴剑旗</a:t>
            </a:r>
            <a:r>
              <a:rPr lang="en-US" altLang="zh-CN" sz="1600" b="0" i="0">
                <a:solidFill>
                  <a:srgbClr val="0000FF"/>
                </a:solidFill>
                <a:latin typeface="PingFangSC-Regular"/>
                <a:ea typeface="PingFangSC-Regular"/>
              </a:rPr>
              <a:t>,</a:t>
            </a:r>
            <a:r>
              <a:rPr lang="zh-CN" altLang="en-US" sz="1600" b="0" i="0">
                <a:solidFill>
                  <a:srgbClr val="0000FF"/>
                </a:solidFill>
                <a:latin typeface="PingFangSC-Regular"/>
                <a:ea typeface="PingFangSC-Regular"/>
              </a:rPr>
              <a:t>贺瑞龙</a:t>
            </a:r>
            <a:r>
              <a:rPr lang="en-US" altLang="zh-CN" sz="1600" b="0" i="0">
                <a:solidFill>
                  <a:srgbClr val="0000FF"/>
                </a:solidFill>
                <a:latin typeface="PingFangSC-Regular"/>
                <a:ea typeface="PingFangSC-Regular"/>
              </a:rPr>
              <a:t>,</a:t>
            </a:r>
            <a:r>
              <a:rPr lang="zh-CN" altLang="en-US" sz="1600" b="0" i="0">
                <a:solidFill>
                  <a:srgbClr val="0000FF"/>
                </a:solidFill>
                <a:latin typeface="PingFangSC-Regular"/>
                <a:ea typeface="PingFangSC-Regular"/>
              </a:rPr>
              <a:t>江凯</a:t>
            </a:r>
            <a:r>
              <a:rPr lang="en-US" altLang="zh-CN" sz="1600" b="0" i="0">
                <a:solidFill>
                  <a:srgbClr val="0000FF"/>
                </a:solidFill>
                <a:latin typeface="PingFangSC-Regular"/>
                <a:ea typeface="PingFangSC-Regular"/>
              </a:rPr>
              <a:t>,</a:t>
            </a:r>
            <a:r>
              <a:rPr lang="zh-CN" altLang="en-US" sz="1600" b="0" i="0">
                <a:solidFill>
                  <a:srgbClr val="0000FF"/>
                </a:solidFill>
                <a:latin typeface="PingFangSC-Regular"/>
                <a:ea typeface="PingFangSC-Regular"/>
              </a:rPr>
              <a:t>等</a:t>
            </a:r>
            <a:r>
              <a:rPr lang="en-US" altLang="zh-CN" sz="1600" b="0" i="0">
                <a:solidFill>
                  <a:srgbClr val="0000FF"/>
                </a:solidFill>
                <a:latin typeface="PingFangSC-Regular"/>
                <a:ea typeface="PingFangSC-Regular"/>
              </a:rPr>
              <a:t>.</a:t>
            </a:r>
            <a:r>
              <a:rPr lang="zh-CN" altLang="en-US" sz="1600" b="0" i="0">
                <a:solidFill>
                  <a:srgbClr val="0000FF"/>
                </a:solidFill>
                <a:latin typeface="PingFangSC-Regular"/>
                <a:ea typeface="PingFangSC-Regular"/>
              </a:rPr>
              <a:t>稀布阵综合脉冲孔径雷达的研究与试验</a:t>
            </a:r>
            <a:r>
              <a:rPr lang="en-US" altLang="zh-CN" sz="1600" b="0" i="0">
                <a:solidFill>
                  <a:srgbClr val="0000FF"/>
                </a:solidFill>
                <a:latin typeface="PingFangSC-Regular"/>
                <a:ea typeface="PingFangSC-Regular"/>
              </a:rPr>
              <a:t>[C]//</a:t>
            </a:r>
            <a:r>
              <a:rPr lang="zh-CN" altLang="en-US" sz="1600" b="0" i="0">
                <a:solidFill>
                  <a:srgbClr val="0000FF"/>
                </a:solidFill>
                <a:latin typeface="PingFangSC-Regular"/>
                <a:ea typeface="PingFangSC-Regular"/>
              </a:rPr>
              <a:t>全国雷达学术年会</a:t>
            </a:r>
            <a:r>
              <a:rPr lang="en-US" altLang="zh-CN" sz="1600" b="0" i="0">
                <a:solidFill>
                  <a:srgbClr val="0000FF"/>
                </a:solidFill>
                <a:latin typeface="PingFangSC-Regular"/>
                <a:ea typeface="PingFangSC-Regular"/>
              </a:rPr>
              <a:t>.</a:t>
            </a:r>
            <a:r>
              <a:rPr lang="zh-CN" altLang="en-US" sz="1600" b="0" i="0">
                <a:solidFill>
                  <a:srgbClr val="0000FF"/>
                </a:solidFill>
                <a:latin typeface="PingFangSC-Regular"/>
                <a:ea typeface="PingFangSC-Regular"/>
              </a:rPr>
              <a:t>中国电子学会</a:t>
            </a:r>
            <a:r>
              <a:rPr lang="en-US" altLang="zh-CN" sz="1600" b="0" i="0">
                <a:solidFill>
                  <a:srgbClr val="0000FF"/>
                </a:solidFill>
                <a:latin typeface="PingFangSC-Regular"/>
                <a:ea typeface="PingFangSC-Regular"/>
              </a:rPr>
              <a:t>, 1999.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4339" name="矩形 3"/>
          <p:cNvSpPr/>
          <p:nvPr/>
        </p:nvSpPr>
        <p:spPr>
          <a:xfrm>
            <a:off x="1331913" y="1052513"/>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sp>
        <p:nvSpPr>
          <p:cNvPr id="14340" name="矩形 4"/>
          <p:cNvSpPr/>
          <p:nvPr/>
        </p:nvSpPr>
        <p:spPr>
          <a:xfrm>
            <a:off x="971600" y="1644650"/>
            <a:ext cx="7561213" cy="1015663"/>
          </a:xfrm>
          <a:prstGeom prst="rect">
            <a:avLst/>
          </a:prstGeom>
          <a:noFill/>
          <a:ln w="9525">
            <a:noFill/>
          </a:ln>
        </p:spPr>
        <p:txBody>
          <a:bodyPr wrap="square" anchor="t">
            <a:spAutoFit/>
          </a:bodyPr>
          <a:lstStyle/>
          <a:p>
            <a:pPr algn="ctr" defTabSz="457200">
              <a:spcAft>
                <a:spcPts val="0"/>
              </a:spcAft>
            </a:pPr>
            <a:r>
              <a:rPr lang="zh-CN" altLang="en-US" sz="2000" b="1" dirty="0">
                <a:solidFill>
                  <a:srgbClr val="000000"/>
                </a:solidFill>
                <a:latin typeface="黑体" panose="02010609060101010101" charset="-122"/>
                <a:ea typeface="黑体" panose="02010609060101010101" charset="-122"/>
                <a:cs typeface="黑体" panose="02010609060101010101" charset="-122"/>
              </a:rPr>
              <a:t>可以说，交互的本质是沟通</a:t>
            </a:r>
            <a:endParaRPr lang="en-US" altLang="zh-CN" sz="2000" b="1" dirty="0">
              <a:solidFill>
                <a:srgbClr val="000000"/>
              </a:solidFill>
              <a:latin typeface="黑体" panose="02010609060101010101" charset="-122"/>
              <a:ea typeface="黑体" panose="02010609060101010101" charset="-122"/>
              <a:cs typeface="黑体" panose="02010609060101010101" charset="-122"/>
            </a:endParaRPr>
          </a:p>
          <a:p>
            <a:pPr algn="ctr" defTabSz="457200">
              <a:spcBef>
                <a:spcPts val="0"/>
              </a:spcBef>
              <a:spcAft>
                <a:spcPts val="0"/>
              </a:spcAft>
            </a:pPr>
            <a:r>
              <a:rPr lang="zh-CN" altLang="en-US" sz="2000" b="1" dirty="0">
                <a:solidFill>
                  <a:srgbClr val="000000"/>
                </a:solidFill>
                <a:latin typeface="黑体" panose="02010609060101010101" charset="-122"/>
                <a:ea typeface="黑体" panose="02010609060101010101" charset="-122"/>
                <a:cs typeface="黑体" panose="02010609060101010101" charset="-122"/>
              </a:rPr>
              <a:t>复杂和高级的沟通是“人”区别于“其他动物”的主要原因之一</a:t>
            </a:r>
            <a:endParaRPr lang="en-US" altLang="zh-CN" sz="2000" b="1" dirty="0">
              <a:solidFill>
                <a:srgbClr val="000000"/>
              </a:solidFill>
              <a:latin typeface="黑体" panose="02010609060101010101" charset="-122"/>
              <a:ea typeface="黑体" panose="02010609060101010101" charset="-122"/>
              <a:cs typeface="黑体" panose="02010609060101010101" charset="-122"/>
            </a:endParaRPr>
          </a:p>
          <a:p>
            <a:pPr algn="ctr" defTabSz="457200">
              <a:spcBef>
                <a:spcPts val="0"/>
              </a:spcBef>
            </a:pPr>
            <a:r>
              <a:rPr lang="zh-CN" altLang="en-US" sz="2000" b="1" dirty="0">
                <a:solidFill>
                  <a:srgbClr val="000000"/>
                </a:solidFill>
                <a:latin typeface="黑体" panose="02010609060101010101" charset="-122"/>
                <a:ea typeface="黑体" panose="02010609060101010101" charset="-122"/>
                <a:cs typeface="黑体" panose="02010609060101010101" charset="-122"/>
              </a:rPr>
              <a:t>大学的很多课程，其实都是沟通类课程</a:t>
            </a:r>
          </a:p>
        </p:txBody>
      </p:sp>
      <p:pic>
        <p:nvPicPr>
          <p:cNvPr id="14341" name="图片 5"/>
          <p:cNvPicPr>
            <a:picLocks noChangeAspect="1"/>
          </p:cNvPicPr>
          <p:nvPr/>
        </p:nvPicPr>
        <p:blipFill>
          <a:blip r:embed="rId5"/>
          <a:stretch>
            <a:fillRect/>
          </a:stretch>
        </p:blipFill>
        <p:spPr>
          <a:xfrm>
            <a:off x="611188" y="2937828"/>
            <a:ext cx="3097212" cy="2057400"/>
          </a:xfrm>
          <a:prstGeom prst="rect">
            <a:avLst/>
          </a:prstGeom>
          <a:noFill/>
          <a:ln w="9525">
            <a:noFill/>
          </a:ln>
        </p:spPr>
      </p:pic>
      <p:pic>
        <p:nvPicPr>
          <p:cNvPr id="14342" name="图片 6"/>
          <p:cNvPicPr>
            <a:picLocks noChangeAspect="1"/>
          </p:cNvPicPr>
          <p:nvPr/>
        </p:nvPicPr>
        <p:blipFill>
          <a:blip r:embed="rId6"/>
          <a:stretch>
            <a:fillRect/>
          </a:stretch>
        </p:blipFill>
        <p:spPr>
          <a:xfrm>
            <a:off x="3244850" y="3544888"/>
            <a:ext cx="3127375" cy="2065337"/>
          </a:xfrm>
          <a:prstGeom prst="rect">
            <a:avLst/>
          </a:prstGeom>
          <a:noFill/>
          <a:ln w="9525">
            <a:noFill/>
          </a:ln>
        </p:spPr>
      </p:pic>
      <p:pic>
        <p:nvPicPr>
          <p:cNvPr id="14343" name="图片 7"/>
          <p:cNvPicPr>
            <a:picLocks noChangeAspect="1"/>
          </p:cNvPicPr>
          <p:nvPr/>
        </p:nvPicPr>
        <p:blipFill>
          <a:blip r:embed="rId7"/>
          <a:stretch>
            <a:fillRect/>
          </a:stretch>
        </p:blipFill>
        <p:spPr>
          <a:xfrm>
            <a:off x="5940425" y="4796473"/>
            <a:ext cx="3095625" cy="1828800"/>
          </a:xfrm>
          <a:prstGeom prst="rect">
            <a:avLst/>
          </a:prstGeom>
          <a:noFill/>
          <a:ln w="9525">
            <a:noFill/>
          </a:ln>
        </p:spPr>
      </p:pic>
      <p:sp>
        <p:nvSpPr>
          <p:cNvPr id="14344" name="矩形 9"/>
          <p:cNvSpPr/>
          <p:nvPr/>
        </p:nvSpPr>
        <p:spPr>
          <a:xfrm>
            <a:off x="3708400" y="2937828"/>
            <a:ext cx="2663825" cy="337185"/>
          </a:xfrm>
          <a:prstGeom prst="rect">
            <a:avLst/>
          </a:prstGeom>
          <a:noFill/>
          <a:ln w="9525">
            <a:noFill/>
          </a:ln>
        </p:spPr>
        <p:txBody>
          <a:bodyPr anchor="t">
            <a:spAutoFit/>
          </a:bodyPr>
          <a:lstStyle/>
          <a:p>
            <a:pPr defTabSz="457200">
              <a:spcAft>
                <a:spcPts val="0"/>
              </a:spcAft>
            </a:pPr>
            <a:r>
              <a:rPr lang="zh-CN" altLang="en-US" sz="1600" b="1" dirty="0">
                <a:solidFill>
                  <a:srgbClr val="000000"/>
                </a:solidFill>
                <a:latin typeface="黑体" panose="02010609060101010101" charset="-122"/>
                <a:ea typeface="黑体" panose="02010609060101010101" charset="-122"/>
              </a:rPr>
              <a:t>学习写代码：跟电脑沟通</a:t>
            </a:r>
          </a:p>
        </p:txBody>
      </p:sp>
      <p:sp>
        <p:nvSpPr>
          <p:cNvPr id="14345" name="矩形 10"/>
          <p:cNvSpPr/>
          <p:nvPr/>
        </p:nvSpPr>
        <p:spPr>
          <a:xfrm>
            <a:off x="6362700" y="3958590"/>
            <a:ext cx="2663825" cy="337185"/>
          </a:xfrm>
          <a:prstGeom prst="rect">
            <a:avLst/>
          </a:prstGeom>
          <a:noFill/>
          <a:ln w="9525">
            <a:noFill/>
          </a:ln>
        </p:spPr>
        <p:txBody>
          <a:bodyPr anchor="t">
            <a:spAutoFit/>
          </a:bodyPr>
          <a:lstStyle/>
          <a:p>
            <a:pPr defTabSz="457200">
              <a:spcAft>
                <a:spcPts val="0"/>
              </a:spcAft>
            </a:pPr>
            <a:r>
              <a:rPr lang="zh-CN" altLang="en-US" sz="1600" b="1" dirty="0">
                <a:solidFill>
                  <a:srgbClr val="000000"/>
                </a:solidFill>
                <a:latin typeface="黑体" panose="02010609060101010101" charset="-122"/>
                <a:ea typeface="黑体" panose="02010609060101010101" charset="-122"/>
              </a:rPr>
              <a:t>学习英语：跟外国人沟通</a:t>
            </a:r>
          </a:p>
        </p:txBody>
      </p:sp>
      <p:sp>
        <p:nvSpPr>
          <p:cNvPr id="14346" name="矩形 11"/>
          <p:cNvSpPr/>
          <p:nvPr/>
        </p:nvSpPr>
        <p:spPr>
          <a:xfrm>
            <a:off x="3275013" y="6185535"/>
            <a:ext cx="2665412" cy="337185"/>
          </a:xfrm>
          <a:prstGeom prst="rect">
            <a:avLst/>
          </a:prstGeom>
          <a:noFill/>
          <a:ln w="9525">
            <a:noFill/>
          </a:ln>
        </p:spPr>
        <p:txBody>
          <a:bodyPr anchor="t">
            <a:spAutoFit/>
          </a:bodyPr>
          <a:lstStyle/>
          <a:p>
            <a:pPr algn="r" defTabSz="457200">
              <a:spcAft>
                <a:spcPts val="0"/>
              </a:spcAft>
            </a:pPr>
            <a:r>
              <a:rPr lang="zh-CN" altLang="en-US" sz="1600" b="1" dirty="0">
                <a:solidFill>
                  <a:srgbClr val="000000"/>
                </a:solidFill>
                <a:latin typeface="黑体" panose="02010609060101010101" charset="-122"/>
                <a:ea typeface="黑体" panose="02010609060101010101" charset="-122"/>
              </a:rPr>
              <a:t>学习理化生：与世界互动</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41"/>
                                        </p:tgtEl>
                                        <p:attrNameLst>
                                          <p:attrName>style.visibility</p:attrName>
                                        </p:attrNameLst>
                                      </p:cBhvr>
                                      <p:to>
                                        <p:strVal val="visible"/>
                                      </p:to>
                                    </p:set>
                                    <p:anim calcmode="lin" valueType="num">
                                      <p:cBhvr additive="base">
                                        <p:cTn id="7" dur="500" fill="hold"/>
                                        <p:tgtEl>
                                          <p:spTgt spid="14341"/>
                                        </p:tgtEl>
                                        <p:attrNameLst>
                                          <p:attrName>ppt_x</p:attrName>
                                        </p:attrNameLst>
                                      </p:cBhvr>
                                      <p:tavLst>
                                        <p:tav tm="0">
                                          <p:val>
                                            <p:strVal val="#ppt_x"/>
                                          </p:val>
                                        </p:tav>
                                        <p:tav tm="100000">
                                          <p:val>
                                            <p:strVal val="#ppt_x"/>
                                          </p:val>
                                        </p:tav>
                                      </p:tavLst>
                                    </p:anim>
                                    <p:anim calcmode="lin" valueType="num">
                                      <p:cBhvr additive="base">
                                        <p:cTn id="8" dur="500" fill="hold"/>
                                        <p:tgtEl>
                                          <p:spTgt spid="1434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344"/>
                                        </p:tgtEl>
                                        <p:attrNameLst>
                                          <p:attrName>style.visibility</p:attrName>
                                        </p:attrNameLst>
                                      </p:cBhvr>
                                      <p:to>
                                        <p:strVal val="visible"/>
                                      </p:to>
                                    </p:set>
                                    <p:anim calcmode="lin" valueType="num">
                                      <p:cBhvr additive="base">
                                        <p:cTn id="11" dur="500" fill="hold"/>
                                        <p:tgtEl>
                                          <p:spTgt spid="14344"/>
                                        </p:tgtEl>
                                        <p:attrNameLst>
                                          <p:attrName>ppt_x</p:attrName>
                                        </p:attrNameLst>
                                      </p:cBhvr>
                                      <p:tavLst>
                                        <p:tav tm="0">
                                          <p:val>
                                            <p:strVal val="#ppt_x"/>
                                          </p:val>
                                        </p:tav>
                                        <p:tav tm="100000">
                                          <p:val>
                                            <p:strVal val="#ppt_x"/>
                                          </p:val>
                                        </p:tav>
                                      </p:tavLst>
                                    </p:anim>
                                    <p:anim calcmode="lin" valueType="num">
                                      <p:cBhvr additive="base">
                                        <p:cTn id="12" dur="500" fill="hold"/>
                                        <p:tgtEl>
                                          <p:spTgt spid="1434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342"/>
                                        </p:tgtEl>
                                        <p:attrNameLst>
                                          <p:attrName>style.visibility</p:attrName>
                                        </p:attrNameLst>
                                      </p:cBhvr>
                                      <p:to>
                                        <p:strVal val="visible"/>
                                      </p:to>
                                    </p:set>
                                    <p:anim calcmode="lin" valueType="num">
                                      <p:cBhvr additive="base">
                                        <p:cTn id="17" dur="500" fill="hold"/>
                                        <p:tgtEl>
                                          <p:spTgt spid="14342"/>
                                        </p:tgtEl>
                                        <p:attrNameLst>
                                          <p:attrName>ppt_x</p:attrName>
                                        </p:attrNameLst>
                                      </p:cBhvr>
                                      <p:tavLst>
                                        <p:tav tm="0">
                                          <p:val>
                                            <p:strVal val="#ppt_x"/>
                                          </p:val>
                                        </p:tav>
                                        <p:tav tm="100000">
                                          <p:val>
                                            <p:strVal val="#ppt_x"/>
                                          </p:val>
                                        </p:tav>
                                      </p:tavLst>
                                    </p:anim>
                                    <p:anim calcmode="lin" valueType="num">
                                      <p:cBhvr additive="base">
                                        <p:cTn id="18" dur="500" fill="hold"/>
                                        <p:tgtEl>
                                          <p:spTgt spid="1434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345"/>
                                        </p:tgtEl>
                                        <p:attrNameLst>
                                          <p:attrName>style.visibility</p:attrName>
                                        </p:attrNameLst>
                                      </p:cBhvr>
                                      <p:to>
                                        <p:strVal val="visible"/>
                                      </p:to>
                                    </p:set>
                                    <p:anim calcmode="lin" valueType="num">
                                      <p:cBhvr additive="base">
                                        <p:cTn id="21" dur="500" fill="hold"/>
                                        <p:tgtEl>
                                          <p:spTgt spid="14345"/>
                                        </p:tgtEl>
                                        <p:attrNameLst>
                                          <p:attrName>ppt_x</p:attrName>
                                        </p:attrNameLst>
                                      </p:cBhvr>
                                      <p:tavLst>
                                        <p:tav tm="0">
                                          <p:val>
                                            <p:strVal val="#ppt_x"/>
                                          </p:val>
                                        </p:tav>
                                        <p:tav tm="100000">
                                          <p:val>
                                            <p:strVal val="#ppt_x"/>
                                          </p:val>
                                        </p:tav>
                                      </p:tavLst>
                                    </p:anim>
                                    <p:anim calcmode="lin" valueType="num">
                                      <p:cBhvr additive="base">
                                        <p:cTn id="22" dur="500" fill="hold"/>
                                        <p:tgtEl>
                                          <p:spTgt spid="1434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343"/>
                                        </p:tgtEl>
                                        <p:attrNameLst>
                                          <p:attrName>style.visibility</p:attrName>
                                        </p:attrNameLst>
                                      </p:cBhvr>
                                      <p:to>
                                        <p:strVal val="visible"/>
                                      </p:to>
                                    </p:set>
                                    <p:anim calcmode="lin" valueType="num">
                                      <p:cBhvr additive="base">
                                        <p:cTn id="27" dur="500" fill="hold"/>
                                        <p:tgtEl>
                                          <p:spTgt spid="14343"/>
                                        </p:tgtEl>
                                        <p:attrNameLst>
                                          <p:attrName>ppt_x</p:attrName>
                                        </p:attrNameLst>
                                      </p:cBhvr>
                                      <p:tavLst>
                                        <p:tav tm="0">
                                          <p:val>
                                            <p:strVal val="#ppt_x"/>
                                          </p:val>
                                        </p:tav>
                                        <p:tav tm="100000">
                                          <p:val>
                                            <p:strVal val="#ppt_x"/>
                                          </p:val>
                                        </p:tav>
                                      </p:tavLst>
                                    </p:anim>
                                    <p:anim calcmode="lin" valueType="num">
                                      <p:cBhvr additive="base">
                                        <p:cTn id="28" dur="500" fill="hold"/>
                                        <p:tgtEl>
                                          <p:spTgt spid="1434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346"/>
                                        </p:tgtEl>
                                        <p:attrNameLst>
                                          <p:attrName>style.visibility</p:attrName>
                                        </p:attrNameLst>
                                      </p:cBhvr>
                                      <p:to>
                                        <p:strVal val="visible"/>
                                      </p:to>
                                    </p:set>
                                    <p:anim calcmode="lin" valueType="num">
                                      <p:cBhvr additive="base">
                                        <p:cTn id="31" dur="500" fill="hold"/>
                                        <p:tgtEl>
                                          <p:spTgt spid="14346"/>
                                        </p:tgtEl>
                                        <p:attrNameLst>
                                          <p:attrName>ppt_x</p:attrName>
                                        </p:attrNameLst>
                                      </p:cBhvr>
                                      <p:tavLst>
                                        <p:tav tm="0">
                                          <p:val>
                                            <p:strVal val="#ppt_x"/>
                                          </p:val>
                                        </p:tav>
                                        <p:tav tm="100000">
                                          <p:val>
                                            <p:strVal val="#ppt_x"/>
                                          </p:val>
                                        </p:tav>
                                      </p:tavLst>
                                    </p:anim>
                                    <p:anim calcmode="lin" valueType="num">
                                      <p:cBhvr additive="base">
                                        <p:cTn id="32" dur="500" fill="hold"/>
                                        <p:tgtEl>
                                          <p:spTgt spid="143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p:bldP spid="14345" grpId="0"/>
      <p:bldP spid="14346"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5363" name="矩形 3"/>
          <p:cNvSpPr/>
          <p:nvPr/>
        </p:nvSpPr>
        <p:spPr>
          <a:xfrm>
            <a:off x="1331913" y="1052513"/>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sp>
        <p:nvSpPr>
          <p:cNvPr id="5" name="矩形 4"/>
          <p:cNvSpPr/>
          <p:nvPr/>
        </p:nvSpPr>
        <p:spPr>
          <a:xfrm>
            <a:off x="900113" y="5802313"/>
            <a:ext cx="8135938" cy="585788"/>
          </a:xfrm>
          <a:prstGeom prst="rect">
            <a:avLst/>
          </a:prstGeom>
          <a:solidFill>
            <a:srgbClr val="5B9BD5">
              <a:lumMod val="40000"/>
              <a:lumOff val="60000"/>
            </a:srgbClr>
          </a:solidFill>
          <a:ln w="12700" cap="flat" cmpd="sng" algn="ctr">
            <a:noFill/>
            <a:prstDash val="solid"/>
            <a:miter lim="800000"/>
          </a:ln>
          <a:effectLst/>
        </p:spPr>
        <p:txBody>
          <a:bodyPr anchor="ct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FF0000"/>
                </a:solidFill>
                <a:effectLst/>
                <a:uLnTx/>
                <a:uFillTx/>
                <a:latin typeface="黑体" panose="02010609060101010101" charset="-122"/>
                <a:ea typeface="黑体" panose="02010609060101010101" charset="-122"/>
                <a:cs typeface="黑体" panose="02010609060101010101" charset="-122"/>
              </a:rPr>
              <a:t>基础</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：想得到好的</a:t>
            </a:r>
            <a:r>
              <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GPA</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，怎么</a:t>
            </a:r>
            <a:r>
              <a:rPr kumimoji="0" lang="zh-CN" altLang="en-US" sz="1800" b="1"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听</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好课？</a:t>
            </a:r>
            <a:r>
              <a:rPr kumimoji="0" lang="zh-CN" altLang="en-US" sz="1800" b="1"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写</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好作业和报告？完成课堂</a:t>
            </a:r>
            <a:r>
              <a:rPr kumimoji="0" lang="zh-CN" altLang="en-US" sz="1800" b="1"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讨论</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和师生</a:t>
            </a:r>
            <a:r>
              <a:rPr kumimoji="0" lang="zh-CN" altLang="en-US" sz="1800" b="1"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沟通</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p>
        </p:txBody>
      </p:sp>
      <p:sp>
        <p:nvSpPr>
          <p:cNvPr id="6" name="矩形 5"/>
          <p:cNvSpPr/>
          <p:nvPr/>
        </p:nvSpPr>
        <p:spPr>
          <a:xfrm>
            <a:off x="909638" y="5235575"/>
            <a:ext cx="7200900" cy="576263"/>
          </a:xfrm>
          <a:prstGeom prst="rect">
            <a:avLst/>
          </a:prstGeom>
          <a:solidFill>
            <a:srgbClr val="ED7D31">
              <a:lumMod val="40000"/>
              <a:lumOff val="60000"/>
            </a:srgbClr>
          </a:solidFill>
          <a:ln w="12700" cap="flat" cmpd="sng" algn="ctr">
            <a:noFill/>
            <a:prstDash val="solid"/>
            <a:miter lim="800000"/>
          </a:ln>
          <a:effectLst/>
        </p:spPr>
        <p:txBody>
          <a:bodyPr anchor="ct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FF0000"/>
                </a:solidFill>
                <a:effectLst/>
                <a:uLnTx/>
                <a:uFillTx/>
                <a:latin typeface="黑体" panose="02010609060101010101" charset="-122"/>
                <a:ea typeface="黑体" panose="02010609060101010101" charset="-122"/>
                <a:cs typeface="+mn-cs"/>
              </a:rPr>
              <a:t>优秀</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：要不要参加各类竞赛如数学建模？要不要参与科研？</a:t>
            </a:r>
          </a:p>
        </p:txBody>
      </p:sp>
      <p:sp>
        <p:nvSpPr>
          <p:cNvPr id="7" name="矩形 6"/>
          <p:cNvSpPr/>
          <p:nvPr/>
        </p:nvSpPr>
        <p:spPr>
          <a:xfrm>
            <a:off x="909638" y="4660900"/>
            <a:ext cx="5761038" cy="574675"/>
          </a:xfrm>
          <a:prstGeom prst="rect">
            <a:avLst/>
          </a:prstGeom>
          <a:solidFill>
            <a:srgbClr val="A5A5A5">
              <a:lumMod val="40000"/>
              <a:lumOff val="60000"/>
            </a:srgbClr>
          </a:solidFill>
          <a:ln w="12700" cap="flat" cmpd="sng" algn="ctr">
            <a:noFill/>
            <a:prstDash val="solid"/>
            <a:miter lim="800000"/>
          </a:ln>
          <a:effectLst/>
        </p:spPr>
        <p:txBody>
          <a:bodyPr anchor="ct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FF0000"/>
                </a:solidFill>
                <a:effectLst/>
                <a:uLnTx/>
                <a:uFillTx/>
                <a:latin typeface="黑体" panose="02010609060101010101" charset="-122"/>
                <a:ea typeface="黑体" panose="02010609060101010101" charset="-122"/>
                <a:cs typeface="+mn-cs"/>
              </a:rPr>
              <a:t>杰出</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：如果你成就斐然，要不要分享传播？</a:t>
            </a:r>
          </a:p>
        </p:txBody>
      </p:sp>
      <p:sp>
        <p:nvSpPr>
          <p:cNvPr id="8" name="矩形 7"/>
          <p:cNvSpPr/>
          <p:nvPr/>
        </p:nvSpPr>
        <p:spPr>
          <a:xfrm>
            <a:off x="909638" y="4084638"/>
            <a:ext cx="4321175" cy="576263"/>
          </a:xfrm>
          <a:prstGeom prst="rect">
            <a:avLst/>
          </a:prstGeom>
          <a:solidFill>
            <a:srgbClr val="FFC000">
              <a:lumMod val="40000"/>
              <a:lumOff val="60000"/>
            </a:srgbClr>
          </a:solidFill>
          <a:ln w="12700" cap="flat" cmpd="sng" algn="ctr">
            <a:noFill/>
            <a:prstDash val="solid"/>
            <a:miter lim="800000"/>
          </a:ln>
          <a:effectLst/>
        </p:spPr>
        <p:txBody>
          <a:bodyPr anchor="ct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FF0000"/>
                </a:solidFill>
                <a:effectLst/>
                <a:uLnTx/>
                <a:uFillTx/>
                <a:latin typeface="黑体" panose="02010609060101010101" charset="-122"/>
                <a:ea typeface="黑体" panose="02010609060101010101" charset="-122"/>
                <a:cs typeface="+mn-cs"/>
              </a:rPr>
              <a:t>事业发展</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：你的价值标签如何确立？</a:t>
            </a:r>
          </a:p>
        </p:txBody>
      </p:sp>
      <p:sp>
        <p:nvSpPr>
          <p:cNvPr id="15368" name="矩形 9"/>
          <p:cNvSpPr/>
          <p:nvPr/>
        </p:nvSpPr>
        <p:spPr>
          <a:xfrm>
            <a:off x="900113" y="1668463"/>
            <a:ext cx="7993062" cy="398780"/>
          </a:xfrm>
          <a:prstGeom prst="rect">
            <a:avLst/>
          </a:prstGeom>
          <a:noFill/>
          <a:ln w="9525">
            <a:noFill/>
          </a:ln>
        </p:spPr>
        <p:txBody>
          <a:bodyPr anchor="t">
            <a:spAutoFit/>
          </a:bodyPr>
          <a:lstStyle/>
          <a:p>
            <a:pPr defTabSz="457200">
              <a:spcAft>
                <a:spcPts val="600"/>
              </a:spcAft>
            </a:pPr>
            <a:r>
              <a:rPr lang="zh-CN" altLang="en-US" sz="2000" b="1" dirty="0">
                <a:solidFill>
                  <a:srgbClr val="000000"/>
                </a:solidFill>
                <a:latin typeface="黑体" panose="02010609060101010101" charset="-122"/>
                <a:ea typeface="黑体" panose="02010609060101010101" charset="-122"/>
              </a:rPr>
              <a:t>我想先问大家一个问题，你们高考语文考了多少分？</a:t>
            </a:r>
          </a:p>
        </p:txBody>
      </p:sp>
      <p:sp>
        <p:nvSpPr>
          <p:cNvPr id="11" name="矩形 10"/>
          <p:cNvSpPr/>
          <p:nvPr/>
        </p:nvSpPr>
        <p:spPr>
          <a:xfrm>
            <a:off x="900113" y="2068513"/>
            <a:ext cx="8243888" cy="719138"/>
          </a:xfrm>
          <a:prstGeom prst="rect">
            <a:avLst/>
          </a:prstGeom>
          <a:solidFill>
            <a:srgbClr val="5B9BD5">
              <a:lumMod val="40000"/>
              <a:lumOff val="60000"/>
            </a:srgbClr>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有人说，老师别问了，我都到电子科大来了，我这辈子估计跟语文要说拜拜了。</a:t>
            </a:r>
          </a:p>
        </p:txBody>
      </p:sp>
      <p:sp>
        <p:nvSpPr>
          <p:cNvPr id="15370" name="矩形 11"/>
          <p:cNvSpPr/>
          <p:nvPr/>
        </p:nvSpPr>
        <p:spPr>
          <a:xfrm>
            <a:off x="900113" y="3108325"/>
            <a:ext cx="7993062" cy="398780"/>
          </a:xfrm>
          <a:prstGeom prst="rect">
            <a:avLst/>
          </a:prstGeom>
          <a:noFill/>
          <a:ln w="9525">
            <a:noFill/>
          </a:ln>
        </p:spPr>
        <p:txBody>
          <a:bodyPr anchor="t">
            <a:spAutoFit/>
          </a:bodyPr>
          <a:lstStyle/>
          <a:p>
            <a:pPr defTabSz="457200">
              <a:spcAft>
                <a:spcPts val="600"/>
              </a:spcAft>
            </a:pPr>
            <a:r>
              <a:rPr lang="zh-CN" altLang="en-US" sz="2000" b="1" dirty="0">
                <a:solidFill>
                  <a:srgbClr val="000000"/>
                </a:solidFill>
                <a:latin typeface="黑体" panose="02010609060101010101" charset="-122"/>
                <a:ea typeface="黑体" panose="02010609060101010101" charset="-122"/>
              </a:rPr>
              <a:t>那么，听说读写能在大学学习中扮演什么角色？</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70"/>
                                        </p:tgtEl>
                                        <p:attrNameLst>
                                          <p:attrName>style.visibility</p:attrName>
                                        </p:attrNameLst>
                                      </p:cBhvr>
                                      <p:to>
                                        <p:strVal val="visible"/>
                                      </p:to>
                                    </p:set>
                                    <p:anim calcmode="lin" valueType="num">
                                      <p:cBhvr additive="base">
                                        <p:cTn id="13" dur="500" fill="hold"/>
                                        <p:tgtEl>
                                          <p:spTgt spid="15370"/>
                                        </p:tgtEl>
                                        <p:attrNameLst>
                                          <p:attrName>ppt_x</p:attrName>
                                        </p:attrNameLst>
                                      </p:cBhvr>
                                      <p:tavLst>
                                        <p:tav tm="0">
                                          <p:val>
                                            <p:strVal val="#ppt_x"/>
                                          </p:val>
                                        </p:tav>
                                        <p:tav tm="100000">
                                          <p:val>
                                            <p:strVal val="#ppt_x"/>
                                          </p:val>
                                        </p:tav>
                                      </p:tavLst>
                                    </p:anim>
                                    <p:anim calcmode="lin" valueType="num">
                                      <p:cBhvr additive="base">
                                        <p:cTn id="14" dur="500" fill="hold"/>
                                        <p:tgtEl>
                                          <p:spTgt spid="1537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linds(horizontal)">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11" grpId="0" bldLvl="0" animBg="1"/>
      <p:bldP spid="1537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custDataLst>
              <p:tags r:id="rId1"/>
            </p:custDataLst>
          </p:nvPr>
        </p:nvPicPr>
        <p:blipFill>
          <a:blip r:embed="rId5"/>
          <a:stretch>
            <a:fillRect/>
          </a:stretch>
        </p:blipFill>
        <p:spPr>
          <a:xfrm>
            <a:off x="4716145" y="1784985"/>
            <a:ext cx="4243070" cy="3349625"/>
          </a:xfrm>
          <a:prstGeom prst="rect">
            <a:avLst/>
          </a:prstGeom>
        </p:spPr>
      </p:pic>
      <p:pic>
        <p:nvPicPr>
          <p:cNvPr id="2" name="图片 1"/>
          <p:cNvPicPr>
            <a:picLocks noChangeAspect="1"/>
          </p:cNvPicPr>
          <p:nvPr/>
        </p:nvPicPr>
        <p:blipFill>
          <a:blip r:embed="rId6"/>
          <a:stretch>
            <a:fillRect/>
          </a:stretch>
        </p:blipFill>
        <p:spPr>
          <a:xfrm>
            <a:off x="48260" y="1628775"/>
            <a:ext cx="4516120" cy="3902710"/>
          </a:xfrm>
          <a:prstGeom prst="rect">
            <a:avLst/>
          </a:prstGeom>
        </p:spPr>
      </p:pic>
      <p:pic>
        <p:nvPicPr>
          <p:cNvPr id="12" name="图片 11"/>
          <p:cNvPicPr>
            <a:picLocks noChangeAspect="1"/>
          </p:cNvPicPr>
          <p:nvPr userDrawn="1">
            <p:custDataLst>
              <p:tags r:id="rId2"/>
            </p:custDataLst>
          </p:nvPr>
        </p:nvPicPr>
        <p:blipFill>
          <a:blip r:embed="rId7"/>
          <a:stretch>
            <a:fillRect/>
          </a:stretch>
        </p:blipFill>
        <p:spPr>
          <a:xfrm>
            <a:off x="48577" y="249238"/>
            <a:ext cx="1127284" cy="1068705"/>
          </a:xfrm>
          <a:prstGeom prst="rect">
            <a:avLst/>
          </a:prstGeom>
        </p:spPr>
      </p:pic>
      <p:sp>
        <p:nvSpPr>
          <p:cNvPr id="9" name="Rectangle 2"/>
          <p:cNvSpPr>
            <a:spLocks noGrp="1" noChangeArrowheads="1"/>
          </p:cNvSpPr>
          <p:nvPr/>
        </p:nvSpPr>
        <p:spPr>
          <a:xfrm>
            <a:off x="1187450" y="44450"/>
            <a:ext cx="6624638" cy="792163"/>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3" name="爆炸形 2 2"/>
          <p:cNvSpPr/>
          <p:nvPr/>
        </p:nvSpPr>
        <p:spPr>
          <a:xfrm>
            <a:off x="3486785" y="5300345"/>
            <a:ext cx="5549265" cy="158496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sz="2400">
                <a:solidFill>
                  <a:srgbClr val="7030A0"/>
                </a:solidFill>
                <a:sym typeface="+mn-ea"/>
              </a:rPr>
              <a:t>表达及沟通能力</a:t>
            </a:r>
            <a:endParaRPr lang="zh-CN" altLang="en-US" sz="2400">
              <a:solidFill>
                <a:srgbClr val="7030A0"/>
              </a:solidFill>
            </a:endParaRPr>
          </a:p>
        </p:txBody>
      </p:sp>
      <p:sp>
        <p:nvSpPr>
          <p:cNvPr id="4" name="矩形 11"/>
          <p:cNvSpPr/>
          <p:nvPr/>
        </p:nvSpPr>
        <p:spPr>
          <a:xfrm>
            <a:off x="1259523" y="764223"/>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sp>
        <p:nvSpPr>
          <p:cNvPr id="5" name="椭圆 4"/>
          <p:cNvSpPr/>
          <p:nvPr/>
        </p:nvSpPr>
        <p:spPr>
          <a:xfrm>
            <a:off x="4643755" y="3860800"/>
            <a:ext cx="2232660" cy="50419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椭圆 5"/>
          <p:cNvSpPr/>
          <p:nvPr>
            <p:custDataLst>
              <p:tags r:id="rId3"/>
            </p:custDataLst>
          </p:nvPr>
        </p:nvSpPr>
        <p:spPr>
          <a:xfrm>
            <a:off x="48895" y="2000250"/>
            <a:ext cx="1619885" cy="62674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5" grpId="0" animBg="1"/>
      <p:bldP spid="5" grpId="1" animBg="1"/>
      <p:bldP spid="6" grpId="0" bldLvl="0" animBg="1"/>
      <p:bldP spid="6"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图片 11"/>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6387" name="矩形 3"/>
          <p:cNvSpPr/>
          <p:nvPr/>
        </p:nvSpPr>
        <p:spPr>
          <a:xfrm>
            <a:off x="1619885" y="1318260"/>
            <a:ext cx="8312785" cy="783590"/>
          </a:xfrm>
          <a:prstGeom prst="rect">
            <a:avLst/>
          </a:prstGeom>
          <a:noFill/>
          <a:ln w="9525">
            <a:noFill/>
          </a:ln>
        </p:spPr>
        <p:txBody>
          <a:bodyPr wrap="square" anchor="t">
            <a:spAutoFit/>
          </a:bodyPr>
          <a:lstStyle/>
          <a:p>
            <a:pPr defTabSz="457200">
              <a:spcAft>
                <a:spcPts val="600"/>
              </a:spcAft>
            </a:pPr>
            <a:r>
              <a:rPr lang="zh-CN" altLang="en-US" sz="2000" b="1" dirty="0">
                <a:solidFill>
                  <a:srgbClr val="000000"/>
                </a:solidFill>
                <a:latin typeface="黑体" panose="02010609060101010101" charset="-122"/>
                <a:ea typeface="黑体" panose="02010609060101010101" charset="-122"/>
                <a:cs typeface="黑体" panose="02010609060101010101" charset="-122"/>
              </a:rPr>
              <a:t>你大学毕业以后都会去干什么？</a:t>
            </a:r>
          </a:p>
          <a:p>
            <a:pPr defTabSz="457200">
              <a:spcAft>
                <a:spcPts val="600"/>
              </a:spcAft>
            </a:pPr>
            <a:endParaRPr lang="en-US" altLang="zh-CN" sz="2000" b="1" dirty="0">
              <a:solidFill>
                <a:srgbClr val="000000"/>
              </a:solidFill>
              <a:latin typeface="黑体" panose="02010609060101010101" charset="-122"/>
              <a:ea typeface="黑体" panose="02010609060101010101" charset="-122"/>
              <a:cs typeface="黑体" panose="02010609060101010101" charset="-122"/>
            </a:endParaRPr>
          </a:p>
        </p:txBody>
      </p:sp>
      <p:sp>
        <p:nvSpPr>
          <p:cNvPr id="16394" name="矩形 11"/>
          <p:cNvSpPr/>
          <p:nvPr/>
        </p:nvSpPr>
        <p:spPr>
          <a:xfrm>
            <a:off x="1259523" y="764223"/>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pic>
        <p:nvPicPr>
          <p:cNvPr id="3" name="图片 2"/>
          <p:cNvPicPr>
            <a:picLocks noChangeAspect="1"/>
          </p:cNvPicPr>
          <p:nvPr/>
        </p:nvPicPr>
        <p:blipFill>
          <a:blip r:embed="rId5"/>
          <a:stretch>
            <a:fillRect/>
          </a:stretch>
        </p:blipFill>
        <p:spPr>
          <a:xfrm>
            <a:off x="48260" y="1798955"/>
            <a:ext cx="2564130" cy="2574925"/>
          </a:xfrm>
          <a:prstGeom prst="rect">
            <a:avLst/>
          </a:prstGeom>
        </p:spPr>
      </p:pic>
      <p:pic>
        <p:nvPicPr>
          <p:cNvPr id="13" name="图片 12"/>
          <p:cNvPicPr>
            <a:picLocks noChangeAspect="1"/>
          </p:cNvPicPr>
          <p:nvPr/>
        </p:nvPicPr>
        <p:blipFill>
          <a:blip r:embed="rId6"/>
          <a:stretch>
            <a:fillRect/>
          </a:stretch>
        </p:blipFill>
        <p:spPr>
          <a:xfrm>
            <a:off x="2987675" y="1988820"/>
            <a:ext cx="2796540" cy="2031365"/>
          </a:xfrm>
          <a:prstGeom prst="rect">
            <a:avLst/>
          </a:prstGeom>
        </p:spPr>
      </p:pic>
      <p:pic>
        <p:nvPicPr>
          <p:cNvPr id="14" name="图片 13"/>
          <p:cNvPicPr>
            <a:picLocks noChangeAspect="1"/>
          </p:cNvPicPr>
          <p:nvPr/>
        </p:nvPicPr>
        <p:blipFill>
          <a:blip r:embed="rId7"/>
          <a:stretch>
            <a:fillRect/>
          </a:stretch>
        </p:blipFill>
        <p:spPr>
          <a:xfrm>
            <a:off x="5876925" y="1988820"/>
            <a:ext cx="3267075" cy="1953260"/>
          </a:xfrm>
          <a:prstGeom prst="rect">
            <a:avLst/>
          </a:prstGeom>
        </p:spPr>
      </p:pic>
      <p:pic>
        <p:nvPicPr>
          <p:cNvPr id="15" name="图片 14"/>
          <p:cNvPicPr>
            <a:picLocks noChangeAspect="1"/>
          </p:cNvPicPr>
          <p:nvPr/>
        </p:nvPicPr>
        <p:blipFill>
          <a:blip r:embed="rId8"/>
          <a:stretch>
            <a:fillRect/>
          </a:stretch>
        </p:blipFill>
        <p:spPr>
          <a:xfrm>
            <a:off x="48260" y="4725670"/>
            <a:ext cx="2844165" cy="1907540"/>
          </a:xfrm>
          <a:prstGeom prst="rect">
            <a:avLst/>
          </a:prstGeom>
        </p:spPr>
      </p:pic>
      <p:pic>
        <p:nvPicPr>
          <p:cNvPr id="16" name="图片 15"/>
          <p:cNvPicPr>
            <a:picLocks noChangeAspect="1"/>
          </p:cNvPicPr>
          <p:nvPr/>
        </p:nvPicPr>
        <p:blipFill>
          <a:blip r:embed="rId9"/>
          <a:stretch>
            <a:fillRect/>
          </a:stretch>
        </p:blipFill>
        <p:spPr>
          <a:xfrm>
            <a:off x="2987675" y="4653280"/>
            <a:ext cx="2581910" cy="1901825"/>
          </a:xfrm>
          <a:prstGeom prst="rect">
            <a:avLst/>
          </a:prstGeom>
        </p:spPr>
      </p:pic>
      <p:pic>
        <p:nvPicPr>
          <p:cNvPr id="18" name="图片 17"/>
          <p:cNvPicPr>
            <a:picLocks noChangeAspect="1"/>
          </p:cNvPicPr>
          <p:nvPr/>
        </p:nvPicPr>
        <p:blipFill>
          <a:blip r:embed="rId10"/>
          <a:stretch>
            <a:fillRect/>
          </a:stretch>
        </p:blipFill>
        <p:spPr>
          <a:xfrm>
            <a:off x="5723890" y="4662170"/>
            <a:ext cx="3441065" cy="189293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图片 11"/>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6387" name="矩形 3"/>
          <p:cNvSpPr/>
          <p:nvPr/>
        </p:nvSpPr>
        <p:spPr>
          <a:xfrm>
            <a:off x="1619885" y="1318260"/>
            <a:ext cx="8312785" cy="398780"/>
          </a:xfrm>
          <a:prstGeom prst="rect">
            <a:avLst/>
          </a:prstGeom>
          <a:noFill/>
          <a:ln w="9525">
            <a:noFill/>
          </a:ln>
        </p:spPr>
        <p:txBody>
          <a:bodyPr wrap="square" anchor="t">
            <a:spAutoFit/>
          </a:bodyPr>
          <a:lstStyle/>
          <a:p>
            <a:pPr defTabSz="457200">
              <a:spcAft>
                <a:spcPts val="600"/>
              </a:spcAft>
            </a:pPr>
            <a:r>
              <a:rPr lang="zh-CN" altLang="en-US" sz="2000" b="1" dirty="0">
                <a:solidFill>
                  <a:srgbClr val="000000"/>
                </a:solidFill>
                <a:latin typeface="黑体" panose="02010609060101010101" charset="-122"/>
                <a:ea typeface="黑体" panose="02010609060101010101" charset="-122"/>
                <a:cs typeface="黑体" panose="02010609060101010101" charset="-122"/>
              </a:rPr>
              <a:t>写作能力对就业的作用是什么？</a:t>
            </a:r>
            <a:endParaRPr lang="en-US" altLang="zh-CN" sz="2000" b="1" dirty="0">
              <a:solidFill>
                <a:srgbClr val="000000"/>
              </a:solidFill>
              <a:latin typeface="黑体" panose="02010609060101010101" charset="-122"/>
              <a:ea typeface="黑体" panose="02010609060101010101" charset="-122"/>
              <a:cs typeface="黑体" panose="02010609060101010101" charset="-122"/>
            </a:endParaRPr>
          </a:p>
        </p:txBody>
      </p:sp>
      <p:sp>
        <p:nvSpPr>
          <p:cNvPr id="16394" name="矩形 11"/>
          <p:cNvSpPr/>
          <p:nvPr/>
        </p:nvSpPr>
        <p:spPr>
          <a:xfrm>
            <a:off x="1259523" y="764223"/>
            <a:ext cx="707326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电子科技大学</a:t>
            </a:r>
            <a:r>
              <a:rPr lang="en-US" altLang="zh-CN" sz="3600" b="1" dirty="0">
                <a:solidFill>
                  <a:srgbClr val="000000"/>
                </a:solidFill>
                <a:latin typeface="黑体" panose="02010609060101010101" charset="-122"/>
                <a:ea typeface="黑体" panose="02010609060101010101" charset="-122"/>
                <a:sym typeface="+mn-ea"/>
              </a:rPr>
              <a:t>2022</a:t>
            </a:r>
            <a:r>
              <a:rPr lang="zh-CN" altLang="en-US" sz="3600" b="1" dirty="0">
                <a:solidFill>
                  <a:srgbClr val="000000"/>
                </a:solidFill>
                <a:latin typeface="黑体" panose="02010609060101010101" charset="-122"/>
                <a:ea typeface="黑体" panose="02010609060101010101" charset="-122"/>
                <a:sym typeface="+mn-ea"/>
              </a:rPr>
              <a:t>届就业质量报告</a:t>
            </a:r>
            <a:endParaRPr lang="zh-CN" altLang="en-US" sz="3600" b="1" dirty="0">
              <a:solidFill>
                <a:srgbClr val="000000"/>
              </a:solidFill>
              <a:latin typeface="黑体" panose="02010609060101010101" charset="-122"/>
              <a:ea typeface="黑体" panose="02010609060101010101" charset="-122"/>
            </a:endParaRPr>
          </a:p>
        </p:txBody>
      </p:sp>
      <p:pic>
        <p:nvPicPr>
          <p:cNvPr id="2" name="图片 1"/>
          <p:cNvPicPr>
            <a:picLocks noChangeAspect="1"/>
          </p:cNvPicPr>
          <p:nvPr/>
        </p:nvPicPr>
        <p:blipFill>
          <a:blip r:embed="rId5"/>
          <a:srcRect t="43016"/>
          <a:stretch>
            <a:fillRect/>
          </a:stretch>
        </p:blipFill>
        <p:spPr>
          <a:xfrm>
            <a:off x="107315" y="1772920"/>
            <a:ext cx="4747895" cy="2675890"/>
          </a:xfrm>
          <a:prstGeom prst="rect">
            <a:avLst/>
          </a:prstGeom>
        </p:spPr>
      </p:pic>
      <p:pic>
        <p:nvPicPr>
          <p:cNvPr id="4" name="图片 3"/>
          <p:cNvPicPr>
            <a:picLocks noChangeAspect="1"/>
          </p:cNvPicPr>
          <p:nvPr/>
        </p:nvPicPr>
        <p:blipFill>
          <a:blip r:embed="rId6"/>
          <a:stretch>
            <a:fillRect/>
          </a:stretch>
        </p:blipFill>
        <p:spPr>
          <a:xfrm>
            <a:off x="5363845" y="1844675"/>
            <a:ext cx="3209925" cy="2124075"/>
          </a:xfrm>
          <a:prstGeom prst="rect">
            <a:avLst/>
          </a:prstGeom>
        </p:spPr>
      </p:pic>
      <p:pic>
        <p:nvPicPr>
          <p:cNvPr id="5" name="图片 4"/>
          <p:cNvPicPr>
            <a:picLocks noChangeAspect="1"/>
          </p:cNvPicPr>
          <p:nvPr/>
        </p:nvPicPr>
        <p:blipFill>
          <a:blip r:embed="rId7"/>
          <a:stretch>
            <a:fillRect/>
          </a:stretch>
        </p:blipFill>
        <p:spPr>
          <a:xfrm>
            <a:off x="323850" y="4653280"/>
            <a:ext cx="4019550" cy="1781175"/>
          </a:xfrm>
          <a:prstGeom prst="rect">
            <a:avLst/>
          </a:prstGeom>
        </p:spPr>
      </p:pic>
      <p:pic>
        <p:nvPicPr>
          <p:cNvPr id="6" name="图片 5"/>
          <p:cNvPicPr>
            <a:picLocks noChangeAspect="1"/>
          </p:cNvPicPr>
          <p:nvPr/>
        </p:nvPicPr>
        <p:blipFill>
          <a:blip r:embed="rId8"/>
          <a:stretch>
            <a:fillRect/>
          </a:stretch>
        </p:blipFill>
        <p:spPr>
          <a:xfrm>
            <a:off x="4427855" y="4466590"/>
            <a:ext cx="4656455" cy="2086610"/>
          </a:xfrm>
          <a:prstGeom prst="rect">
            <a:avLst/>
          </a:prstGeom>
        </p:spPr>
      </p:pic>
      <p:sp>
        <p:nvSpPr>
          <p:cNvPr id="7" name="椭圆 6"/>
          <p:cNvSpPr/>
          <p:nvPr/>
        </p:nvSpPr>
        <p:spPr>
          <a:xfrm>
            <a:off x="5363845" y="2204720"/>
            <a:ext cx="3240405" cy="650875"/>
          </a:xfrm>
          <a:prstGeom prst="ellipse">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nvSpPr>
        <p:spPr>
          <a:xfrm>
            <a:off x="394970" y="4989830"/>
            <a:ext cx="3919220" cy="538480"/>
          </a:xfrm>
          <a:prstGeom prst="ellipse">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椭圆 9"/>
          <p:cNvSpPr/>
          <p:nvPr/>
        </p:nvSpPr>
        <p:spPr>
          <a:xfrm>
            <a:off x="3533775" y="3442335"/>
            <a:ext cx="1315085" cy="707390"/>
          </a:xfrm>
          <a:prstGeom prst="ellipse">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p:tgtEl>
                                          <p:spTgt spid="10"/>
                                        </p:tgtEl>
                                        <p:attrNameLst>
                                          <p:attrName>ppt_y</p:attrName>
                                        </p:attrNameLst>
                                      </p:cBhvr>
                                      <p:tavLst>
                                        <p:tav tm="0">
                                          <p:val>
                                            <p:strVal val="#ppt_y+#ppt_h*1.125000"/>
                                          </p:val>
                                        </p:tav>
                                        <p:tav tm="100000">
                                          <p:val>
                                            <p:strVal val="#ppt_y"/>
                                          </p:val>
                                        </p:tav>
                                      </p:tavLst>
                                    </p:anim>
                                    <p:animEffect transition="in" filter="wipe(up)">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10" grpId="0" bldLvl="0" animBg="1"/>
      <p:bldP spid="10"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b="1" dirty="0"/>
              <a:t>各位同学未来的职业理想</a:t>
            </a:r>
            <a:r>
              <a:rPr lang="en-US" altLang="zh-CN" b="1" dirty="0"/>
              <a:t>/</a:t>
            </a:r>
            <a:r>
              <a:rPr lang="zh-CN" altLang="en-US" b="1" dirty="0"/>
              <a:t>类型？</a:t>
            </a:r>
            <a:br>
              <a:rPr lang="zh-CN" altLang="en-US" b="1" dirty="0"/>
            </a:br>
            <a:r>
              <a:rPr lang="zh-CN" altLang="en-US" b="1" dirty="0"/>
              <a:t>写作对这些职业重要吗？</a:t>
            </a:r>
          </a:p>
        </p:txBody>
      </p:sp>
      <p:sp>
        <p:nvSpPr>
          <p:cNvPr id="3" name="内容占位符 2"/>
          <p:cNvSpPr>
            <a:spLocks noGrp="1"/>
          </p:cNvSpPr>
          <p:nvPr>
            <p:ph idx="1"/>
          </p:nvPr>
        </p:nvSpPr>
        <p:spPr/>
        <p:txBody>
          <a:bodyPr/>
          <a:lstStyle/>
          <a:p>
            <a:pPr>
              <a:spcAft>
                <a:spcPts val="0"/>
              </a:spcAft>
            </a:pPr>
            <a:r>
              <a:rPr lang="en-US" altLang="zh-CN"/>
              <a:t>A. </a:t>
            </a:r>
            <a:r>
              <a:rPr lang="zh-CN" altLang="en-US"/>
              <a:t>企业的软件开发工程师、硬件开发师、或系统架构设计师？</a:t>
            </a:r>
          </a:p>
          <a:p>
            <a:pPr lvl="1"/>
            <a:r>
              <a:rPr lang="zh-CN" altLang="en-US" sz="2000"/>
              <a:t>比如华为</a:t>
            </a:r>
            <a:r>
              <a:rPr lang="en-US" altLang="zh-CN" sz="2000"/>
              <a:t>/</a:t>
            </a:r>
            <a:r>
              <a:rPr lang="zh-CN" altLang="en-US" sz="2000"/>
              <a:t>腾讯</a:t>
            </a:r>
            <a:r>
              <a:rPr lang="en-US" altLang="zh-CN" sz="2000"/>
              <a:t>/</a:t>
            </a:r>
            <a:r>
              <a:rPr lang="zh-CN" altLang="en-US" sz="2000"/>
              <a:t>阿里</a:t>
            </a:r>
            <a:endParaRPr lang="zh-CN" altLang="en-US"/>
          </a:p>
          <a:p>
            <a:r>
              <a:rPr lang="en-US" altLang="zh-CN"/>
              <a:t>B. </a:t>
            </a:r>
            <a:r>
              <a:rPr lang="zh-CN" altLang="en-US"/>
              <a:t>大学教师</a:t>
            </a:r>
          </a:p>
          <a:p>
            <a:pPr lvl="1"/>
            <a:r>
              <a:rPr lang="zh-CN" altLang="en-US" sz="2000"/>
              <a:t>电子科技大学</a:t>
            </a:r>
            <a:r>
              <a:rPr lang="en-US" altLang="zh-CN" sz="2000"/>
              <a:t>/</a:t>
            </a:r>
            <a:r>
              <a:rPr lang="zh-CN" altLang="en-US" sz="2000"/>
              <a:t>清华大学</a:t>
            </a:r>
            <a:r>
              <a:rPr lang="en-US" altLang="zh-CN" sz="2000"/>
              <a:t>/</a:t>
            </a:r>
            <a:r>
              <a:rPr lang="zh-CN" altLang="en-US" sz="2000"/>
              <a:t>上海交大</a:t>
            </a:r>
          </a:p>
          <a:p>
            <a:pPr lvl="1"/>
            <a:r>
              <a:rPr lang="zh-CN" altLang="en-US" sz="2000"/>
              <a:t>海外大学</a:t>
            </a:r>
            <a:endParaRPr lang="zh-CN" altLang="en-US"/>
          </a:p>
          <a:p>
            <a:r>
              <a:rPr lang="en-US" altLang="zh-CN"/>
              <a:t>C. </a:t>
            </a:r>
            <a:r>
              <a:rPr lang="zh-CN" altLang="en-US"/>
              <a:t>研究院所的研究员</a:t>
            </a:r>
          </a:p>
          <a:p>
            <a:pPr lvl="1"/>
            <a:r>
              <a:rPr lang="zh-CN" altLang="en-US" sz="2000"/>
              <a:t>中电科十所、二十九所、三十所</a:t>
            </a:r>
          </a:p>
          <a:p>
            <a:pPr lvl="1"/>
            <a:r>
              <a:rPr lang="zh-CN" altLang="en-US" sz="2000"/>
              <a:t>航天科技等央企的研究所</a:t>
            </a:r>
            <a:endParaRPr lang="zh-CN" altLang="en-US"/>
          </a:p>
          <a:p>
            <a:r>
              <a:rPr lang="en-US" altLang="zh-CN"/>
              <a:t>D. </a:t>
            </a:r>
            <a:r>
              <a:rPr lang="zh-CN" altLang="en-US"/>
              <a:t>电子信息企业的创业者</a:t>
            </a:r>
          </a:p>
          <a:p>
            <a:r>
              <a:rPr lang="en-US" altLang="zh-CN"/>
              <a:t>E. </a:t>
            </a:r>
            <a:r>
              <a:rPr lang="zh-CN" altLang="en-US"/>
              <a:t>非电子信息类企业</a:t>
            </a:r>
          </a:p>
          <a:p>
            <a:r>
              <a:rPr lang="en-US" altLang="zh-CN"/>
              <a:t>F. </a:t>
            </a:r>
            <a:r>
              <a:rPr lang="zh-CN" altLang="en-US"/>
              <a:t>公务员</a:t>
            </a:r>
          </a:p>
          <a:p>
            <a:r>
              <a:rPr lang="en-US" altLang="zh-CN"/>
              <a:t>G. </a:t>
            </a:r>
            <a:r>
              <a:rPr lang="zh-CN" altLang="en-US"/>
              <a:t>其他</a:t>
            </a:r>
          </a:p>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4" name="圆角矩形 23"/>
          <p:cNvSpPr/>
          <p:nvPr/>
        </p:nvSpPr>
        <p:spPr>
          <a:xfrm>
            <a:off x="1258888" y="1846263"/>
            <a:ext cx="7200900" cy="4176713"/>
          </a:xfrm>
          <a:prstGeom prst="roundRect">
            <a:avLst/>
          </a:prstGeom>
          <a:solidFill>
            <a:srgbClr val="70AD47">
              <a:lumMod val="60000"/>
              <a:lumOff val="40000"/>
            </a:srgbClr>
          </a:solidFill>
          <a:ln w="28575" cap="flat" cmpd="sng" algn="ctr">
            <a:solidFill>
              <a:srgbClr val="0070C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黑体" panose="02010609060101010101" charset="-122"/>
              <a:ea typeface="黑体" panose="02010609060101010101" charset="-122"/>
              <a:cs typeface="+mn-cs"/>
            </a:endParaRPr>
          </a:p>
        </p:txBody>
      </p:sp>
      <p:sp>
        <p:nvSpPr>
          <p:cNvPr id="5" name="圆角矩形 3"/>
          <p:cNvSpPr/>
          <p:nvPr/>
        </p:nvSpPr>
        <p:spPr>
          <a:xfrm>
            <a:off x="1979613" y="1998663"/>
            <a:ext cx="5759450" cy="1368425"/>
          </a:xfrm>
          <a:prstGeom prst="roundRect">
            <a:avLst/>
          </a:prstGeom>
          <a:solidFill>
            <a:srgbClr val="FFC000">
              <a:lumMod val="60000"/>
              <a:lumOff val="40000"/>
            </a:srgbClr>
          </a:solidFill>
          <a:ln w="28575" cap="flat" cmpd="sng" algn="ctr">
            <a:solidFill>
              <a:srgbClr val="0070C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黑体" panose="02010609060101010101" charset="-122"/>
              <a:ea typeface="黑体" panose="02010609060101010101" charset="-122"/>
              <a:cs typeface="+mn-cs"/>
            </a:endParaRPr>
          </a:p>
        </p:txBody>
      </p:sp>
      <p:pic>
        <p:nvPicPr>
          <p:cNvPr id="17413" name="图片 5"/>
          <p:cNvPicPr>
            <a:picLocks noChangeAspect="1"/>
          </p:cNvPicPr>
          <p:nvPr/>
        </p:nvPicPr>
        <p:blipFill>
          <a:blip r:embed="rId5"/>
          <a:stretch>
            <a:fillRect/>
          </a:stretch>
        </p:blipFill>
        <p:spPr>
          <a:xfrm>
            <a:off x="2266950" y="2493963"/>
            <a:ext cx="1117600" cy="720725"/>
          </a:xfrm>
          <a:prstGeom prst="rect">
            <a:avLst/>
          </a:prstGeom>
          <a:noFill/>
          <a:ln w="9525">
            <a:noFill/>
          </a:ln>
        </p:spPr>
      </p:pic>
      <p:pic>
        <p:nvPicPr>
          <p:cNvPr id="17414" name="图片 6"/>
          <p:cNvPicPr>
            <a:picLocks noChangeAspect="1"/>
          </p:cNvPicPr>
          <p:nvPr/>
        </p:nvPicPr>
        <p:blipFill>
          <a:blip r:embed="rId6"/>
          <a:stretch>
            <a:fillRect/>
          </a:stretch>
        </p:blipFill>
        <p:spPr>
          <a:xfrm>
            <a:off x="6335713" y="2493963"/>
            <a:ext cx="1116012" cy="720725"/>
          </a:xfrm>
          <a:prstGeom prst="rect">
            <a:avLst/>
          </a:prstGeom>
          <a:noFill/>
          <a:ln w="9525">
            <a:noFill/>
          </a:ln>
        </p:spPr>
      </p:pic>
      <p:pic>
        <p:nvPicPr>
          <p:cNvPr id="17415" name="Picture 2" descr="https://timgsa.baidu.com/timg?image&amp;quality=80&amp;size=b9999_10000&amp;sec=1550398128673&amp;di=a166fd175671296f50032cc55de86eb9&amp;imgtype=0&amp;src=http%3A%2F%2Ftc.sinaimg.cn%2Fmaxwidth.800%2Ftc.service.weibo.com%2F7xo6kd_com1_z0_glb_clouddn_com%2Fcbb76c9ebbd9bd64679fa7597cd0ebf6.jpg"/>
          <p:cNvPicPr>
            <a:picLocks noChangeAspect="1"/>
          </p:cNvPicPr>
          <p:nvPr/>
        </p:nvPicPr>
        <p:blipFill>
          <a:blip r:embed="rId7"/>
          <a:stretch>
            <a:fillRect/>
          </a:stretch>
        </p:blipFill>
        <p:spPr>
          <a:xfrm>
            <a:off x="4387850" y="2452688"/>
            <a:ext cx="976313" cy="762000"/>
          </a:xfrm>
          <a:prstGeom prst="rect">
            <a:avLst/>
          </a:prstGeom>
          <a:noFill/>
          <a:ln w="9525">
            <a:noFill/>
          </a:ln>
        </p:spPr>
      </p:pic>
      <p:cxnSp>
        <p:nvCxnSpPr>
          <p:cNvPr id="17416" name="直接箭头连接符 9"/>
          <p:cNvCxnSpPr/>
          <p:nvPr/>
        </p:nvCxnSpPr>
        <p:spPr>
          <a:xfrm>
            <a:off x="3384550" y="2854325"/>
            <a:ext cx="827088" cy="0"/>
          </a:xfrm>
          <a:prstGeom prst="straightConnector1">
            <a:avLst/>
          </a:prstGeom>
          <a:ln w="6350" cap="flat" cmpd="sng">
            <a:solidFill>
              <a:srgbClr val="000000"/>
            </a:solidFill>
            <a:prstDash val="solid"/>
            <a:miter/>
            <a:headEnd type="none" w="med" len="med"/>
            <a:tailEnd type="triangle" w="med" len="med"/>
          </a:ln>
        </p:spPr>
      </p:cxnSp>
      <p:cxnSp>
        <p:nvCxnSpPr>
          <p:cNvPr id="17417" name="直接箭头连接符 10"/>
          <p:cNvCxnSpPr/>
          <p:nvPr/>
        </p:nvCxnSpPr>
        <p:spPr>
          <a:xfrm>
            <a:off x="5507038" y="2854325"/>
            <a:ext cx="828675" cy="0"/>
          </a:xfrm>
          <a:prstGeom prst="straightConnector1">
            <a:avLst/>
          </a:prstGeom>
          <a:ln w="6350" cap="flat" cmpd="sng">
            <a:solidFill>
              <a:srgbClr val="000000"/>
            </a:solidFill>
            <a:prstDash val="solid"/>
            <a:miter/>
            <a:headEnd type="none" w="med" len="med"/>
            <a:tailEnd type="triangle" w="med" len="med"/>
          </a:ln>
        </p:spPr>
      </p:cxnSp>
      <p:sp>
        <p:nvSpPr>
          <p:cNvPr id="17418" name="矩形 11"/>
          <p:cNvSpPr/>
          <p:nvPr/>
        </p:nvSpPr>
        <p:spPr>
          <a:xfrm>
            <a:off x="4138613" y="1990725"/>
            <a:ext cx="1441450" cy="368300"/>
          </a:xfrm>
          <a:prstGeom prst="rect">
            <a:avLst/>
          </a:prstGeom>
          <a:noFill/>
          <a:ln w="9525">
            <a:noFill/>
          </a:ln>
        </p:spPr>
        <p:txBody>
          <a:bodyPr anchor="t">
            <a:spAutoFit/>
          </a:bodyPr>
          <a:lstStyle/>
          <a:p>
            <a:pPr algn="ctr" defTabSz="457200">
              <a:spcAft>
                <a:spcPts val="0"/>
              </a:spcAft>
            </a:pPr>
            <a:r>
              <a:rPr lang="zh-CN" altLang="en-US" sz="1800" b="1" dirty="0">
                <a:solidFill>
                  <a:srgbClr val="000000"/>
                </a:solidFill>
                <a:latin typeface="黑体" panose="02010609060101010101" charset="-122"/>
                <a:ea typeface="黑体" panose="02010609060101010101" charset="-122"/>
              </a:rPr>
              <a:t>狭义的通信</a:t>
            </a:r>
          </a:p>
        </p:txBody>
      </p:sp>
      <p:sp>
        <p:nvSpPr>
          <p:cNvPr id="17419" name="矩形 12"/>
          <p:cNvSpPr/>
          <p:nvPr/>
        </p:nvSpPr>
        <p:spPr>
          <a:xfrm>
            <a:off x="3059113" y="2473325"/>
            <a:ext cx="1439862" cy="368300"/>
          </a:xfrm>
          <a:prstGeom prst="rect">
            <a:avLst/>
          </a:prstGeom>
          <a:noFill/>
          <a:ln w="9525">
            <a:noFill/>
          </a:ln>
        </p:spPr>
        <p:txBody>
          <a:bodyPr anchor="t">
            <a:spAutoFit/>
          </a:bodyPr>
          <a:lstStyle/>
          <a:p>
            <a:pPr algn="ctr" defTabSz="457200">
              <a:spcAft>
                <a:spcPts val="0"/>
              </a:spcAft>
            </a:pPr>
            <a:r>
              <a:rPr lang="en-US" altLang="zh-CN" sz="1800" b="1" dirty="0">
                <a:solidFill>
                  <a:srgbClr val="000000"/>
                </a:solidFill>
                <a:latin typeface="黑体" panose="02010609060101010101" charset="-122"/>
                <a:ea typeface="黑体" panose="02010609060101010101" charset="-122"/>
              </a:rPr>
              <a:t>01001001</a:t>
            </a:r>
          </a:p>
        </p:txBody>
      </p:sp>
      <p:sp>
        <p:nvSpPr>
          <p:cNvPr id="17420" name="矩形 13"/>
          <p:cNvSpPr/>
          <p:nvPr/>
        </p:nvSpPr>
        <p:spPr>
          <a:xfrm>
            <a:off x="5201920" y="2484438"/>
            <a:ext cx="1439863" cy="368300"/>
          </a:xfrm>
          <a:prstGeom prst="rect">
            <a:avLst/>
          </a:prstGeom>
          <a:noFill/>
          <a:ln w="9525">
            <a:noFill/>
          </a:ln>
        </p:spPr>
        <p:txBody>
          <a:bodyPr anchor="t">
            <a:spAutoFit/>
          </a:bodyPr>
          <a:lstStyle/>
          <a:p>
            <a:pPr algn="ctr" defTabSz="457200">
              <a:spcAft>
                <a:spcPts val="0"/>
              </a:spcAft>
            </a:pPr>
            <a:r>
              <a:rPr lang="en-US" altLang="zh-CN" sz="1800" b="1" dirty="0">
                <a:solidFill>
                  <a:srgbClr val="000000"/>
                </a:solidFill>
                <a:latin typeface="黑体" panose="02010609060101010101" charset="-122"/>
                <a:ea typeface="黑体" panose="02010609060101010101" charset="-122"/>
              </a:rPr>
              <a:t>01001001</a:t>
            </a:r>
          </a:p>
        </p:txBody>
      </p:sp>
      <p:pic>
        <p:nvPicPr>
          <p:cNvPr id="17422" name="图片 15"/>
          <p:cNvPicPr>
            <a:picLocks noChangeAspect="1"/>
          </p:cNvPicPr>
          <p:nvPr/>
        </p:nvPicPr>
        <p:blipFill>
          <a:blip r:embed="rId8"/>
          <a:stretch>
            <a:fillRect/>
          </a:stretch>
        </p:blipFill>
        <p:spPr>
          <a:xfrm>
            <a:off x="4454843" y="3822700"/>
            <a:ext cx="1873250" cy="1439863"/>
          </a:xfrm>
          <a:prstGeom prst="rect">
            <a:avLst/>
          </a:prstGeom>
          <a:noFill/>
          <a:ln w="9525">
            <a:noFill/>
          </a:ln>
        </p:spPr>
      </p:pic>
      <p:pic>
        <p:nvPicPr>
          <p:cNvPr id="17423" name="图片 16"/>
          <p:cNvPicPr>
            <a:picLocks noChangeAspect="1"/>
          </p:cNvPicPr>
          <p:nvPr/>
        </p:nvPicPr>
        <p:blipFill>
          <a:blip r:embed="rId9"/>
          <a:srcRect l="2899"/>
          <a:stretch>
            <a:fillRect/>
          </a:stretch>
        </p:blipFill>
        <p:spPr>
          <a:xfrm>
            <a:off x="6570980" y="3790315"/>
            <a:ext cx="1889125" cy="1439863"/>
          </a:xfrm>
          <a:prstGeom prst="rect">
            <a:avLst/>
          </a:prstGeom>
          <a:noFill/>
          <a:ln w="9525">
            <a:noFill/>
          </a:ln>
        </p:spPr>
      </p:pic>
      <p:sp>
        <p:nvSpPr>
          <p:cNvPr id="17424" name="矩形 17"/>
          <p:cNvSpPr/>
          <p:nvPr/>
        </p:nvSpPr>
        <p:spPr>
          <a:xfrm>
            <a:off x="2698750" y="5653088"/>
            <a:ext cx="4321175" cy="368300"/>
          </a:xfrm>
          <a:prstGeom prst="rect">
            <a:avLst/>
          </a:prstGeom>
          <a:noFill/>
          <a:ln w="9525">
            <a:noFill/>
          </a:ln>
        </p:spPr>
        <p:txBody>
          <a:bodyPr anchor="t">
            <a:spAutoFit/>
          </a:bodyPr>
          <a:lstStyle/>
          <a:p>
            <a:pPr algn="ctr" defTabSz="457200">
              <a:spcAft>
                <a:spcPts val="0"/>
              </a:spcAft>
            </a:pPr>
            <a:r>
              <a:rPr lang="zh-CN" altLang="en-US" sz="1800" b="1" dirty="0">
                <a:solidFill>
                  <a:srgbClr val="000000"/>
                </a:solidFill>
                <a:latin typeface="黑体" panose="02010609060101010101" charset="-122"/>
                <a:ea typeface="黑体" panose="02010609060101010101" charset="-122"/>
              </a:rPr>
              <a:t>广义的通信：信息交互</a:t>
            </a:r>
          </a:p>
        </p:txBody>
      </p:sp>
      <p:sp>
        <p:nvSpPr>
          <p:cNvPr id="17425" name="矩形 18"/>
          <p:cNvSpPr/>
          <p:nvPr/>
        </p:nvSpPr>
        <p:spPr>
          <a:xfrm>
            <a:off x="600710" y="6094730"/>
            <a:ext cx="8022590" cy="398780"/>
          </a:xfrm>
          <a:prstGeom prst="rect">
            <a:avLst/>
          </a:prstGeom>
          <a:solidFill>
            <a:srgbClr val="002060"/>
          </a:solidFill>
          <a:ln w="9525">
            <a:solidFill>
              <a:srgbClr val="002060"/>
            </a:solidFill>
          </a:ln>
        </p:spPr>
        <p:txBody>
          <a:bodyPr wrap="square" anchor="t">
            <a:spAutoFit/>
          </a:bodyPr>
          <a:lstStyle/>
          <a:p>
            <a:pPr algn="ctr" defTabSz="457200">
              <a:spcAft>
                <a:spcPts val="0"/>
              </a:spcAft>
            </a:pPr>
            <a:r>
              <a:rPr lang="zh-CN" altLang="en-US" sz="2000" b="1" dirty="0">
                <a:solidFill>
                  <a:schemeClr val="bg1"/>
                </a:solidFill>
                <a:latin typeface="黑体" panose="02010609060101010101" charset="-122"/>
                <a:ea typeface="黑体" panose="02010609060101010101" charset="-122"/>
              </a:rPr>
              <a:t>学习面向专业的听说读写，掌握高效而通用的信息传递与沟通能力！</a:t>
            </a:r>
          </a:p>
        </p:txBody>
      </p:sp>
      <p:sp>
        <p:nvSpPr>
          <p:cNvPr id="17426" name="矩形 19"/>
          <p:cNvSpPr/>
          <p:nvPr/>
        </p:nvSpPr>
        <p:spPr>
          <a:xfrm>
            <a:off x="1690688" y="5230813"/>
            <a:ext cx="1873250" cy="337185"/>
          </a:xfrm>
          <a:prstGeom prst="rect">
            <a:avLst/>
          </a:prstGeom>
          <a:noFill/>
          <a:ln w="9525">
            <a:noFill/>
          </a:ln>
        </p:spPr>
        <p:txBody>
          <a:bodyPr anchor="t">
            <a:spAutoFit/>
          </a:bodyPr>
          <a:lstStyle/>
          <a:p>
            <a:pPr algn="ctr" defTabSz="457200">
              <a:spcAft>
                <a:spcPts val="0"/>
              </a:spcAft>
            </a:pPr>
            <a:r>
              <a:rPr lang="zh-CN" altLang="en-US" sz="1600" b="1" dirty="0">
                <a:solidFill>
                  <a:srgbClr val="000000"/>
                </a:solidFill>
                <a:latin typeface="黑体" panose="02010609060101010101" charset="-122"/>
                <a:ea typeface="黑体" panose="02010609060101010101" charset="-122"/>
              </a:rPr>
              <a:t>演讲</a:t>
            </a:r>
          </a:p>
        </p:txBody>
      </p:sp>
      <p:sp>
        <p:nvSpPr>
          <p:cNvPr id="17427" name="矩形 20"/>
          <p:cNvSpPr/>
          <p:nvPr/>
        </p:nvSpPr>
        <p:spPr>
          <a:xfrm>
            <a:off x="3923348" y="5243513"/>
            <a:ext cx="1873250" cy="337185"/>
          </a:xfrm>
          <a:prstGeom prst="rect">
            <a:avLst/>
          </a:prstGeom>
          <a:noFill/>
          <a:ln w="9525">
            <a:noFill/>
          </a:ln>
        </p:spPr>
        <p:txBody>
          <a:bodyPr anchor="t">
            <a:spAutoFit/>
          </a:bodyPr>
          <a:lstStyle/>
          <a:p>
            <a:pPr algn="ctr" defTabSz="457200">
              <a:spcAft>
                <a:spcPts val="0"/>
              </a:spcAft>
            </a:pPr>
            <a:r>
              <a:rPr lang="zh-CN" altLang="en-US" sz="1600" b="1" dirty="0">
                <a:solidFill>
                  <a:srgbClr val="000000"/>
                </a:solidFill>
                <a:latin typeface="黑体" panose="02010609060101010101" charset="-122"/>
                <a:ea typeface="黑体" panose="02010609060101010101" charset="-122"/>
              </a:rPr>
              <a:t>论述</a:t>
            </a:r>
          </a:p>
        </p:txBody>
      </p:sp>
      <p:sp>
        <p:nvSpPr>
          <p:cNvPr id="17428" name="矩形 21"/>
          <p:cNvSpPr/>
          <p:nvPr/>
        </p:nvSpPr>
        <p:spPr>
          <a:xfrm>
            <a:off x="6156325" y="5230813"/>
            <a:ext cx="1871663" cy="337185"/>
          </a:xfrm>
          <a:prstGeom prst="rect">
            <a:avLst/>
          </a:prstGeom>
          <a:noFill/>
          <a:ln w="9525">
            <a:noFill/>
          </a:ln>
        </p:spPr>
        <p:txBody>
          <a:bodyPr anchor="t">
            <a:spAutoFit/>
          </a:bodyPr>
          <a:lstStyle/>
          <a:p>
            <a:pPr algn="ctr" defTabSz="457200">
              <a:spcAft>
                <a:spcPts val="0"/>
              </a:spcAft>
            </a:pPr>
            <a:r>
              <a:rPr lang="zh-CN" altLang="en-US" sz="1600" b="1" dirty="0">
                <a:solidFill>
                  <a:srgbClr val="000000"/>
                </a:solidFill>
                <a:latin typeface="黑体" panose="02010609060101010101" charset="-122"/>
                <a:ea typeface="黑体" panose="02010609060101010101" charset="-122"/>
              </a:rPr>
              <a:t>开会</a:t>
            </a:r>
          </a:p>
        </p:txBody>
      </p:sp>
      <p:sp>
        <p:nvSpPr>
          <p:cNvPr id="17429" name="矩形 22"/>
          <p:cNvSpPr/>
          <p:nvPr/>
        </p:nvSpPr>
        <p:spPr>
          <a:xfrm>
            <a:off x="1331913" y="1052513"/>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pic>
        <p:nvPicPr>
          <p:cNvPr id="2" name="图片 1"/>
          <p:cNvPicPr>
            <a:picLocks noChangeAspect="1"/>
          </p:cNvPicPr>
          <p:nvPr/>
        </p:nvPicPr>
        <p:blipFill>
          <a:blip r:embed="rId10"/>
          <a:stretch>
            <a:fillRect/>
          </a:stretch>
        </p:blipFill>
        <p:spPr>
          <a:xfrm>
            <a:off x="1332230" y="3846195"/>
            <a:ext cx="2879725" cy="14097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par>
                                <p:cTn id="8" presetID="4" presetClass="entr" presetSubtype="16" fill="hold" nodeType="withEffect">
                                  <p:stCondLst>
                                    <p:cond delay="0"/>
                                  </p:stCondLst>
                                  <p:childTnLst>
                                    <p:set>
                                      <p:cBhvr>
                                        <p:cTn id="9" dur="1" fill="hold">
                                          <p:stCondLst>
                                            <p:cond delay="0"/>
                                          </p:stCondLst>
                                        </p:cTn>
                                        <p:tgtEl>
                                          <p:spTgt spid="17413"/>
                                        </p:tgtEl>
                                        <p:attrNameLst>
                                          <p:attrName>style.visibility</p:attrName>
                                        </p:attrNameLst>
                                      </p:cBhvr>
                                      <p:to>
                                        <p:strVal val="visible"/>
                                      </p:to>
                                    </p:set>
                                    <p:animEffect transition="in" filter="box(in)">
                                      <p:cBhvr>
                                        <p:cTn id="10" dur="2000"/>
                                        <p:tgtEl>
                                          <p:spTgt spid="17413"/>
                                        </p:tgtEl>
                                      </p:cBhvr>
                                    </p:animEffect>
                                  </p:childTnLst>
                                </p:cTn>
                              </p:par>
                              <p:par>
                                <p:cTn id="11" presetID="4" presetClass="entr" presetSubtype="16" fill="hold" nodeType="withEffect">
                                  <p:stCondLst>
                                    <p:cond delay="0"/>
                                  </p:stCondLst>
                                  <p:childTnLst>
                                    <p:set>
                                      <p:cBhvr>
                                        <p:cTn id="12" dur="1" fill="hold">
                                          <p:stCondLst>
                                            <p:cond delay="0"/>
                                          </p:stCondLst>
                                        </p:cTn>
                                        <p:tgtEl>
                                          <p:spTgt spid="17414"/>
                                        </p:tgtEl>
                                        <p:attrNameLst>
                                          <p:attrName>style.visibility</p:attrName>
                                        </p:attrNameLst>
                                      </p:cBhvr>
                                      <p:to>
                                        <p:strVal val="visible"/>
                                      </p:to>
                                    </p:set>
                                    <p:animEffect transition="in" filter="box(in)">
                                      <p:cBhvr>
                                        <p:cTn id="13" dur="2000"/>
                                        <p:tgtEl>
                                          <p:spTgt spid="17414"/>
                                        </p:tgtEl>
                                      </p:cBhvr>
                                    </p:animEffect>
                                  </p:childTnLst>
                                </p:cTn>
                              </p:par>
                              <p:par>
                                <p:cTn id="14" presetID="4" presetClass="entr" presetSubtype="16" fill="hold" nodeType="withEffect">
                                  <p:stCondLst>
                                    <p:cond delay="0"/>
                                  </p:stCondLst>
                                  <p:childTnLst>
                                    <p:set>
                                      <p:cBhvr>
                                        <p:cTn id="15" dur="1" fill="hold">
                                          <p:stCondLst>
                                            <p:cond delay="0"/>
                                          </p:stCondLst>
                                        </p:cTn>
                                        <p:tgtEl>
                                          <p:spTgt spid="17415"/>
                                        </p:tgtEl>
                                        <p:attrNameLst>
                                          <p:attrName>style.visibility</p:attrName>
                                        </p:attrNameLst>
                                      </p:cBhvr>
                                      <p:to>
                                        <p:strVal val="visible"/>
                                      </p:to>
                                    </p:set>
                                    <p:animEffect transition="in" filter="box(in)">
                                      <p:cBhvr>
                                        <p:cTn id="16" dur="2000"/>
                                        <p:tgtEl>
                                          <p:spTgt spid="17415"/>
                                        </p:tgtEl>
                                      </p:cBhvr>
                                    </p:animEffect>
                                  </p:childTnLst>
                                </p:cTn>
                              </p:par>
                              <p:par>
                                <p:cTn id="17" presetID="4" presetClass="entr" presetSubtype="16" fill="hold" nodeType="withEffect">
                                  <p:stCondLst>
                                    <p:cond delay="0"/>
                                  </p:stCondLst>
                                  <p:childTnLst>
                                    <p:set>
                                      <p:cBhvr>
                                        <p:cTn id="18" dur="1" fill="hold">
                                          <p:stCondLst>
                                            <p:cond delay="0"/>
                                          </p:stCondLst>
                                        </p:cTn>
                                        <p:tgtEl>
                                          <p:spTgt spid="17416"/>
                                        </p:tgtEl>
                                        <p:attrNameLst>
                                          <p:attrName>style.visibility</p:attrName>
                                        </p:attrNameLst>
                                      </p:cBhvr>
                                      <p:to>
                                        <p:strVal val="visible"/>
                                      </p:to>
                                    </p:set>
                                    <p:animEffect transition="in" filter="box(in)">
                                      <p:cBhvr>
                                        <p:cTn id="19" dur="2000"/>
                                        <p:tgtEl>
                                          <p:spTgt spid="17416"/>
                                        </p:tgtEl>
                                      </p:cBhvr>
                                    </p:animEffect>
                                  </p:childTnLst>
                                </p:cTn>
                              </p:par>
                              <p:par>
                                <p:cTn id="20" presetID="4" presetClass="entr" presetSubtype="16" fill="hold" nodeType="withEffect">
                                  <p:stCondLst>
                                    <p:cond delay="0"/>
                                  </p:stCondLst>
                                  <p:childTnLst>
                                    <p:set>
                                      <p:cBhvr>
                                        <p:cTn id="21" dur="1" fill="hold">
                                          <p:stCondLst>
                                            <p:cond delay="0"/>
                                          </p:stCondLst>
                                        </p:cTn>
                                        <p:tgtEl>
                                          <p:spTgt spid="17417"/>
                                        </p:tgtEl>
                                        <p:attrNameLst>
                                          <p:attrName>style.visibility</p:attrName>
                                        </p:attrNameLst>
                                      </p:cBhvr>
                                      <p:to>
                                        <p:strVal val="visible"/>
                                      </p:to>
                                    </p:set>
                                    <p:animEffect transition="in" filter="box(in)">
                                      <p:cBhvr>
                                        <p:cTn id="22" dur="2000"/>
                                        <p:tgtEl>
                                          <p:spTgt spid="17417"/>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17418"/>
                                        </p:tgtEl>
                                        <p:attrNameLst>
                                          <p:attrName>style.visibility</p:attrName>
                                        </p:attrNameLst>
                                      </p:cBhvr>
                                      <p:to>
                                        <p:strVal val="visible"/>
                                      </p:to>
                                    </p:set>
                                    <p:animEffect transition="in" filter="box(in)">
                                      <p:cBhvr>
                                        <p:cTn id="25" dur="2000"/>
                                        <p:tgtEl>
                                          <p:spTgt spid="17418"/>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17419"/>
                                        </p:tgtEl>
                                        <p:attrNameLst>
                                          <p:attrName>style.visibility</p:attrName>
                                        </p:attrNameLst>
                                      </p:cBhvr>
                                      <p:to>
                                        <p:strVal val="visible"/>
                                      </p:to>
                                    </p:set>
                                    <p:animEffect transition="in" filter="box(in)">
                                      <p:cBhvr>
                                        <p:cTn id="28" dur="2000"/>
                                        <p:tgtEl>
                                          <p:spTgt spid="17419"/>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17420"/>
                                        </p:tgtEl>
                                        <p:attrNameLst>
                                          <p:attrName>style.visibility</p:attrName>
                                        </p:attrNameLst>
                                      </p:cBhvr>
                                      <p:to>
                                        <p:strVal val="visible"/>
                                      </p:to>
                                    </p:set>
                                    <p:animEffect transition="in" filter="box(in)">
                                      <p:cBhvr>
                                        <p:cTn id="31" dur="2000"/>
                                        <p:tgtEl>
                                          <p:spTgt spid="17420"/>
                                        </p:tgtEl>
                                      </p:cBhvr>
                                    </p:animEffect>
                                  </p:childTnLst>
                                </p:cTn>
                              </p:par>
                              <p:par>
                                <p:cTn id="32" presetID="2" presetClass="entr" presetSubtype="4" fill="hold" nodeType="withEffect">
                                  <p:stCondLst>
                                    <p:cond delay="0"/>
                                  </p:stCondLst>
                                  <p:childTnLst>
                                    <p:set>
                                      <p:cBhvr>
                                        <p:cTn id="33" dur="1" fill="hold">
                                          <p:stCondLst>
                                            <p:cond delay="0"/>
                                          </p:stCondLst>
                                        </p:cTn>
                                        <p:tgtEl>
                                          <p:spTgt spid="17422"/>
                                        </p:tgtEl>
                                        <p:attrNameLst>
                                          <p:attrName>style.visibility</p:attrName>
                                        </p:attrNameLst>
                                      </p:cBhvr>
                                      <p:to>
                                        <p:strVal val="visible"/>
                                      </p:to>
                                    </p:set>
                                    <p:anim calcmode="lin" valueType="num">
                                      <p:cBhvr additive="base">
                                        <p:cTn id="34" dur="500" fill="hold"/>
                                        <p:tgtEl>
                                          <p:spTgt spid="17422"/>
                                        </p:tgtEl>
                                        <p:attrNameLst>
                                          <p:attrName>ppt_x</p:attrName>
                                        </p:attrNameLst>
                                      </p:cBhvr>
                                      <p:tavLst>
                                        <p:tav tm="0">
                                          <p:val>
                                            <p:strVal val="#ppt_x"/>
                                          </p:val>
                                        </p:tav>
                                        <p:tav tm="100000">
                                          <p:val>
                                            <p:strVal val="#ppt_x"/>
                                          </p:val>
                                        </p:tav>
                                      </p:tavLst>
                                    </p:anim>
                                    <p:anim calcmode="lin" valueType="num">
                                      <p:cBhvr additive="base">
                                        <p:cTn id="35" dur="500" fill="hold"/>
                                        <p:tgtEl>
                                          <p:spTgt spid="17422"/>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7423"/>
                                        </p:tgtEl>
                                        <p:attrNameLst>
                                          <p:attrName>style.visibility</p:attrName>
                                        </p:attrNameLst>
                                      </p:cBhvr>
                                      <p:to>
                                        <p:strVal val="visible"/>
                                      </p:to>
                                    </p:set>
                                    <p:anim calcmode="lin" valueType="num">
                                      <p:cBhvr additive="base">
                                        <p:cTn id="38" dur="500" fill="hold"/>
                                        <p:tgtEl>
                                          <p:spTgt spid="17423"/>
                                        </p:tgtEl>
                                        <p:attrNameLst>
                                          <p:attrName>ppt_x</p:attrName>
                                        </p:attrNameLst>
                                      </p:cBhvr>
                                      <p:tavLst>
                                        <p:tav tm="0">
                                          <p:val>
                                            <p:strVal val="#ppt_x"/>
                                          </p:val>
                                        </p:tav>
                                        <p:tav tm="100000">
                                          <p:val>
                                            <p:strVal val="#ppt_x"/>
                                          </p:val>
                                        </p:tav>
                                      </p:tavLst>
                                    </p:anim>
                                    <p:anim calcmode="lin" valueType="num">
                                      <p:cBhvr additive="base">
                                        <p:cTn id="39" dur="500" fill="hold"/>
                                        <p:tgtEl>
                                          <p:spTgt spid="17423"/>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7424"/>
                                        </p:tgtEl>
                                        <p:attrNameLst>
                                          <p:attrName>style.visibility</p:attrName>
                                        </p:attrNameLst>
                                      </p:cBhvr>
                                      <p:to>
                                        <p:strVal val="visible"/>
                                      </p:to>
                                    </p:set>
                                    <p:anim calcmode="lin" valueType="num">
                                      <p:cBhvr additive="base">
                                        <p:cTn id="42" dur="500" fill="hold"/>
                                        <p:tgtEl>
                                          <p:spTgt spid="17424"/>
                                        </p:tgtEl>
                                        <p:attrNameLst>
                                          <p:attrName>ppt_x</p:attrName>
                                        </p:attrNameLst>
                                      </p:cBhvr>
                                      <p:tavLst>
                                        <p:tav tm="0">
                                          <p:val>
                                            <p:strVal val="#ppt_x"/>
                                          </p:val>
                                        </p:tav>
                                        <p:tav tm="100000">
                                          <p:val>
                                            <p:strVal val="#ppt_x"/>
                                          </p:val>
                                        </p:tav>
                                      </p:tavLst>
                                    </p:anim>
                                    <p:anim calcmode="lin" valueType="num">
                                      <p:cBhvr additive="base">
                                        <p:cTn id="43" dur="500" fill="hold"/>
                                        <p:tgtEl>
                                          <p:spTgt spid="17424"/>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7426"/>
                                        </p:tgtEl>
                                        <p:attrNameLst>
                                          <p:attrName>style.visibility</p:attrName>
                                        </p:attrNameLst>
                                      </p:cBhvr>
                                      <p:to>
                                        <p:strVal val="visible"/>
                                      </p:to>
                                    </p:set>
                                    <p:anim calcmode="lin" valueType="num">
                                      <p:cBhvr additive="base">
                                        <p:cTn id="46" dur="500" fill="hold"/>
                                        <p:tgtEl>
                                          <p:spTgt spid="17426"/>
                                        </p:tgtEl>
                                        <p:attrNameLst>
                                          <p:attrName>ppt_x</p:attrName>
                                        </p:attrNameLst>
                                      </p:cBhvr>
                                      <p:tavLst>
                                        <p:tav tm="0">
                                          <p:val>
                                            <p:strVal val="#ppt_x"/>
                                          </p:val>
                                        </p:tav>
                                        <p:tav tm="100000">
                                          <p:val>
                                            <p:strVal val="#ppt_x"/>
                                          </p:val>
                                        </p:tav>
                                      </p:tavLst>
                                    </p:anim>
                                    <p:anim calcmode="lin" valueType="num">
                                      <p:cBhvr additive="base">
                                        <p:cTn id="47" dur="500" fill="hold"/>
                                        <p:tgtEl>
                                          <p:spTgt spid="17426"/>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7427"/>
                                        </p:tgtEl>
                                        <p:attrNameLst>
                                          <p:attrName>style.visibility</p:attrName>
                                        </p:attrNameLst>
                                      </p:cBhvr>
                                      <p:to>
                                        <p:strVal val="visible"/>
                                      </p:to>
                                    </p:set>
                                    <p:anim calcmode="lin" valueType="num">
                                      <p:cBhvr additive="base">
                                        <p:cTn id="50" dur="500" fill="hold"/>
                                        <p:tgtEl>
                                          <p:spTgt spid="17427"/>
                                        </p:tgtEl>
                                        <p:attrNameLst>
                                          <p:attrName>ppt_x</p:attrName>
                                        </p:attrNameLst>
                                      </p:cBhvr>
                                      <p:tavLst>
                                        <p:tav tm="0">
                                          <p:val>
                                            <p:strVal val="#ppt_x"/>
                                          </p:val>
                                        </p:tav>
                                        <p:tav tm="100000">
                                          <p:val>
                                            <p:strVal val="#ppt_x"/>
                                          </p:val>
                                        </p:tav>
                                      </p:tavLst>
                                    </p:anim>
                                    <p:anim calcmode="lin" valueType="num">
                                      <p:cBhvr additive="base">
                                        <p:cTn id="51" dur="500" fill="hold"/>
                                        <p:tgtEl>
                                          <p:spTgt spid="17427"/>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7428"/>
                                        </p:tgtEl>
                                        <p:attrNameLst>
                                          <p:attrName>style.visibility</p:attrName>
                                        </p:attrNameLst>
                                      </p:cBhvr>
                                      <p:to>
                                        <p:strVal val="visible"/>
                                      </p:to>
                                    </p:set>
                                    <p:anim calcmode="lin" valueType="num">
                                      <p:cBhvr additive="base">
                                        <p:cTn id="54" dur="500" fill="hold"/>
                                        <p:tgtEl>
                                          <p:spTgt spid="17428"/>
                                        </p:tgtEl>
                                        <p:attrNameLst>
                                          <p:attrName>ppt_x</p:attrName>
                                        </p:attrNameLst>
                                      </p:cBhvr>
                                      <p:tavLst>
                                        <p:tav tm="0">
                                          <p:val>
                                            <p:strVal val="#ppt_x"/>
                                          </p:val>
                                        </p:tav>
                                        <p:tav tm="100000">
                                          <p:val>
                                            <p:strVal val="#ppt_x"/>
                                          </p:val>
                                        </p:tav>
                                      </p:tavLst>
                                    </p:anim>
                                    <p:anim calcmode="lin" valueType="num">
                                      <p:cBhvr additive="base">
                                        <p:cTn id="55" dur="500" fill="hold"/>
                                        <p:tgtEl>
                                          <p:spTgt spid="17428"/>
                                        </p:tgtEl>
                                        <p:attrNameLst>
                                          <p:attrName>ppt_y</p:attrName>
                                        </p:attrNameLst>
                                      </p:cBhvr>
                                      <p:tavLst>
                                        <p:tav tm="0">
                                          <p:val>
                                            <p:strVal val="1+#ppt_h/2"/>
                                          </p:val>
                                        </p:tav>
                                        <p:tav tm="100000">
                                          <p:val>
                                            <p:strVal val="#ppt_y"/>
                                          </p:val>
                                        </p:tav>
                                      </p:tavLst>
                                    </p:anim>
                                  </p:childTnLst>
                                </p:cTn>
                              </p:par>
                            </p:childTnLst>
                          </p:cTn>
                        </p:par>
                        <p:par>
                          <p:cTn id="56" fill="hold">
                            <p:stCondLst>
                              <p:cond delay="2000"/>
                            </p:stCondLst>
                            <p:childTnLst>
                              <p:par>
                                <p:cTn id="57" presetID="2" presetClass="entr" presetSubtype="4" fill="hold" nodeType="after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additive="base">
                                        <p:cTn id="59" dur="500" fill="hold"/>
                                        <p:tgtEl>
                                          <p:spTgt spid="2"/>
                                        </p:tgtEl>
                                        <p:attrNameLst>
                                          <p:attrName>ppt_x</p:attrName>
                                        </p:attrNameLst>
                                      </p:cBhvr>
                                      <p:tavLst>
                                        <p:tav tm="0">
                                          <p:val>
                                            <p:strVal val="#ppt_x"/>
                                          </p:val>
                                        </p:tav>
                                        <p:tav tm="100000">
                                          <p:val>
                                            <p:strVal val="#ppt_x"/>
                                          </p:val>
                                        </p:tav>
                                      </p:tavLst>
                                    </p:anim>
                                    <p:anim calcmode="lin" valueType="num">
                                      <p:cBhvr additive="base">
                                        <p:cTn id="6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7425"/>
                                        </p:tgtEl>
                                        <p:attrNameLst>
                                          <p:attrName>style.visibility</p:attrName>
                                        </p:attrNameLst>
                                      </p:cBhvr>
                                      <p:to>
                                        <p:strVal val="visible"/>
                                      </p:to>
                                    </p:set>
                                    <p:anim calcmode="lin" valueType="num">
                                      <p:cBhvr additive="base">
                                        <p:cTn id="65" dur="500" fill="hold"/>
                                        <p:tgtEl>
                                          <p:spTgt spid="17425"/>
                                        </p:tgtEl>
                                        <p:attrNameLst>
                                          <p:attrName>ppt_x</p:attrName>
                                        </p:attrNameLst>
                                      </p:cBhvr>
                                      <p:tavLst>
                                        <p:tav tm="0">
                                          <p:val>
                                            <p:strVal val="#ppt_x"/>
                                          </p:val>
                                        </p:tav>
                                        <p:tav tm="100000">
                                          <p:val>
                                            <p:strVal val="#ppt_x"/>
                                          </p:val>
                                        </p:tav>
                                      </p:tavLst>
                                    </p:anim>
                                    <p:anim calcmode="lin" valueType="num">
                                      <p:cBhvr additive="base">
                                        <p:cTn id="66" dur="500" fill="hold"/>
                                        <p:tgtEl>
                                          <p:spTgt spid="174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7418" grpId="0"/>
      <p:bldP spid="17419" grpId="0"/>
      <p:bldP spid="17420" grpId="0"/>
      <p:bldP spid="17424" grpId="0"/>
      <p:bldP spid="17425" grpId="0" bldLvl="0" animBg="1"/>
      <p:bldP spid="17426" grpId="0"/>
      <p:bldP spid="17427" grpId="0"/>
      <p:bldP spid="17428"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8435" name="矩形 3"/>
          <p:cNvSpPr/>
          <p:nvPr/>
        </p:nvSpPr>
        <p:spPr>
          <a:xfrm>
            <a:off x="1331913" y="1052513"/>
            <a:ext cx="6151245"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专业写作基础是一门什么课？</a:t>
            </a:r>
            <a:endParaRPr lang="zh-CN" altLang="en-US" sz="3600" b="1" dirty="0">
              <a:solidFill>
                <a:srgbClr val="000000"/>
              </a:solidFill>
              <a:latin typeface="黑体" panose="02010609060101010101" charset="-122"/>
              <a:ea typeface="黑体" panose="02010609060101010101" charset="-122"/>
            </a:endParaRPr>
          </a:p>
        </p:txBody>
      </p:sp>
      <p:sp>
        <p:nvSpPr>
          <p:cNvPr id="18436" name="矩形 4"/>
          <p:cNvSpPr/>
          <p:nvPr/>
        </p:nvSpPr>
        <p:spPr>
          <a:xfrm>
            <a:off x="2409825" y="1806575"/>
            <a:ext cx="6915150" cy="1491615"/>
          </a:xfrm>
          <a:prstGeom prst="rect">
            <a:avLst/>
          </a:prstGeom>
          <a:noFill/>
          <a:ln w="9525">
            <a:noFill/>
          </a:ln>
        </p:spPr>
        <p:txBody>
          <a:bodyPr wrap="square" anchor="t">
            <a:spAutoFit/>
          </a:bodyPr>
          <a:lstStyle/>
          <a:p>
            <a:pPr marL="285750" indent="-285750" defTabSz="457200">
              <a:lnSpc>
                <a:spcPct val="150000"/>
              </a:lnSpc>
              <a:spcBef>
                <a:spcPts val="600"/>
              </a:spcBef>
              <a:spcAft>
                <a:spcPts val="0"/>
              </a:spcAft>
              <a:buChar char="•"/>
            </a:pPr>
            <a:r>
              <a:rPr lang="zh-CN" altLang="zh-CN" sz="1800" dirty="0">
                <a:solidFill>
                  <a:srgbClr val="000000"/>
                </a:solidFill>
                <a:latin typeface="黑体" panose="02010609060101010101" charset="-122"/>
                <a:ea typeface="黑体" panose="02010609060101010101" charset="-122"/>
              </a:rPr>
              <a:t>电子信息工程大类专业的</a:t>
            </a:r>
            <a:r>
              <a:rPr lang="zh-CN" altLang="zh-CN" sz="1800" b="1" dirty="0">
                <a:solidFill>
                  <a:srgbClr val="000000"/>
                </a:solidFill>
                <a:latin typeface="黑体" panose="02010609060101010101" charset="-122"/>
                <a:ea typeface="黑体" panose="02010609060101010101" charset="-122"/>
              </a:rPr>
              <a:t>通识教育课</a:t>
            </a:r>
            <a:endParaRPr lang="en-US" altLang="zh-CN" sz="1800" b="1" dirty="0">
              <a:solidFill>
                <a:srgbClr val="000000"/>
              </a:solidFill>
              <a:latin typeface="黑体" panose="02010609060101010101" charset="-122"/>
              <a:ea typeface="黑体" panose="02010609060101010101" charset="-122"/>
            </a:endParaRPr>
          </a:p>
          <a:p>
            <a:pPr marL="285750" indent="-285750" defTabSz="457200">
              <a:lnSpc>
                <a:spcPct val="150000"/>
              </a:lnSpc>
              <a:spcBef>
                <a:spcPts val="600"/>
              </a:spcBef>
              <a:spcAft>
                <a:spcPts val="0"/>
              </a:spcAft>
              <a:buChar char="•"/>
            </a:pPr>
            <a:r>
              <a:rPr lang="zh-CN" altLang="en-US" sz="1800" dirty="0">
                <a:solidFill>
                  <a:srgbClr val="000000"/>
                </a:solidFill>
                <a:latin typeface="黑体" panose="02010609060101010101" charset="-122"/>
                <a:ea typeface="黑体" panose="02010609060101010101" charset="-122"/>
              </a:rPr>
              <a:t>培养的是</a:t>
            </a:r>
            <a:r>
              <a:rPr lang="zh-CN" altLang="en-US" sz="1800" b="1" dirty="0">
                <a:solidFill>
                  <a:srgbClr val="000000"/>
                </a:solidFill>
                <a:latin typeface="黑体" panose="02010609060101010101" charset="-122"/>
                <a:ea typeface="黑体" panose="02010609060101010101" charset="-122"/>
              </a:rPr>
              <a:t>专业技术相关的</a:t>
            </a:r>
            <a:r>
              <a:rPr lang="zh-CN" altLang="en-US" sz="1800" dirty="0">
                <a:solidFill>
                  <a:srgbClr val="000000"/>
                </a:solidFill>
                <a:latin typeface="黑体" panose="02010609060101010101" charset="-122"/>
                <a:ea typeface="黑体" panose="02010609060101010101" charset="-122"/>
              </a:rPr>
              <a:t>信息检索能力、写</a:t>
            </a:r>
            <a:r>
              <a:rPr lang="zh-CN" altLang="zh-CN" sz="1800" dirty="0">
                <a:solidFill>
                  <a:srgbClr val="000000"/>
                </a:solidFill>
                <a:latin typeface="黑体" panose="02010609060101010101" charset="-122"/>
                <a:ea typeface="黑体" panose="02010609060101010101" charset="-122"/>
              </a:rPr>
              <a:t>作能力与表达能力</a:t>
            </a:r>
            <a:endParaRPr lang="en-US" altLang="zh-CN" sz="1800" dirty="0">
              <a:solidFill>
                <a:srgbClr val="000000"/>
              </a:solidFill>
              <a:latin typeface="黑体" panose="02010609060101010101" charset="-122"/>
              <a:ea typeface="黑体" panose="02010609060101010101" charset="-122"/>
            </a:endParaRPr>
          </a:p>
          <a:p>
            <a:pPr marL="285750" indent="-285750" defTabSz="457200">
              <a:lnSpc>
                <a:spcPct val="150000"/>
              </a:lnSpc>
              <a:spcBef>
                <a:spcPts val="600"/>
              </a:spcBef>
              <a:buChar char="•"/>
            </a:pPr>
            <a:r>
              <a:rPr lang="zh-CN" altLang="en-US" sz="1800" dirty="0">
                <a:solidFill>
                  <a:srgbClr val="000000"/>
                </a:solidFill>
                <a:latin typeface="黑体" panose="02010609060101010101" charset="-122"/>
                <a:ea typeface="黑体" panose="02010609060101010101" charset="-122"/>
              </a:rPr>
              <a:t>核心在于</a:t>
            </a:r>
            <a:r>
              <a:rPr lang="zh-CN" altLang="en-US" sz="1800" b="1" dirty="0">
                <a:solidFill>
                  <a:srgbClr val="000000"/>
                </a:solidFill>
                <a:latin typeface="黑体" panose="02010609060101010101" charset="-122"/>
                <a:ea typeface="黑体" panose="02010609060101010101" charset="-122"/>
              </a:rPr>
              <a:t>思维的逻辑性、表述的规范性和沟通的清晰性</a:t>
            </a:r>
          </a:p>
        </p:txBody>
      </p:sp>
      <p:sp>
        <p:nvSpPr>
          <p:cNvPr id="6" name="左大括号 5"/>
          <p:cNvSpPr/>
          <p:nvPr/>
        </p:nvSpPr>
        <p:spPr>
          <a:xfrm>
            <a:off x="1978978" y="2057718"/>
            <a:ext cx="358775" cy="1152525"/>
          </a:xfrm>
          <a:prstGeom prst="leftBrace">
            <a:avLst/>
          </a:prstGeom>
          <a:noFill/>
          <a:ln w="19050" cap="flat" cmpd="sng" algn="ctr">
            <a:solidFill>
              <a:srgbClr val="0070C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黑体" panose="02010609060101010101" charset="-122"/>
              <a:ea typeface="黑体" panose="02010609060101010101" charset="-122"/>
              <a:cs typeface="+mn-cs"/>
            </a:endParaRPr>
          </a:p>
        </p:txBody>
      </p:sp>
      <p:sp>
        <p:nvSpPr>
          <p:cNvPr id="18438" name="矩形 6"/>
          <p:cNvSpPr/>
          <p:nvPr/>
        </p:nvSpPr>
        <p:spPr>
          <a:xfrm>
            <a:off x="1331913" y="2367598"/>
            <a:ext cx="642620" cy="368300"/>
          </a:xfrm>
          <a:prstGeom prst="rect">
            <a:avLst/>
          </a:prstGeom>
          <a:noFill/>
          <a:ln w="9525">
            <a:noFill/>
          </a:ln>
        </p:spPr>
        <p:txBody>
          <a:bodyPr wrap="non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定义</a:t>
            </a:r>
          </a:p>
        </p:txBody>
      </p:sp>
      <p:sp>
        <p:nvSpPr>
          <p:cNvPr id="18439" name="矩形 7"/>
          <p:cNvSpPr/>
          <p:nvPr/>
        </p:nvSpPr>
        <p:spPr>
          <a:xfrm>
            <a:off x="1763713" y="3597275"/>
            <a:ext cx="5469890" cy="368300"/>
          </a:xfrm>
          <a:prstGeom prst="rect">
            <a:avLst/>
          </a:prstGeom>
          <a:noFill/>
          <a:ln w="9525">
            <a:noFill/>
          </a:ln>
        </p:spPr>
        <p:txBody>
          <a:bodyPr wrap="non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虽然这是一门短课，但学好这门课，你可以更好的：</a:t>
            </a:r>
          </a:p>
        </p:txBody>
      </p:sp>
      <p:pic>
        <p:nvPicPr>
          <p:cNvPr id="18440" name="图片 9"/>
          <p:cNvPicPr>
            <a:picLocks noChangeAspect="1"/>
          </p:cNvPicPr>
          <p:nvPr/>
        </p:nvPicPr>
        <p:blipFill>
          <a:blip r:embed="rId5"/>
          <a:stretch>
            <a:fillRect/>
          </a:stretch>
        </p:blipFill>
        <p:spPr>
          <a:xfrm>
            <a:off x="1042988" y="3967163"/>
            <a:ext cx="1447800" cy="1439862"/>
          </a:xfrm>
          <a:prstGeom prst="rect">
            <a:avLst/>
          </a:prstGeom>
          <a:noFill/>
          <a:ln w="9525">
            <a:noFill/>
          </a:ln>
        </p:spPr>
      </p:pic>
      <p:pic>
        <p:nvPicPr>
          <p:cNvPr id="18441" name="图片 10"/>
          <p:cNvPicPr>
            <a:picLocks noChangeAspect="1"/>
          </p:cNvPicPr>
          <p:nvPr/>
        </p:nvPicPr>
        <p:blipFill>
          <a:blip r:embed="rId6"/>
          <a:srcRect r="9445"/>
          <a:stretch>
            <a:fillRect/>
          </a:stretch>
        </p:blipFill>
        <p:spPr>
          <a:xfrm>
            <a:off x="3203575" y="3967163"/>
            <a:ext cx="1439863" cy="1439862"/>
          </a:xfrm>
          <a:prstGeom prst="rect">
            <a:avLst/>
          </a:prstGeom>
          <a:noFill/>
          <a:ln w="9525">
            <a:noFill/>
          </a:ln>
        </p:spPr>
      </p:pic>
      <p:pic>
        <p:nvPicPr>
          <p:cNvPr id="18442" name="图片 11"/>
          <p:cNvPicPr>
            <a:picLocks noChangeAspect="1"/>
          </p:cNvPicPr>
          <p:nvPr/>
        </p:nvPicPr>
        <p:blipFill>
          <a:blip r:embed="rId7"/>
          <a:stretch>
            <a:fillRect/>
          </a:stretch>
        </p:blipFill>
        <p:spPr>
          <a:xfrm>
            <a:off x="5373688" y="3967163"/>
            <a:ext cx="1430337" cy="1439862"/>
          </a:xfrm>
          <a:prstGeom prst="rect">
            <a:avLst/>
          </a:prstGeom>
          <a:noFill/>
          <a:ln w="9525">
            <a:noFill/>
          </a:ln>
        </p:spPr>
      </p:pic>
      <p:sp>
        <p:nvSpPr>
          <p:cNvPr id="18443" name="矩形 12"/>
          <p:cNvSpPr/>
          <p:nvPr/>
        </p:nvSpPr>
        <p:spPr>
          <a:xfrm>
            <a:off x="766763" y="5407025"/>
            <a:ext cx="2149475" cy="583565"/>
          </a:xfrm>
          <a:prstGeom prst="rect">
            <a:avLst/>
          </a:prstGeom>
          <a:noFill/>
          <a:ln w="9525">
            <a:noFill/>
          </a:ln>
        </p:spPr>
        <p:txBody>
          <a:bodyPr anchor="t">
            <a:spAutoFit/>
          </a:bodyPr>
          <a:lstStyle/>
          <a:p>
            <a:pPr algn="ctr" defTabSz="457200">
              <a:spcAft>
                <a:spcPts val="0"/>
              </a:spcAft>
            </a:pPr>
            <a:r>
              <a:rPr lang="zh-CN" altLang="en-US" sz="1600" dirty="0">
                <a:solidFill>
                  <a:srgbClr val="000000"/>
                </a:solidFill>
                <a:latin typeface="黑体" panose="02010609060101010101" charset="-122"/>
                <a:ea typeface="黑体" panose="02010609060101010101" charset="-122"/>
              </a:rPr>
              <a:t>理解科研和工程技术的基本思维套路</a:t>
            </a:r>
          </a:p>
        </p:txBody>
      </p:sp>
      <p:sp>
        <p:nvSpPr>
          <p:cNvPr id="18444" name="矩形 13"/>
          <p:cNvSpPr/>
          <p:nvPr/>
        </p:nvSpPr>
        <p:spPr>
          <a:xfrm>
            <a:off x="5003800" y="5407025"/>
            <a:ext cx="2149475" cy="583565"/>
          </a:xfrm>
          <a:prstGeom prst="rect">
            <a:avLst/>
          </a:prstGeom>
          <a:noFill/>
          <a:ln w="9525">
            <a:noFill/>
          </a:ln>
        </p:spPr>
        <p:txBody>
          <a:bodyPr anchor="t">
            <a:spAutoFit/>
          </a:bodyPr>
          <a:lstStyle/>
          <a:p>
            <a:pPr algn="ctr" defTabSz="457200">
              <a:spcAft>
                <a:spcPts val="0"/>
              </a:spcAft>
            </a:pPr>
            <a:r>
              <a:rPr lang="zh-CN" altLang="en-US" sz="1600" dirty="0">
                <a:solidFill>
                  <a:srgbClr val="000000"/>
                </a:solidFill>
                <a:latin typeface="黑体" panose="02010609060101010101" charset="-122"/>
                <a:ea typeface="黑体" panose="02010609060101010101" charset="-122"/>
              </a:rPr>
              <a:t>写出高质量的</a:t>
            </a:r>
            <a:endParaRPr lang="en-US" altLang="zh-CN" sz="1600" dirty="0">
              <a:solidFill>
                <a:srgbClr val="000000"/>
              </a:solidFill>
              <a:latin typeface="黑体" panose="02010609060101010101" charset="-122"/>
              <a:ea typeface="黑体" panose="02010609060101010101" charset="-122"/>
            </a:endParaRPr>
          </a:p>
          <a:p>
            <a:pPr algn="ctr" defTabSz="457200">
              <a:spcBef>
                <a:spcPts val="0"/>
              </a:spcBef>
            </a:pPr>
            <a:r>
              <a:rPr lang="zh-CN" altLang="en-US" sz="1600" dirty="0">
                <a:solidFill>
                  <a:srgbClr val="000000"/>
                </a:solidFill>
                <a:latin typeface="黑体" panose="02010609060101010101" charset="-122"/>
                <a:ea typeface="黑体" panose="02010609060101010101" charset="-122"/>
              </a:rPr>
              <a:t>论文和报告</a:t>
            </a:r>
          </a:p>
        </p:txBody>
      </p:sp>
      <p:sp>
        <p:nvSpPr>
          <p:cNvPr id="18445" name="矩形 14"/>
          <p:cNvSpPr/>
          <p:nvPr/>
        </p:nvSpPr>
        <p:spPr>
          <a:xfrm>
            <a:off x="2843213" y="5407025"/>
            <a:ext cx="2151062" cy="829945"/>
          </a:xfrm>
          <a:prstGeom prst="rect">
            <a:avLst/>
          </a:prstGeom>
          <a:noFill/>
          <a:ln w="9525">
            <a:noFill/>
          </a:ln>
        </p:spPr>
        <p:txBody>
          <a:bodyPr anchor="t">
            <a:spAutoFit/>
          </a:bodyPr>
          <a:lstStyle/>
          <a:p>
            <a:pPr algn="ctr" defTabSz="457200">
              <a:spcAft>
                <a:spcPts val="0"/>
              </a:spcAft>
            </a:pPr>
            <a:r>
              <a:rPr lang="zh-CN" altLang="en-US" sz="1600" dirty="0">
                <a:solidFill>
                  <a:srgbClr val="000000"/>
                </a:solidFill>
                <a:latin typeface="黑体" panose="02010609060101010101" charset="-122"/>
                <a:ea typeface="黑体" panose="02010609060101010101" charset="-122"/>
              </a:rPr>
              <a:t>在海量的信息里</a:t>
            </a:r>
            <a:endParaRPr lang="en-US" altLang="zh-CN" sz="1600" dirty="0">
              <a:solidFill>
                <a:srgbClr val="000000"/>
              </a:solidFill>
              <a:latin typeface="黑体" panose="02010609060101010101" charset="-122"/>
              <a:ea typeface="黑体" panose="02010609060101010101" charset="-122"/>
            </a:endParaRPr>
          </a:p>
          <a:p>
            <a:pPr algn="ctr" defTabSz="457200">
              <a:spcBef>
                <a:spcPts val="0"/>
              </a:spcBef>
              <a:spcAft>
                <a:spcPts val="0"/>
              </a:spcAft>
            </a:pPr>
            <a:r>
              <a:rPr lang="zh-CN" altLang="en-US" sz="1600" dirty="0">
                <a:solidFill>
                  <a:srgbClr val="000000"/>
                </a:solidFill>
                <a:latin typeface="黑体" panose="02010609060101010101" charset="-122"/>
                <a:ea typeface="黑体" panose="02010609060101010101" charset="-122"/>
              </a:rPr>
              <a:t>找到你要的</a:t>
            </a:r>
            <a:endParaRPr lang="en-US" altLang="zh-CN" sz="1600" dirty="0">
              <a:solidFill>
                <a:srgbClr val="000000"/>
              </a:solidFill>
              <a:latin typeface="黑体" panose="02010609060101010101" charset="-122"/>
              <a:ea typeface="黑体" panose="02010609060101010101" charset="-122"/>
            </a:endParaRPr>
          </a:p>
          <a:p>
            <a:pPr algn="ctr" defTabSz="457200">
              <a:spcBef>
                <a:spcPts val="0"/>
              </a:spcBef>
            </a:pPr>
            <a:r>
              <a:rPr lang="zh-CN" altLang="en-US" sz="1600" dirty="0">
                <a:solidFill>
                  <a:srgbClr val="000000"/>
                </a:solidFill>
                <a:latin typeface="黑体" panose="02010609060101010101" charset="-122"/>
                <a:ea typeface="黑体" panose="02010609060101010101" charset="-122"/>
              </a:rPr>
              <a:t>并转化成自己的</a:t>
            </a:r>
          </a:p>
        </p:txBody>
      </p:sp>
      <p:pic>
        <p:nvPicPr>
          <p:cNvPr id="18446" name="图片 15"/>
          <p:cNvPicPr>
            <a:picLocks noChangeAspect="1"/>
          </p:cNvPicPr>
          <p:nvPr/>
        </p:nvPicPr>
        <p:blipFill>
          <a:blip r:embed="rId8"/>
          <a:srcRect l="8331" r="4195"/>
          <a:stretch>
            <a:fillRect/>
          </a:stretch>
        </p:blipFill>
        <p:spPr>
          <a:xfrm>
            <a:off x="7524750" y="3967163"/>
            <a:ext cx="1511300" cy="1439862"/>
          </a:xfrm>
          <a:prstGeom prst="rect">
            <a:avLst/>
          </a:prstGeom>
          <a:noFill/>
          <a:ln w="9525">
            <a:noFill/>
          </a:ln>
        </p:spPr>
      </p:pic>
      <p:sp>
        <p:nvSpPr>
          <p:cNvPr id="18447" name="矩形 16"/>
          <p:cNvSpPr/>
          <p:nvPr/>
        </p:nvSpPr>
        <p:spPr>
          <a:xfrm>
            <a:off x="7164388" y="5407025"/>
            <a:ext cx="2149475" cy="337185"/>
          </a:xfrm>
          <a:prstGeom prst="rect">
            <a:avLst/>
          </a:prstGeom>
          <a:noFill/>
          <a:ln w="9525">
            <a:noFill/>
          </a:ln>
        </p:spPr>
        <p:txBody>
          <a:bodyPr anchor="t">
            <a:spAutoFit/>
          </a:bodyPr>
          <a:lstStyle/>
          <a:p>
            <a:pPr algn="ctr" defTabSz="457200">
              <a:spcAft>
                <a:spcPts val="0"/>
              </a:spcAft>
            </a:pPr>
            <a:r>
              <a:rPr lang="zh-CN" altLang="en-US" sz="1600" dirty="0">
                <a:solidFill>
                  <a:srgbClr val="000000"/>
                </a:solidFill>
                <a:latin typeface="黑体" panose="02010609060101010101" charset="-122"/>
                <a:ea typeface="黑体" panose="02010609060101010101" charset="-122"/>
              </a:rPr>
              <a:t>做一个好的演讲者</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ppt_x"/>
                                          </p:val>
                                        </p:tav>
                                        <p:tav tm="100000">
                                          <p:val>
                                            <p:strVal val="#ppt_x"/>
                                          </p:val>
                                        </p:tav>
                                      </p:tavLst>
                                    </p:anim>
                                    <p:anim calcmode="lin" valueType="num">
                                      <p:cBhvr additive="base">
                                        <p:cTn id="8" dur="500" fill="hold"/>
                                        <p:tgtEl>
                                          <p:spTgt spid="184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438"/>
                                        </p:tgtEl>
                                        <p:attrNameLst>
                                          <p:attrName>style.visibility</p:attrName>
                                        </p:attrNameLst>
                                      </p:cBhvr>
                                      <p:to>
                                        <p:strVal val="visible"/>
                                      </p:to>
                                    </p:set>
                                    <p:anim calcmode="lin" valueType="num">
                                      <p:cBhvr additive="base">
                                        <p:cTn id="15" dur="500" fill="hold"/>
                                        <p:tgtEl>
                                          <p:spTgt spid="18438"/>
                                        </p:tgtEl>
                                        <p:attrNameLst>
                                          <p:attrName>ppt_x</p:attrName>
                                        </p:attrNameLst>
                                      </p:cBhvr>
                                      <p:tavLst>
                                        <p:tav tm="0">
                                          <p:val>
                                            <p:strVal val="#ppt_x"/>
                                          </p:val>
                                        </p:tav>
                                        <p:tav tm="100000">
                                          <p:val>
                                            <p:strVal val="#ppt_x"/>
                                          </p:val>
                                        </p:tav>
                                      </p:tavLst>
                                    </p:anim>
                                    <p:anim calcmode="lin" valueType="num">
                                      <p:cBhvr additive="base">
                                        <p:cTn id="16" dur="500" fill="hold"/>
                                        <p:tgtEl>
                                          <p:spTgt spid="1843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8439"/>
                                        </p:tgtEl>
                                        <p:attrNameLst>
                                          <p:attrName>style.visibility</p:attrName>
                                        </p:attrNameLst>
                                      </p:cBhvr>
                                      <p:to>
                                        <p:strVal val="visible"/>
                                      </p:to>
                                    </p:set>
                                    <p:anim calcmode="lin" valueType="num">
                                      <p:cBhvr additive="base">
                                        <p:cTn id="21" dur="500" fill="hold"/>
                                        <p:tgtEl>
                                          <p:spTgt spid="18439"/>
                                        </p:tgtEl>
                                        <p:attrNameLst>
                                          <p:attrName>ppt_x</p:attrName>
                                        </p:attrNameLst>
                                      </p:cBhvr>
                                      <p:tavLst>
                                        <p:tav tm="0">
                                          <p:val>
                                            <p:strVal val="#ppt_x"/>
                                          </p:val>
                                        </p:tav>
                                        <p:tav tm="100000">
                                          <p:val>
                                            <p:strVal val="#ppt_x"/>
                                          </p:val>
                                        </p:tav>
                                      </p:tavLst>
                                    </p:anim>
                                    <p:anim calcmode="lin" valueType="num">
                                      <p:cBhvr additive="base">
                                        <p:cTn id="22" dur="500" fill="hold"/>
                                        <p:tgtEl>
                                          <p:spTgt spid="1843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8440"/>
                                        </p:tgtEl>
                                        <p:attrNameLst>
                                          <p:attrName>style.visibility</p:attrName>
                                        </p:attrNameLst>
                                      </p:cBhvr>
                                      <p:to>
                                        <p:strVal val="visible"/>
                                      </p:to>
                                    </p:set>
                                    <p:anim calcmode="lin" valueType="num">
                                      <p:cBhvr additive="base">
                                        <p:cTn id="25" dur="500" fill="hold"/>
                                        <p:tgtEl>
                                          <p:spTgt spid="18440"/>
                                        </p:tgtEl>
                                        <p:attrNameLst>
                                          <p:attrName>ppt_x</p:attrName>
                                        </p:attrNameLst>
                                      </p:cBhvr>
                                      <p:tavLst>
                                        <p:tav tm="0">
                                          <p:val>
                                            <p:strVal val="#ppt_x"/>
                                          </p:val>
                                        </p:tav>
                                        <p:tav tm="100000">
                                          <p:val>
                                            <p:strVal val="#ppt_x"/>
                                          </p:val>
                                        </p:tav>
                                      </p:tavLst>
                                    </p:anim>
                                    <p:anim calcmode="lin" valueType="num">
                                      <p:cBhvr additive="base">
                                        <p:cTn id="26" dur="500" fill="hold"/>
                                        <p:tgtEl>
                                          <p:spTgt spid="18440"/>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441"/>
                                        </p:tgtEl>
                                        <p:attrNameLst>
                                          <p:attrName>style.visibility</p:attrName>
                                        </p:attrNameLst>
                                      </p:cBhvr>
                                      <p:to>
                                        <p:strVal val="visible"/>
                                      </p:to>
                                    </p:set>
                                    <p:anim calcmode="lin" valueType="num">
                                      <p:cBhvr additive="base">
                                        <p:cTn id="29" dur="500" fill="hold"/>
                                        <p:tgtEl>
                                          <p:spTgt spid="18441"/>
                                        </p:tgtEl>
                                        <p:attrNameLst>
                                          <p:attrName>ppt_x</p:attrName>
                                        </p:attrNameLst>
                                      </p:cBhvr>
                                      <p:tavLst>
                                        <p:tav tm="0">
                                          <p:val>
                                            <p:strVal val="#ppt_x"/>
                                          </p:val>
                                        </p:tav>
                                        <p:tav tm="100000">
                                          <p:val>
                                            <p:strVal val="#ppt_x"/>
                                          </p:val>
                                        </p:tav>
                                      </p:tavLst>
                                    </p:anim>
                                    <p:anim calcmode="lin" valueType="num">
                                      <p:cBhvr additive="base">
                                        <p:cTn id="30" dur="500" fill="hold"/>
                                        <p:tgtEl>
                                          <p:spTgt spid="18441"/>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8442"/>
                                        </p:tgtEl>
                                        <p:attrNameLst>
                                          <p:attrName>style.visibility</p:attrName>
                                        </p:attrNameLst>
                                      </p:cBhvr>
                                      <p:to>
                                        <p:strVal val="visible"/>
                                      </p:to>
                                    </p:set>
                                    <p:anim calcmode="lin" valueType="num">
                                      <p:cBhvr additive="base">
                                        <p:cTn id="33" dur="500" fill="hold"/>
                                        <p:tgtEl>
                                          <p:spTgt spid="18442"/>
                                        </p:tgtEl>
                                        <p:attrNameLst>
                                          <p:attrName>ppt_x</p:attrName>
                                        </p:attrNameLst>
                                      </p:cBhvr>
                                      <p:tavLst>
                                        <p:tav tm="0">
                                          <p:val>
                                            <p:strVal val="#ppt_x"/>
                                          </p:val>
                                        </p:tav>
                                        <p:tav tm="100000">
                                          <p:val>
                                            <p:strVal val="#ppt_x"/>
                                          </p:val>
                                        </p:tav>
                                      </p:tavLst>
                                    </p:anim>
                                    <p:anim calcmode="lin" valueType="num">
                                      <p:cBhvr additive="base">
                                        <p:cTn id="34" dur="500" fill="hold"/>
                                        <p:tgtEl>
                                          <p:spTgt spid="1844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443"/>
                                        </p:tgtEl>
                                        <p:attrNameLst>
                                          <p:attrName>style.visibility</p:attrName>
                                        </p:attrNameLst>
                                      </p:cBhvr>
                                      <p:to>
                                        <p:strVal val="visible"/>
                                      </p:to>
                                    </p:set>
                                    <p:anim calcmode="lin" valueType="num">
                                      <p:cBhvr additive="base">
                                        <p:cTn id="37" dur="500" fill="hold"/>
                                        <p:tgtEl>
                                          <p:spTgt spid="18443"/>
                                        </p:tgtEl>
                                        <p:attrNameLst>
                                          <p:attrName>ppt_x</p:attrName>
                                        </p:attrNameLst>
                                      </p:cBhvr>
                                      <p:tavLst>
                                        <p:tav tm="0">
                                          <p:val>
                                            <p:strVal val="#ppt_x"/>
                                          </p:val>
                                        </p:tav>
                                        <p:tav tm="100000">
                                          <p:val>
                                            <p:strVal val="#ppt_x"/>
                                          </p:val>
                                        </p:tav>
                                      </p:tavLst>
                                    </p:anim>
                                    <p:anim calcmode="lin" valueType="num">
                                      <p:cBhvr additive="base">
                                        <p:cTn id="38" dur="500" fill="hold"/>
                                        <p:tgtEl>
                                          <p:spTgt spid="1844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444"/>
                                        </p:tgtEl>
                                        <p:attrNameLst>
                                          <p:attrName>style.visibility</p:attrName>
                                        </p:attrNameLst>
                                      </p:cBhvr>
                                      <p:to>
                                        <p:strVal val="visible"/>
                                      </p:to>
                                    </p:set>
                                    <p:anim calcmode="lin" valueType="num">
                                      <p:cBhvr additive="base">
                                        <p:cTn id="41" dur="500" fill="hold"/>
                                        <p:tgtEl>
                                          <p:spTgt spid="18444"/>
                                        </p:tgtEl>
                                        <p:attrNameLst>
                                          <p:attrName>ppt_x</p:attrName>
                                        </p:attrNameLst>
                                      </p:cBhvr>
                                      <p:tavLst>
                                        <p:tav tm="0">
                                          <p:val>
                                            <p:strVal val="#ppt_x"/>
                                          </p:val>
                                        </p:tav>
                                        <p:tav tm="100000">
                                          <p:val>
                                            <p:strVal val="#ppt_x"/>
                                          </p:val>
                                        </p:tav>
                                      </p:tavLst>
                                    </p:anim>
                                    <p:anim calcmode="lin" valueType="num">
                                      <p:cBhvr additive="base">
                                        <p:cTn id="42" dur="500" fill="hold"/>
                                        <p:tgtEl>
                                          <p:spTgt spid="18444"/>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8445"/>
                                        </p:tgtEl>
                                        <p:attrNameLst>
                                          <p:attrName>style.visibility</p:attrName>
                                        </p:attrNameLst>
                                      </p:cBhvr>
                                      <p:to>
                                        <p:strVal val="visible"/>
                                      </p:to>
                                    </p:set>
                                    <p:anim calcmode="lin" valueType="num">
                                      <p:cBhvr additive="base">
                                        <p:cTn id="45" dur="500" fill="hold"/>
                                        <p:tgtEl>
                                          <p:spTgt spid="18445"/>
                                        </p:tgtEl>
                                        <p:attrNameLst>
                                          <p:attrName>ppt_x</p:attrName>
                                        </p:attrNameLst>
                                      </p:cBhvr>
                                      <p:tavLst>
                                        <p:tav tm="0">
                                          <p:val>
                                            <p:strVal val="#ppt_x"/>
                                          </p:val>
                                        </p:tav>
                                        <p:tav tm="100000">
                                          <p:val>
                                            <p:strVal val="#ppt_x"/>
                                          </p:val>
                                        </p:tav>
                                      </p:tavLst>
                                    </p:anim>
                                    <p:anim calcmode="lin" valueType="num">
                                      <p:cBhvr additive="base">
                                        <p:cTn id="46" dur="500" fill="hold"/>
                                        <p:tgtEl>
                                          <p:spTgt spid="18445"/>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8446"/>
                                        </p:tgtEl>
                                        <p:attrNameLst>
                                          <p:attrName>style.visibility</p:attrName>
                                        </p:attrNameLst>
                                      </p:cBhvr>
                                      <p:to>
                                        <p:strVal val="visible"/>
                                      </p:to>
                                    </p:set>
                                    <p:anim calcmode="lin" valueType="num">
                                      <p:cBhvr additive="base">
                                        <p:cTn id="49" dur="500" fill="hold"/>
                                        <p:tgtEl>
                                          <p:spTgt spid="18446"/>
                                        </p:tgtEl>
                                        <p:attrNameLst>
                                          <p:attrName>ppt_x</p:attrName>
                                        </p:attrNameLst>
                                      </p:cBhvr>
                                      <p:tavLst>
                                        <p:tav tm="0">
                                          <p:val>
                                            <p:strVal val="#ppt_x"/>
                                          </p:val>
                                        </p:tav>
                                        <p:tav tm="100000">
                                          <p:val>
                                            <p:strVal val="#ppt_x"/>
                                          </p:val>
                                        </p:tav>
                                      </p:tavLst>
                                    </p:anim>
                                    <p:anim calcmode="lin" valueType="num">
                                      <p:cBhvr additive="base">
                                        <p:cTn id="50" dur="500" fill="hold"/>
                                        <p:tgtEl>
                                          <p:spTgt spid="1844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8447"/>
                                        </p:tgtEl>
                                        <p:attrNameLst>
                                          <p:attrName>style.visibility</p:attrName>
                                        </p:attrNameLst>
                                      </p:cBhvr>
                                      <p:to>
                                        <p:strVal val="visible"/>
                                      </p:to>
                                    </p:set>
                                    <p:anim calcmode="lin" valueType="num">
                                      <p:cBhvr additive="base">
                                        <p:cTn id="53" dur="500" fill="hold"/>
                                        <p:tgtEl>
                                          <p:spTgt spid="18447"/>
                                        </p:tgtEl>
                                        <p:attrNameLst>
                                          <p:attrName>ppt_x</p:attrName>
                                        </p:attrNameLst>
                                      </p:cBhvr>
                                      <p:tavLst>
                                        <p:tav tm="0">
                                          <p:val>
                                            <p:strVal val="#ppt_x"/>
                                          </p:val>
                                        </p:tav>
                                        <p:tav tm="100000">
                                          <p:val>
                                            <p:strVal val="#ppt_x"/>
                                          </p:val>
                                        </p:tav>
                                      </p:tavLst>
                                    </p:anim>
                                    <p:anim calcmode="lin" valueType="num">
                                      <p:cBhvr additive="base">
                                        <p:cTn id="54" dur="500" fill="hold"/>
                                        <p:tgtEl>
                                          <p:spTgt spid="184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P spid="6" grpId="0" bldLvl="0" animBg="1"/>
      <p:bldP spid="18438" grpId="0"/>
      <p:bldP spid="18439" grpId="0"/>
      <p:bldP spid="18443" grpId="0"/>
      <p:bldP spid="18444" grpId="0"/>
      <p:bldP spid="18445" grpId="0"/>
      <p:bldP spid="18447"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9459" name="矩形 4"/>
          <p:cNvSpPr/>
          <p:nvPr/>
        </p:nvSpPr>
        <p:spPr>
          <a:xfrm>
            <a:off x="1763713" y="1196975"/>
            <a:ext cx="6381750" cy="645160"/>
          </a:xfrm>
          <a:prstGeom prst="rect">
            <a:avLst/>
          </a:prstGeom>
          <a:noFill/>
          <a:ln w="9525">
            <a:noFill/>
          </a:ln>
        </p:spPr>
        <p:txBody>
          <a:bodyPr wrap="none" anchor="t">
            <a:spAutoFit/>
          </a:bodyPr>
          <a:lstStyle/>
          <a:p>
            <a:pPr defTabSz="457200">
              <a:spcAft>
                <a:spcPts val="0"/>
              </a:spcAft>
            </a:pPr>
            <a:r>
              <a:rPr lang="zh-CN" altLang="en-US" sz="3600" b="1" dirty="0">
                <a:solidFill>
                  <a:srgbClr val="000000"/>
                </a:solidFill>
                <a:latin typeface="黑体" panose="02010609060101010101" charset="-122"/>
                <a:ea typeface="黑体" panose="02010609060101010101" charset="-122"/>
                <a:cs typeface="黑体" panose="02010609060101010101" charset="-122"/>
              </a:rPr>
              <a:t>短短</a:t>
            </a:r>
            <a:r>
              <a:rPr lang="en-US" altLang="zh-CN" sz="3600" b="1" dirty="0">
                <a:solidFill>
                  <a:srgbClr val="000000"/>
                </a:solidFill>
                <a:latin typeface="黑体" panose="02010609060101010101" charset="-122"/>
                <a:ea typeface="黑体" panose="02010609060101010101" charset="-122"/>
                <a:cs typeface="黑体" panose="02010609060101010101" charset="-122"/>
              </a:rPr>
              <a:t>8</a:t>
            </a:r>
            <a:r>
              <a:rPr lang="zh-CN" altLang="en-US" sz="3600" b="1" dirty="0">
                <a:solidFill>
                  <a:srgbClr val="000000"/>
                </a:solidFill>
                <a:latin typeface="黑体" panose="02010609060101010101" charset="-122"/>
                <a:ea typeface="黑体" panose="02010609060101010101" charset="-122"/>
                <a:cs typeface="黑体" panose="02010609060101010101" charset="-122"/>
              </a:rPr>
              <a:t>周，我们要学习些什么？</a:t>
            </a:r>
          </a:p>
        </p:txBody>
      </p:sp>
      <p:sp>
        <p:nvSpPr>
          <p:cNvPr id="6" name="矩形 5"/>
          <p:cNvSpPr/>
          <p:nvPr/>
        </p:nvSpPr>
        <p:spPr>
          <a:xfrm>
            <a:off x="1062038" y="5445125"/>
            <a:ext cx="8104188" cy="720725"/>
          </a:xfrm>
          <a:prstGeom prst="rect">
            <a:avLst/>
          </a:prstGeom>
          <a:solidFill>
            <a:srgbClr val="5B9BD5">
              <a:lumMod val="40000"/>
              <a:lumOff val="60000"/>
            </a:srgbClr>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接收机，文献检索与资料查询</a:t>
            </a:r>
          </a:p>
        </p:txBody>
      </p:sp>
      <p:sp>
        <p:nvSpPr>
          <p:cNvPr id="7" name="矩形 6"/>
          <p:cNvSpPr/>
          <p:nvPr/>
        </p:nvSpPr>
        <p:spPr>
          <a:xfrm>
            <a:off x="1965325" y="4724400"/>
            <a:ext cx="7200900" cy="720725"/>
          </a:xfrm>
          <a:prstGeom prst="rect">
            <a:avLst/>
          </a:prstGeom>
          <a:solidFill>
            <a:srgbClr val="ED7D31">
              <a:lumMod val="40000"/>
              <a:lumOff val="60000"/>
            </a:srgbClr>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AD/DA</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，梳理进展和分析科学研究动机</a:t>
            </a:r>
          </a:p>
        </p:txBody>
      </p:sp>
      <p:sp>
        <p:nvSpPr>
          <p:cNvPr id="8" name="矩形 7"/>
          <p:cNvSpPr/>
          <p:nvPr/>
        </p:nvSpPr>
        <p:spPr>
          <a:xfrm>
            <a:off x="3386138" y="4005263"/>
            <a:ext cx="5759450" cy="719138"/>
          </a:xfrm>
          <a:prstGeom prst="rect">
            <a:avLst/>
          </a:prstGeom>
          <a:solidFill>
            <a:srgbClr val="A5A5A5">
              <a:lumMod val="40000"/>
              <a:lumOff val="60000"/>
            </a:srgbClr>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协议软件，科学论文和技术专利</a:t>
            </a:r>
          </a:p>
        </p:txBody>
      </p:sp>
      <p:sp>
        <p:nvSpPr>
          <p:cNvPr id="10" name="矩形 9"/>
          <p:cNvSpPr/>
          <p:nvPr/>
        </p:nvSpPr>
        <p:spPr>
          <a:xfrm>
            <a:off x="4822825" y="3284538"/>
            <a:ext cx="4321175" cy="720725"/>
          </a:xfrm>
          <a:prstGeom prst="rect">
            <a:avLst/>
          </a:prstGeom>
          <a:solidFill>
            <a:srgbClr val="FFC000">
              <a:lumMod val="40000"/>
              <a:lumOff val="60000"/>
            </a:srgbClr>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广播信源，在聚光灯下展示你的成果</a:t>
            </a:r>
          </a:p>
        </p:txBody>
      </p:sp>
      <p:sp>
        <p:nvSpPr>
          <p:cNvPr id="11" name="矩形 10"/>
          <p:cNvSpPr/>
          <p:nvPr/>
        </p:nvSpPr>
        <p:spPr>
          <a:xfrm>
            <a:off x="452755" y="1842135"/>
            <a:ext cx="4419600" cy="1943100"/>
          </a:xfrm>
          <a:prstGeom prst="rect">
            <a:avLst/>
          </a:prstGeom>
          <a:solidFill>
            <a:srgbClr val="70AD47">
              <a:lumMod val="40000"/>
              <a:lumOff val="60000"/>
            </a:srgbClr>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听</a:t>
            </a: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课并书面分享观点</a:t>
            </a:r>
            <a:endParaRPr kumimoji="0" lang="en-US" altLang="zh-CN"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说</a:t>
            </a: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一项专业研究（演讲稿</a:t>
            </a:r>
            <a:r>
              <a:rPr kumimoji="0" lang="en-US" altLang="zh-CN"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a:t>
            </a: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剧本）</a:t>
            </a:r>
            <a:endParaRPr kumimoji="0" lang="en-US" altLang="zh-CN"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读</a:t>
            </a: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一些科技文献</a:t>
            </a:r>
            <a:endParaRPr kumimoji="0" lang="en-US" altLang="zh-CN"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写</a:t>
            </a: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一篇课堂报告</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10" grpId="0" bldLvl="0" animBg="1"/>
      <p:bldP spid="11"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6"/>
          <a:stretch>
            <a:fillRect/>
          </a:stretch>
        </p:blipFill>
        <p:spPr>
          <a:xfrm>
            <a:off x="3708400" y="3644900"/>
            <a:ext cx="3948430" cy="2562225"/>
          </a:xfrm>
          <a:prstGeom prst="rect">
            <a:avLst/>
          </a:prstGeom>
        </p:spPr>
      </p:pic>
      <p:sp>
        <p:nvSpPr>
          <p:cNvPr id="9" name="Rectangle 2"/>
          <p:cNvSpPr>
            <a:spLocks noGrp="1" noChangeArrowheads="1"/>
          </p:cNvSpPr>
          <p:nvPr>
            <p:custDataLst>
              <p:tags r:id="rId2"/>
            </p:custDataLst>
          </p:nvPr>
        </p:nvSpPr>
        <p:spPr>
          <a:xfrm>
            <a:off x="1187450" y="44450"/>
            <a:ext cx="6624638" cy="792163"/>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pic>
        <p:nvPicPr>
          <p:cNvPr id="3" name="图片 2"/>
          <p:cNvPicPr>
            <a:picLocks noChangeAspect="1"/>
          </p:cNvPicPr>
          <p:nvPr>
            <p:custDataLst>
              <p:tags r:id="rId3"/>
            </p:custDataLst>
          </p:nvPr>
        </p:nvPicPr>
        <p:blipFill>
          <a:blip r:embed="rId7"/>
          <a:stretch>
            <a:fillRect/>
          </a:stretch>
        </p:blipFill>
        <p:spPr>
          <a:xfrm>
            <a:off x="972185" y="2132965"/>
            <a:ext cx="5324475" cy="2543175"/>
          </a:xfrm>
          <a:prstGeom prst="rect">
            <a:avLst/>
          </a:prstGeom>
        </p:spPr>
      </p:pic>
      <p:sp>
        <p:nvSpPr>
          <p:cNvPr id="19459" name="矩形 4"/>
          <p:cNvSpPr/>
          <p:nvPr>
            <p:custDataLst>
              <p:tags r:id="rId4"/>
            </p:custDataLst>
          </p:nvPr>
        </p:nvSpPr>
        <p:spPr>
          <a:xfrm>
            <a:off x="539433" y="1124585"/>
            <a:ext cx="7940675" cy="583565"/>
          </a:xfrm>
          <a:prstGeom prst="rect">
            <a:avLst/>
          </a:prstGeom>
          <a:noFill/>
          <a:ln w="9525">
            <a:noFill/>
          </a:ln>
        </p:spPr>
        <p:txBody>
          <a:bodyPr wrap="none" anchor="t">
            <a:spAutoFit/>
          </a:bodyPr>
          <a:lstStyle/>
          <a:p>
            <a:pPr defTabSz="457200">
              <a:spcAft>
                <a:spcPts val="0"/>
              </a:spcAft>
            </a:pPr>
            <a:r>
              <a:rPr lang="zh-CN" altLang="en-US" b="1" dirty="0">
                <a:solidFill>
                  <a:srgbClr val="000000"/>
                </a:solidFill>
                <a:latin typeface="黑体" panose="02010609060101010101" charset="-122"/>
                <a:ea typeface="黑体" panose="02010609060101010101" charset="-122"/>
                <a:cs typeface="黑体" panose="02010609060101010101" charset="-122"/>
              </a:rPr>
              <a:t>学完这个课，可以把写作提高到什么水平？</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custDataLst>
              <p:tags r:id="rId1"/>
            </p:custDataLst>
          </p:nvPr>
        </p:nvSpPr>
        <p:spPr>
          <a:xfrm>
            <a:off x="1187450" y="44450"/>
            <a:ext cx="6624638" cy="792163"/>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19459" name="矩形 4"/>
          <p:cNvSpPr/>
          <p:nvPr>
            <p:custDataLst>
              <p:tags r:id="rId2"/>
            </p:custDataLst>
          </p:nvPr>
        </p:nvSpPr>
        <p:spPr>
          <a:xfrm>
            <a:off x="539433" y="1124585"/>
            <a:ext cx="7940675" cy="583565"/>
          </a:xfrm>
          <a:prstGeom prst="rect">
            <a:avLst/>
          </a:prstGeom>
          <a:noFill/>
          <a:ln w="9525">
            <a:noFill/>
          </a:ln>
        </p:spPr>
        <p:txBody>
          <a:bodyPr wrap="none" anchor="t">
            <a:spAutoFit/>
          </a:bodyPr>
          <a:lstStyle/>
          <a:p>
            <a:pPr defTabSz="457200">
              <a:spcAft>
                <a:spcPts val="0"/>
              </a:spcAft>
            </a:pPr>
            <a:r>
              <a:rPr lang="zh-CN" altLang="en-US" b="1" dirty="0">
                <a:solidFill>
                  <a:srgbClr val="000000"/>
                </a:solidFill>
                <a:latin typeface="黑体" panose="02010609060101010101" charset="-122"/>
                <a:ea typeface="黑体" panose="02010609060101010101" charset="-122"/>
                <a:cs typeface="黑体" panose="02010609060101010101" charset="-122"/>
              </a:rPr>
              <a:t>学完这个课，可以把写作提高到什么水平？</a:t>
            </a:r>
          </a:p>
        </p:txBody>
      </p:sp>
      <p:pic>
        <p:nvPicPr>
          <p:cNvPr id="2" name="图片 1"/>
          <p:cNvPicPr>
            <a:picLocks noChangeAspect="1"/>
          </p:cNvPicPr>
          <p:nvPr>
            <p:custDataLst>
              <p:tags r:id="rId3"/>
            </p:custDataLst>
          </p:nvPr>
        </p:nvPicPr>
        <p:blipFill>
          <a:blip r:embed="rId6"/>
          <a:stretch>
            <a:fillRect/>
          </a:stretch>
        </p:blipFill>
        <p:spPr>
          <a:xfrm>
            <a:off x="107950" y="1772920"/>
            <a:ext cx="2475230" cy="2940050"/>
          </a:xfrm>
          <a:prstGeom prst="rect">
            <a:avLst/>
          </a:prstGeom>
        </p:spPr>
      </p:pic>
      <p:pic>
        <p:nvPicPr>
          <p:cNvPr id="4" name="图片 3"/>
          <p:cNvPicPr>
            <a:picLocks noChangeAspect="1"/>
          </p:cNvPicPr>
          <p:nvPr>
            <p:custDataLst>
              <p:tags r:id="rId4"/>
            </p:custDataLst>
          </p:nvPr>
        </p:nvPicPr>
        <p:blipFill>
          <a:blip r:embed="rId7"/>
          <a:stretch>
            <a:fillRect/>
          </a:stretch>
        </p:blipFill>
        <p:spPr>
          <a:xfrm>
            <a:off x="3347720" y="1772920"/>
            <a:ext cx="2928620" cy="4518025"/>
          </a:xfrm>
          <a:prstGeom prst="rect">
            <a:avLst/>
          </a:prstGeom>
          <a:ln>
            <a:solidFill>
              <a:srgbClr val="002060"/>
            </a:solid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20483" name="矩形 3"/>
          <p:cNvSpPr/>
          <p:nvPr/>
        </p:nvSpPr>
        <p:spPr>
          <a:xfrm>
            <a:off x="1530350" y="998538"/>
            <a:ext cx="7069455" cy="645160"/>
          </a:xfrm>
          <a:prstGeom prst="rect">
            <a:avLst/>
          </a:prstGeom>
          <a:noFill/>
          <a:ln w="9525">
            <a:noFill/>
          </a:ln>
        </p:spPr>
        <p:txBody>
          <a:bodyPr wrap="none" anchor="t">
            <a:spAutoFit/>
          </a:bodyPr>
          <a:lstStyle/>
          <a:p>
            <a:pPr defTabSz="457200">
              <a:spcAft>
                <a:spcPts val="0"/>
              </a:spcAft>
            </a:pPr>
            <a:r>
              <a:rPr lang="zh-CN" altLang="en-US" sz="3600" b="1" dirty="0">
                <a:solidFill>
                  <a:srgbClr val="000000"/>
                </a:solidFill>
                <a:latin typeface="黑体" panose="02010609060101010101" charset="-122"/>
                <a:ea typeface="黑体" panose="02010609060101010101" charset="-122"/>
              </a:rPr>
              <a:t>希望大家通过本课程，重点关注：</a:t>
            </a:r>
          </a:p>
        </p:txBody>
      </p:sp>
      <p:graphicFrame>
        <p:nvGraphicFramePr>
          <p:cNvPr id="5" name="图示 4"/>
          <p:cNvGraphicFramePr/>
          <p:nvPr/>
        </p:nvGraphicFramePr>
        <p:xfrm>
          <a:off x="1548170" y="1775042"/>
          <a:ext cx="7200798" cy="491232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cxnSp>
        <p:nvCxnSpPr>
          <p:cNvPr id="20485" name="直接连接符 5"/>
          <p:cNvCxnSpPr/>
          <p:nvPr/>
        </p:nvCxnSpPr>
        <p:spPr>
          <a:xfrm flipH="1" flipV="1">
            <a:off x="4018915" y="2943225"/>
            <a:ext cx="554038" cy="503238"/>
          </a:xfrm>
          <a:prstGeom prst="line">
            <a:avLst/>
          </a:prstGeom>
          <a:ln w="28575" cap="flat" cmpd="sng">
            <a:solidFill>
              <a:srgbClr val="000000"/>
            </a:solidFill>
            <a:prstDash val="solid"/>
            <a:miter/>
            <a:headEnd type="none" w="med" len="med"/>
            <a:tailEnd type="none" w="med" len="med"/>
          </a:ln>
        </p:spPr>
      </p:cxnSp>
      <p:cxnSp>
        <p:nvCxnSpPr>
          <p:cNvPr id="20486" name="直接连接符 6"/>
          <p:cNvCxnSpPr/>
          <p:nvPr/>
        </p:nvCxnSpPr>
        <p:spPr>
          <a:xfrm>
            <a:off x="828040" y="2943225"/>
            <a:ext cx="3190875" cy="0"/>
          </a:xfrm>
          <a:prstGeom prst="line">
            <a:avLst/>
          </a:prstGeom>
          <a:ln w="28575" cap="flat" cmpd="sng">
            <a:solidFill>
              <a:srgbClr val="000000"/>
            </a:solidFill>
            <a:prstDash val="solid"/>
            <a:miter/>
            <a:headEnd type="none" w="med" len="med"/>
            <a:tailEnd type="none" w="med" len="med"/>
          </a:ln>
        </p:spPr>
      </p:cxnSp>
      <p:cxnSp>
        <p:nvCxnSpPr>
          <p:cNvPr id="20487" name="直接连接符 7"/>
          <p:cNvCxnSpPr/>
          <p:nvPr/>
        </p:nvCxnSpPr>
        <p:spPr>
          <a:xfrm flipH="1">
            <a:off x="5868353" y="3303588"/>
            <a:ext cx="792162" cy="1079500"/>
          </a:xfrm>
          <a:prstGeom prst="line">
            <a:avLst/>
          </a:prstGeom>
          <a:ln w="28575" cap="flat" cmpd="sng">
            <a:solidFill>
              <a:srgbClr val="000000"/>
            </a:solidFill>
            <a:prstDash val="solid"/>
            <a:miter/>
            <a:headEnd type="none" w="med" len="med"/>
            <a:tailEnd type="none" w="med" len="med"/>
          </a:ln>
        </p:spPr>
      </p:cxnSp>
      <p:cxnSp>
        <p:nvCxnSpPr>
          <p:cNvPr id="20488" name="直接连接符 9"/>
          <p:cNvCxnSpPr/>
          <p:nvPr/>
        </p:nvCxnSpPr>
        <p:spPr>
          <a:xfrm flipH="1">
            <a:off x="6660515" y="3303588"/>
            <a:ext cx="2232025" cy="0"/>
          </a:xfrm>
          <a:prstGeom prst="line">
            <a:avLst/>
          </a:prstGeom>
          <a:ln w="28575" cap="flat" cmpd="sng">
            <a:solidFill>
              <a:srgbClr val="000000"/>
            </a:solidFill>
            <a:prstDash val="solid"/>
            <a:miter/>
            <a:headEnd type="none" w="med" len="med"/>
            <a:tailEnd type="none" w="med" len="med"/>
          </a:ln>
        </p:spPr>
      </p:cxnSp>
      <p:cxnSp>
        <p:nvCxnSpPr>
          <p:cNvPr id="20489" name="直接连接符 10"/>
          <p:cNvCxnSpPr/>
          <p:nvPr/>
        </p:nvCxnSpPr>
        <p:spPr>
          <a:xfrm flipH="1">
            <a:off x="6746240" y="5395913"/>
            <a:ext cx="2254250" cy="0"/>
          </a:xfrm>
          <a:prstGeom prst="line">
            <a:avLst/>
          </a:prstGeom>
          <a:ln w="28575" cap="flat" cmpd="sng">
            <a:solidFill>
              <a:srgbClr val="000000"/>
            </a:solidFill>
            <a:prstDash val="solid"/>
            <a:miter/>
            <a:headEnd type="none" w="med" len="med"/>
            <a:tailEnd type="none" w="med" len="med"/>
          </a:ln>
        </p:spPr>
      </p:cxnSp>
      <p:cxnSp>
        <p:nvCxnSpPr>
          <p:cNvPr id="20490" name="直接连接符 11"/>
          <p:cNvCxnSpPr/>
          <p:nvPr/>
        </p:nvCxnSpPr>
        <p:spPr>
          <a:xfrm flipV="1">
            <a:off x="6660515" y="5395913"/>
            <a:ext cx="85725" cy="211137"/>
          </a:xfrm>
          <a:prstGeom prst="line">
            <a:avLst/>
          </a:prstGeom>
          <a:ln w="28575" cap="flat" cmpd="sng">
            <a:solidFill>
              <a:srgbClr val="000000"/>
            </a:solidFill>
            <a:prstDash val="solid"/>
            <a:miter/>
            <a:headEnd type="none" w="med" len="med"/>
            <a:tailEnd type="none" w="med" len="med"/>
          </a:ln>
        </p:spPr>
      </p:cxnSp>
      <p:cxnSp>
        <p:nvCxnSpPr>
          <p:cNvPr id="20491" name="直接连接符 12"/>
          <p:cNvCxnSpPr/>
          <p:nvPr/>
        </p:nvCxnSpPr>
        <p:spPr>
          <a:xfrm flipH="1" flipV="1">
            <a:off x="2861310" y="6324918"/>
            <a:ext cx="84138" cy="212725"/>
          </a:xfrm>
          <a:prstGeom prst="line">
            <a:avLst/>
          </a:prstGeom>
          <a:ln w="28575" cap="flat" cmpd="sng">
            <a:solidFill>
              <a:srgbClr val="000000"/>
            </a:solidFill>
            <a:prstDash val="solid"/>
            <a:miter/>
            <a:headEnd type="none" w="med" len="med"/>
            <a:tailEnd type="none" w="med" len="med"/>
          </a:ln>
        </p:spPr>
      </p:cxnSp>
      <p:cxnSp>
        <p:nvCxnSpPr>
          <p:cNvPr id="20492" name="直接连接符 13"/>
          <p:cNvCxnSpPr/>
          <p:nvPr/>
        </p:nvCxnSpPr>
        <p:spPr>
          <a:xfrm flipH="1">
            <a:off x="268923" y="6324918"/>
            <a:ext cx="2592387" cy="0"/>
          </a:xfrm>
          <a:prstGeom prst="line">
            <a:avLst/>
          </a:prstGeom>
          <a:ln w="28575" cap="flat" cmpd="sng">
            <a:solidFill>
              <a:srgbClr val="000000"/>
            </a:solidFill>
            <a:prstDash val="solid"/>
            <a:miter/>
            <a:headEnd type="none" w="med" len="med"/>
            <a:tailEnd type="none" w="med" len="med"/>
          </a:ln>
        </p:spPr>
      </p:cxnSp>
      <p:sp>
        <p:nvSpPr>
          <p:cNvPr id="20493" name="矩形 14"/>
          <p:cNvSpPr/>
          <p:nvPr/>
        </p:nvSpPr>
        <p:spPr>
          <a:xfrm>
            <a:off x="828040" y="1773238"/>
            <a:ext cx="3738880" cy="1168400"/>
          </a:xfrm>
          <a:prstGeom prst="rect">
            <a:avLst/>
          </a:prstGeom>
          <a:noFill/>
          <a:ln w="9525">
            <a:noFill/>
          </a:ln>
        </p:spPr>
        <p:txBody>
          <a:bodyPr wrap="none" anchor="t">
            <a:spAutoFit/>
          </a:bodyPr>
          <a:lstStyle/>
          <a:p>
            <a:pPr defTabSz="457200">
              <a:spcAft>
                <a:spcPts val="0"/>
              </a:spcAft>
            </a:pPr>
            <a:r>
              <a:rPr lang="zh-CN" altLang="en-US" sz="1400" dirty="0">
                <a:solidFill>
                  <a:srgbClr val="000000"/>
                </a:solidFill>
                <a:latin typeface="黑体" panose="02010609060101010101" charset="-122"/>
                <a:ea typeface="黑体" panose="02010609060101010101" charset="-122"/>
                <a:cs typeface="黑体" panose="02010609060101010101" charset="-122"/>
              </a:rPr>
              <a:t>英语，是大学学习最重要的学习内容之一！！</a:t>
            </a:r>
            <a:endParaRPr lang="en-US" altLang="zh-CN" sz="14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400" dirty="0">
                <a:solidFill>
                  <a:srgbClr val="000000"/>
                </a:solidFill>
                <a:latin typeface="黑体" panose="02010609060101010101" charset="-122"/>
                <a:ea typeface="黑体" panose="02010609060101010101" charset="-122"/>
                <a:cs typeface="黑体" panose="02010609060101010101" charset="-122"/>
              </a:rPr>
              <a:t>世界上的科技文献，</a:t>
            </a:r>
            <a:r>
              <a:rPr lang="en-US" altLang="zh-CN" sz="1400" dirty="0">
                <a:solidFill>
                  <a:srgbClr val="000000"/>
                </a:solidFill>
                <a:latin typeface="黑体" panose="02010609060101010101" charset="-122"/>
                <a:ea typeface="黑体" panose="02010609060101010101" charset="-122"/>
                <a:cs typeface="黑体" panose="02010609060101010101" charset="-122"/>
              </a:rPr>
              <a:t>90%</a:t>
            </a:r>
            <a:r>
              <a:rPr lang="zh-CN" altLang="en-US" sz="1400" dirty="0">
                <a:solidFill>
                  <a:srgbClr val="000000"/>
                </a:solidFill>
                <a:latin typeface="黑体" panose="02010609060101010101" charset="-122"/>
                <a:ea typeface="黑体" panose="02010609060101010101" charset="-122"/>
                <a:cs typeface="黑体" panose="02010609060101010101" charset="-122"/>
              </a:rPr>
              <a:t>以上由英语书写。</a:t>
            </a:r>
            <a:endParaRPr lang="en-US" altLang="zh-CN" sz="14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400" dirty="0">
                <a:solidFill>
                  <a:srgbClr val="000000"/>
                </a:solidFill>
                <a:latin typeface="黑体" panose="02010609060101010101" charset="-122"/>
                <a:ea typeface="黑体" panose="02010609060101010101" charset="-122"/>
                <a:cs typeface="黑体" panose="02010609060101010101" charset="-122"/>
              </a:rPr>
              <a:t>世界上最发达的国家，暂时还是英语国家。</a:t>
            </a:r>
            <a:endParaRPr lang="en-US" altLang="zh-CN" sz="14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400" dirty="0">
                <a:solidFill>
                  <a:srgbClr val="000000"/>
                </a:solidFill>
                <a:latin typeface="黑体" panose="02010609060101010101" charset="-122"/>
                <a:ea typeface="黑体" panose="02010609060101010101" charset="-122"/>
                <a:cs typeface="黑体" panose="02010609060101010101" charset="-122"/>
              </a:rPr>
              <a:t>如果你想深造，英语是敲门砖。</a:t>
            </a:r>
            <a:endParaRPr lang="en-US" altLang="zh-CN" sz="14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400" dirty="0">
                <a:solidFill>
                  <a:srgbClr val="000000"/>
                </a:solidFill>
                <a:latin typeface="黑体" panose="02010609060101010101" charset="-122"/>
                <a:ea typeface="黑体" panose="02010609060101010101" charset="-122"/>
                <a:cs typeface="黑体" panose="02010609060101010101" charset="-122"/>
              </a:rPr>
              <a:t>如果你想去一流企事业工作，英语是基本功。</a:t>
            </a:r>
          </a:p>
        </p:txBody>
      </p:sp>
      <p:sp>
        <p:nvSpPr>
          <p:cNvPr id="20494" name="矩形 15"/>
          <p:cNvSpPr/>
          <p:nvPr/>
        </p:nvSpPr>
        <p:spPr>
          <a:xfrm>
            <a:off x="5652770" y="1981835"/>
            <a:ext cx="3319780" cy="1322070"/>
          </a:xfrm>
          <a:prstGeom prst="rect">
            <a:avLst/>
          </a:prstGeom>
          <a:noFill/>
          <a:ln w="9525">
            <a:noFill/>
          </a:ln>
        </p:spPr>
        <p:txBody>
          <a:bodyPr wrap="square" anchor="t">
            <a:spAutoFit/>
          </a:bodyPr>
          <a:lstStyle/>
          <a:p>
            <a:pPr defTabSz="457200">
              <a:spcAft>
                <a:spcPts val="0"/>
              </a:spcAft>
            </a:pPr>
            <a:r>
              <a:rPr lang="zh-CN" altLang="en-US" sz="1600" dirty="0">
                <a:solidFill>
                  <a:srgbClr val="000000"/>
                </a:solidFill>
                <a:latin typeface="黑体" panose="02010609060101010101" charset="-122"/>
                <a:ea typeface="黑体" panose="02010609060101010101" charset="-122"/>
              </a:rPr>
              <a:t>发明创造，从调研开始。</a:t>
            </a:r>
            <a:endParaRPr lang="en-US" altLang="zh-CN" sz="1600"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600" dirty="0">
                <a:solidFill>
                  <a:srgbClr val="000000"/>
                </a:solidFill>
                <a:latin typeface="黑体" panose="02010609060101010101" charset="-122"/>
                <a:ea typeface="黑体" panose="02010609060101010101" charset="-122"/>
              </a:rPr>
              <a:t>论文写作，从综述开始。</a:t>
            </a:r>
            <a:endParaRPr lang="en-US" altLang="zh-CN" sz="1600"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600" dirty="0">
                <a:solidFill>
                  <a:srgbClr val="000000"/>
                </a:solidFill>
                <a:latin typeface="黑体" panose="02010609060101010101" charset="-122"/>
                <a:ea typeface="黑体" panose="02010609060101010101" charset="-122"/>
              </a:rPr>
              <a:t>不了解行情的技术开发，必然失败。</a:t>
            </a:r>
            <a:endParaRPr lang="en-US" altLang="zh-CN" sz="1600"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600" dirty="0">
                <a:solidFill>
                  <a:srgbClr val="000000"/>
                </a:solidFill>
                <a:latin typeface="黑体" panose="02010609060101010101" charset="-122"/>
                <a:ea typeface="黑体" panose="02010609060101010101" charset="-122"/>
              </a:rPr>
              <a:t>拍脑袋的创新，是民科干的事。</a:t>
            </a:r>
            <a:endParaRPr lang="en-US" altLang="zh-CN" sz="1600" dirty="0">
              <a:solidFill>
                <a:srgbClr val="000000"/>
              </a:solidFill>
              <a:latin typeface="黑体" panose="02010609060101010101" charset="-122"/>
              <a:ea typeface="黑体" panose="02010609060101010101" charset="-122"/>
            </a:endParaRPr>
          </a:p>
          <a:p>
            <a:pPr defTabSz="457200">
              <a:spcBef>
                <a:spcPts val="0"/>
              </a:spcBef>
            </a:pPr>
            <a:r>
              <a:rPr lang="zh-CN" altLang="en-US" sz="1600" dirty="0">
                <a:solidFill>
                  <a:srgbClr val="000000"/>
                </a:solidFill>
                <a:latin typeface="黑体" panose="02010609060101010101" charset="-122"/>
                <a:ea typeface="黑体" panose="02010609060101010101" charset="-122"/>
              </a:rPr>
              <a:t>洞察宽广，才靠谱。</a:t>
            </a:r>
          </a:p>
        </p:txBody>
      </p:sp>
      <p:sp>
        <p:nvSpPr>
          <p:cNvPr id="20495" name="矩形 16"/>
          <p:cNvSpPr/>
          <p:nvPr/>
        </p:nvSpPr>
        <p:spPr>
          <a:xfrm>
            <a:off x="35878" y="4940618"/>
            <a:ext cx="3027680" cy="1383665"/>
          </a:xfrm>
          <a:prstGeom prst="rect">
            <a:avLst/>
          </a:prstGeom>
          <a:noFill/>
          <a:ln w="9525">
            <a:noFill/>
          </a:ln>
        </p:spPr>
        <p:txBody>
          <a:bodyPr wrap="none" anchor="t">
            <a:spAutoFit/>
          </a:bodyPr>
          <a:lstStyle/>
          <a:p>
            <a:pPr defTabSz="457200">
              <a:spcAft>
                <a:spcPts val="0"/>
              </a:spcAft>
            </a:pPr>
            <a:r>
              <a:rPr lang="zh-CN" altLang="en-US" sz="1400" dirty="0">
                <a:solidFill>
                  <a:srgbClr val="000000"/>
                </a:solidFill>
                <a:latin typeface="黑体" panose="02010609060101010101" charset="-122"/>
                <a:ea typeface="黑体" panose="02010609060101010101" charset="-122"/>
              </a:rPr>
              <a:t>美学，贯穿世界。</a:t>
            </a:r>
            <a:endParaRPr lang="en-US" altLang="zh-CN" sz="1400"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400" dirty="0">
                <a:solidFill>
                  <a:srgbClr val="000000"/>
                </a:solidFill>
                <a:latin typeface="黑体" panose="02010609060101010101" charset="-122"/>
                <a:ea typeface="黑体" panose="02010609060101010101" charset="-122"/>
              </a:rPr>
              <a:t>论文和报告也是讲颜值的！！</a:t>
            </a:r>
            <a:endParaRPr lang="en-US" altLang="zh-CN" sz="1400"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400" dirty="0">
                <a:solidFill>
                  <a:srgbClr val="000000"/>
                </a:solidFill>
                <a:latin typeface="黑体" panose="02010609060101010101" charset="-122"/>
                <a:ea typeface="黑体" panose="02010609060101010101" charset="-122"/>
              </a:rPr>
              <a:t>逻辑、行文是科技表达的身材，</a:t>
            </a:r>
            <a:endParaRPr lang="en-US" altLang="zh-CN" sz="1400"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400" dirty="0">
                <a:solidFill>
                  <a:srgbClr val="000000"/>
                </a:solidFill>
                <a:latin typeface="黑体" panose="02010609060101010101" charset="-122"/>
                <a:ea typeface="黑体" panose="02010609060101010101" charset="-122"/>
              </a:rPr>
              <a:t>图文并茂是科技表达的脸蛋，</a:t>
            </a:r>
            <a:endParaRPr lang="en-US" altLang="zh-CN" sz="1400"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400" dirty="0">
                <a:solidFill>
                  <a:srgbClr val="000000"/>
                </a:solidFill>
                <a:latin typeface="黑体" panose="02010609060101010101" charset="-122"/>
                <a:ea typeface="黑体" panose="02010609060101010101" charset="-122"/>
              </a:rPr>
              <a:t>如果你不够满意你的天生颜值，</a:t>
            </a:r>
            <a:endParaRPr lang="en-US" altLang="zh-CN" sz="1400" dirty="0">
              <a:solidFill>
                <a:srgbClr val="000000"/>
              </a:solidFill>
              <a:latin typeface="黑体" panose="02010609060101010101" charset="-122"/>
              <a:ea typeface="黑体" panose="02010609060101010101" charset="-122"/>
            </a:endParaRPr>
          </a:p>
          <a:p>
            <a:pPr defTabSz="457200">
              <a:spcBef>
                <a:spcPts val="0"/>
              </a:spcBef>
            </a:pPr>
            <a:r>
              <a:rPr lang="zh-CN" altLang="en-US" sz="1400" dirty="0">
                <a:solidFill>
                  <a:srgbClr val="000000"/>
                </a:solidFill>
                <a:latin typeface="黑体" panose="02010609060101010101" charset="-122"/>
                <a:ea typeface="黑体" panose="02010609060101010101" charset="-122"/>
              </a:rPr>
              <a:t>现在你的嘴和手能给你第二次机会。</a:t>
            </a:r>
          </a:p>
        </p:txBody>
      </p:sp>
      <p:sp>
        <p:nvSpPr>
          <p:cNvPr id="20496" name="矩形 17"/>
          <p:cNvSpPr/>
          <p:nvPr/>
        </p:nvSpPr>
        <p:spPr>
          <a:xfrm>
            <a:off x="6452235" y="4005580"/>
            <a:ext cx="2648585" cy="1291590"/>
          </a:xfrm>
          <a:prstGeom prst="rect">
            <a:avLst/>
          </a:prstGeom>
          <a:noFill/>
          <a:ln w="9525">
            <a:noFill/>
          </a:ln>
        </p:spPr>
        <p:txBody>
          <a:bodyPr wrap="square" anchor="t">
            <a:spAutoFit/>
          </a:bodyPr>
          <a:lstStyle/>
          <a:p>
            <a:pPr algn="l" defTabSz="457200">
              <a:spcAft>
                <a:spcPts val="0"/>
              </a:spcAft>
            </a:pPr>
            <a:r>
              <a:rPr lang="zh-CN" altLang="en-US" sz="1600" dirty="0">
                <a:solidFill>
                  <a:srgbClr val="000000"/>
                </a:solidFill>
                <a:latin typeface="黑体" panose="02010609060101010101" charset="-122"/>
                <a:ea typeface="黑体" panose="02010609060101010101" charset="-122"/>
                <a:cs typeface="黑体" panose="02010609060101010101" charset="-122"/>
              </a:rPr>
              <a:t>科学思想，</a:t>
            </a:r>
            <a:endParaRPr lang="en-US" altLang="zh-CN" sz="1600" dirty="0">
              <a:solidFill>
                <a:srgbClr val="000000"/>
              </a:solidFill>
              <a:latin typeface="黑体" panose="02010609060101010101" charset="-122"/>
              <a:ea typeface="黑体" panose="02010609060101010101" charset="-122"/>
              <a:cs typeface="黑体" panose="02010609060101010101" charset="-122"/>
            </a:endParaRPr>
          </a:p>
          <a:p>
            <a:pPr algn="l" defTabSz="457200">
              <a:spcBef>
                <a:spcPts val="0"/>
              </a:spcBef>
              <a:spcAft>
                <a:spcPts val="0"/>
              </a:spcAft>
            </a:pPr>
            <a:r>
              <a:rPr lang="zh-CN" altLang="en-US" sz="1600" dirty="0">
                <a:solidFill>
                  <a:srgbClr val="000000"/>
                </a:solidFill>
                <a:latin typeface="黑体" panose="02010609060101010101" charset="-122"/>
                <a:ea typeface="黑体" panose="02010609060101010101" charset="-122"/>
                <a:cs typeface="黑体" panose="02010609060101010101" charset="-122"/>
              </a:rPr>
              <a:t>核心为深刻探索的批判精神。</a:t>
            </a:r>
            <a:endParaRPr lang="en-US" altLang="zh-CN" sz="1600" dirty="0">
              <a:solidFill>
                <a:srgbClr val="000000"/>
              </a:solidFill>
              <a:latin typeface="黑体" panose="02010609060101010101" charset="-122"/>
              <a:ea typeface="黑体" panose="02010609060101010101" charset="-122"/>
              <a:cs typeface="黑体" panose="02010609060101010101" charset="-122"/>
            </a:endParaRPr>
          </a:p>
          <a:p>
            <a:pPr algn="l" defTabSz="457200">
              <a:spcBef>
                <a:spcPts val="0"/>
              </a:spcBef>
              <a:spcAft>
                <a:spcPts val="0"/>
              </a:spcAft>
            </a:pPr>
            <a:r>
              <a:rPr lang="en-US" altLang="zh-CN" sz="1600" dirty="0">
                <a:solidFill>
                  <a:srgbClr val="000000"/>
                </a:solidFill>
                <a:latin typeface="黑体" panose="02010609060101010101" charset="-122"/>
                <a:ea typeface="黑体" panose="02010609060101010101" charset="-122"/>
                <a:cs typeface="黑体" panose="02010609060101010101" charset="-122"/>
              </a:rPr>
              <a:t>  </a:t>
            </a:r>
            <a:r>
              <a:rPr lang="zh-CN" altLang="en-US" sz="1600" dirty="0">
                <a:solidFill>
                  <a:srgbClr val="000000"/>
                </a:solidFill>
                <a:latin typeface="黑体" panose="02010609060101010101" charset="-122"/>
                <a:ea typeface="黑体" panose="02010609060101010101" charset="-122"/>
                <a:cs typeface="黑体" panose="02010609060101010101" charset="-122"/>
              </a:rPr>
              <a:t>发现、分析、解决问题</a:t>
            </a:r>
            <a:endParaRPr lang="en-US" altLang="zh-CN" sz="1600" dirty="0">
              <a:solidFill>
                <a:srgbClr val="000000"/>
              </a:solidFill>
              <a:latin typeface="黑体" panose="02010609060101010101" charset="-122"/>
              <a:ea typeface="黑体" panose="02010609060101010101" charset="-122"/>
              <a:cs typeface="黑体" panose="02010609060101010101" charset="-122"/>
            </a:endParaRPr>
          </a:p>
          <a:p>
            <a:pPr algn="l" defTabSz="457200">
              <a:spcBef>
                <a:spcPts val="0"/>
              </a:spcBef>
              <a:spcAft>
                <a:spcPts val="0"/>
              </a:spcAft>
            </a:pPr>
            <a:r>
              <a:rPr lang="en-US" altLang="zh-CN" sz="1600" dirty="0">
                <a:solidFill>
                  <a:srgbClr val="000000"/>
                </a:solidFill>
                <a:latin typeface="黑体" panose="02010609060101010101" charset="-122"/>
                <a:ea typeface="黑体" panose="02010609060101010101" charset="-122"/>
                <a:cs typeface="黑体" panose="02010609060101010101" charset="-122"/>
              </a:rPr>
              <a:t>   </a:t>
            </a:r>
            <a:r>
              <a:rPr lang="zh-CN" altLang="en-US" sz="1600" dirty="0">
                <a:solidFill>
                  <a:srgbClr val="000000"/>
                </a:solidFill>
                <a:latin typeface="黑体" panose="02010609060101010101" charset="-122"/>
                <a:ea typeface="黑体" panose="02010609060101010101" charset="-122"/>
                <a:cs typeface="黑体" panose="02010609060101010101" charset="-122"/>
              </a:rPr>
              <a:t>科学进步三要素</a:t>
            </a:r>
            <a:endParaRPr lang="en-US" altLang="zh-CN" sz="1600" dirty="0">
              <a:solidFill>
                <a:srgbClr val="000000"/>
              </a:solidFill>
              <a:latin typeface="黑体" panose="02010609060101010101" charset="-122"/>
              <a:ea typeface="黑体" panose="02010609060101010101" charset="-122"/>
              <a:cs typeface="黑体" panose="02010609060101010101" charset="-122"/>
            </a:endParaRPr>
          </a:p>
          <a:p>
            <a:pPr algn="r" defTabSz="457200">
              <a:spcBef>
                <a:spcPts val="0"/>
              </a:spcBef>
            </a:pPr>
            <a:r>
              <a:rPr lang="zh-CN" altLang="en-US" sz="1400" dirty="0">
                <a:solidFill>
                  <a:srgbClr val="000000"/>
                </a:solidFill>
                <a:latin typeface="黑体" panose="02010609060101010101" charset="-122"/>
                <a:ea typeface="黑体" panose="02010609060101010101" charset="-122"/>
                <a:cs typeface="黑体" panose="02010609060101010101" charset="-122"/>
              </a:rPr>
              <a:t> </a:t>
            </a:r>
            <a:r>
              <a:rPr lang="zh-CN" altLang="en-US" sz="1400" dirty="0">
                <a:solidFill>
                  <a:srgbClr val="000000"/>
                </a:solidFill>
                <a:latin typeface="黑体" panose="02010609060101010101" charset="-122"/>
                <a:ea typeface="黑体" panose="02010609060101010101" charset="-122"/>
                <a:cs typeface="黑体" panose="02010609060101010101" charset="-122"/>
                <a:sym typeface="+mn-ea"/>
              </a:rPr>
              <a:t>发明</a:t>
            </a:r>
            <a:r>
              <a:rPr lang="zh-CN" altLang="en-US" sz="1400" dirty="0">
                <a:solidFill>
                  <a:srgbClr val="000000"/>
                </a:solidFill>
                <a:latin typeface="黑体" panose="02010609060101010101" charset="-122"/>
                <a:ea typeface="黑体" panose="02010609060101010101" charset="-122"/>
                <a:cs typeface="黑体" panose="02010609060101010101" charset="-122"/>
              </a:rPr>
              <a:t>创新，改变世界！</a:t>
            </a:r>
          </a:p>
        </p:txBody>
      </p:sp>
      <p:pic>
        <p:nvPicPr>
          <p:cNvPr id="100" name="图片 99"/>
          <p:cNvPicPr/>
          <p:nvPr/>
        </p:nvPicPr>
        <p:blipFill>
          <a:blip r:embed="rId11"/>
          <a:stretch>
            <a:fillRect/>
          </a:stretch>
        </p:blipFill>
        <p:spPr>
          <a:xfrm>
            <a:off x="1202055" y="3068955"/>
            <a:ext cx="1704340" cy="999490"/>
          </a:xfrm>
          <a:prstGeom prst="rect">
            <a:avLst/>
          </a:prstGeom>
          <a:noFill/>
          <a:ln w="9525">
            <a:noFill/>
          </a:ln>
        </p:spPr>
      </p:pic>
      <p:pic>
        <p:nvPicPr>
          <p:cNvPr id="101" name="图片 100"/>
          <p:cNvPicPr/>
          <p:nvPr/>
        </p:nvPicPr>
        <p:blipFill>
          <a:blip r:embed="rId12"/>
          <a:stretch>
            <a:fillRect/>
          </a:stretch>
        </p:blipFill>
        <p:spPr>
          <a:xfrm>
            <a:off x="323850" y="3013710"/>
            <a:ext cx="699770" cy="1135380"/>
          </a:xfrm>
          <a:prstGeom prst="rect">
            <a:avLst/>
          </a:prstGeom>
          <a:noFill/>
          <a:ln w="9525">
            <a:noFill/>
          </a:ln>
        </p:spPr>
      </p:pic>
      <p:sp>
        <p:nvSpPr>
          <p:cNvPr id="2" name="文本框 1"/>
          <p:cNvSpPr txBox="1"/>
          <p:nvPr/>
        </p:nvSpPr>
        <p:spPr>
          <a:xfrm>
            <a:off x="36195" y="4149090"/>
            <a:ext cx="3637280" cy="645160"/>
          </a:xfrm>
          <a:prstGeom prst="rect">
            <a:avLst/>
          </a:prstGeom>
          <a:noFill/>
        </p:spPr>
        <p:txBody>
          <a:bodyPr wrap="square" rtlCol="0" anchor="t">
            <a:spAutoFit/>
          </a:bodyPr>
          <a:lstStyle/>
          <a:p>
            <a:pPr>
              <a:spcAft>
                <a:spcPts val="0"/>
              </a:spcAft>
            </a:pPr>
            <a:r>
              <a:rPr lang="zh-CN" altLang="en-US" sz="1200">
                <a:solidFill>
                  <a:srgbClr val="FF0000"/>
                </a:solidFill>
              </a:rPr>
              <a:t>在文章中，徐寿对传统声学定律“空气柱的振动模式”（即伯努利定律）提出质疑，并用现代的科学矫正了一项古老的定律。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93"/>
                                        </p:tgtEl>
                                        <p:attrNameLst>
                                          <p:attrName>style.visibility</p:attrName>
                                        </p:attrNameLst>
                                      </p:cBhvr>
                                      <p:to>
                                        <p:strVal val="visible"/>
                                      </p:to>
                                    </p:set>
                                    <p:animEffect transition="in" filter="blinds(horizontal)">
                                      <p:cBhvr>
                                        <p:cTn id="7" dur="500"/>
                                        <p:tgtEl>
                                          <p:spTgt spid="20493"/>
                                        </p:tgtEl>
                                      </p:cBhvr>
                                    </p:animEffect>
                                  </p:childTnLst>
                                </p:cTn>
                              </p:par>
                              <p:par>
                                <p:cTn id="8" presetID="3" presetClass="entr" presetSubtype="10" fill="hold" nodeType="withEffect">
                                  <p:stCondLst>
                                    <p:cond delay="0"/>
                                  </p:stCondLst>
                                  <p:childTnLst>
                                    <p:set>
                                      <p:cBhvr>
                                        <p:cTn id="9" dur="1" fill="hold">
                                          <p:stCondLst>
                                            <p:cond delay="0"/>
                                          </p:stCondLst>
                                        </p:cTn>
                                        <p:tgtEl>
                                          <p:spTgt spid="20485"/>
                                        </p:tgtEl>
                                        <p:attrNameLst>
                                          <p:attrName>style.visibility</p:attrName>
                                        </p:attrNameLst>
                                      </p:cBhvr>
                                      <p:to>
                                        <p:strVal val="visible"/>
                                      </p:to>
                                    </p:set>
                                    <p:animEffect transition="in" filter="blinds(horizontal)">
                                      <p:cBhvr>
                                        <p:cTn id="10" dur="500"/>
                                        <p:tgtEl>
                                          <p:spTgt spid="20485"/>
                                        </p:tgtEl>
                                      </p:cBhvr>
                                    </p:animEffect>
                                  </p:childTnLst>
                                </p:cTn>
                              </p:par>
                              <p:par>
                                <p:cTn id="11" presetID="2" presetClass="entr" presetSubtype="4" fill="hold" nodeType="with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ppt_x</p:attrName>
                                        </p:attrNameLst>
                                      </p:cBhvr>
                                      <p:tavLst>
                                        <p:tav tm="0">
                                          <p:val>
                                            <p:strVal val="#ppt_x"/>
                                          </p:val>
                                        </p:tav>
                                        <p:tav tm="100000">
                                          <p:val>
                                            <p:strVal val="#ppt_x"/>
                                          </p:val>
                                        </p:tav>
                                      </p:tavLst>
                                    </p:anim>
                                    <p:anim calcmode="lin" valueType="num">
                                      <p:cBhvr additive="base">
                                        <p:cTn id="14" dur="500" fill="hold"/>
                                        <p:tgtEl>
                                          <p:spTgt spid="10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1"/>
                                        </p:tgtEl>
                                        <p:attrNameLst>
                                          <p:attrName>style.visibility</p:attrName>
                                        </p:attrNameLst>
                                      </p:cBhvr>
                                      <p:to>
                                        <p:strVal val="visible"/>
                                      </p:to>
                                    </p:set>
                                    <p:anim calcmode="lin" valueType="num">
                                      <p:cBhvr additive="base">
                                        <p:cTn id="21" dur="500" fill="hold"/>
                                        <p:tgtEl>
                                          <p:spTgt spid="101"/>
                                        </p:tgtEl>
                                        <p:attrNameLst>
                                          <p:attrName>ppt_x</p:attrName>
                                        </p:attrNameLst>
                                      </p:cBhvr>
                                      <p:tavLst>
                                        <p:tav tm="0">
                                          <p:val>
                                            <p:strVal val="#ppt_x"/>
                                          </p:val>
                                        </p:tav>
                                        <p:tav tm="100000">
                                          <p:val>
                                            <p:strVal val="#ppt_x"/>
                                          </p:val>
                                        </p:tav>
                                      </p:tavLst>
                                    </p:anim>
                                    <p:anim calcmode="lin" valueType="num">
                                      <p:cBhvr additive="base">
                                        <p:cTn id="22"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495"/>
                                        </p:tgtEl>
                                        <p:attrNameLst>
                                          <p:attrName>style.visibility</p:attrName>
                                        </p:attrNameLst>
                                      </p:cBhvr>
                                      <p:to>
                                        <p:strVal val="visible"/>
                                      </p:to>
                                    </p:set>
                                    <p:animEffect transition="in" filter="blinds(horizontal)">
                                      <p:cBhvr>
                                        <p:cTn id="27" dur="500"/>
                                        <p:tgtEl>
                                          <p:spTgt spid="2049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0494"/>
                                        </p:tgtEl>
                                        <p:attrNameLst>
                                          <p:attrName>style.visibility</p:attrName>
                                        </p:attrNameLst>
                                      </p:cBhvr>
                                      <p:to>
                                        <p:strVal val="visible"/>
                                      </p:to>
                                    </p:set>
                                    <p:animEffect transition="in" filter="box(in)">
                                      <p:cBhvr>
                                        <p:cTn id="32" dur="2000"/>
                                        <p:tgtEl>
                                          <p:spTgt spid="20494"/>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0496"/>
                                        </p:tgtEl>
                                        <p:attrNameLst>
                                          <p:attrName>style.visibility</p:attrName>
                                        </p:attrNameLst>
                                      </p:cBhvr>
                                      <p:to>
                                        <p:strVal val="visible"/>
                                      </p:to>
                                    </p:set>
                                    <p:animEffect transition="in" filter="checkerboard(across)">
                                      <p:cBhvr>
                                        <p:cTn id="37" dur="500"/>
                                        <p:tgtEl>
                                          <p:spTgt spid="20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3" grpId="0"/>
      <p:bldP spid="20494" grpId="0"/>
      <p:bldP spid="20495" grpId="0"/>
      <p:bldP spid="20496" grpId="0"/>
      <p:bldP spid="2" grpId="0"/>
      <p:bldP spid="2" grpId="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pic>
        <p:nvPicPr>
          <p:cNvPr id="21507" name="图片 3"/>
          <p:cNvPicPr>
            <a:picLocks noChangeAspect="1"/>
          </p:cNvPicPr>
          <p:nvPr/>
        </p:nvPicPr>
        <p:blipFill>
          <a:blip r:embed="rId5"/>
          <a:stretch>
            <a:fillRect/>
          </a:stretch>
        </p:blipFill>
        <p:spPr>
          <a:xfrm>
            <a:off x="7105650" y="1771650"/>
            <a:ext cx="2038350" cy="2879725"/>
          </a:xfrm>
          <a:prstGeom prst="rect">
            <a:avLst/>
          </a:prstGeom>
          <a:noFill/>
          <a:ln w="9525">
            <a:noFill/>
          </a:ln>
        </p:spPr>
      </p:pic>
      <p:sp>
        <p:nvSpPr>
          <p:cNvPr id="21508" name="矩形 4"/>
          <p:cNvSpPr/>
          <p:nvPr/>
        </p:nvSpPr>
        <p:spPr>
          <a:xfrm>
            <a:off x="1349375" y="1123950"/>
            <a:ext cx="6840855" cy="645160"/>
          </a:xfrm>
          <a:prstGeom prst="rect">
            <a:avLst/>
          </a:prstGeom>
          <a:noFill/>
          <a:ln w="9525">
            <a:noFill/>
          </a:ln>
        </p:spPr>
        <p:txBody>
          <a:bodyPr wrap="none" anchor="t">
            <a:spAutoFit/>
          </a:bodyPr>
          <a:lstStyle/>
          <a:p>
            <a:pPr defTabSz="457200">
              <a:spcAft>
                <a:spcPts val="0"/>
              </a:spcAft>
            </a:pPr>
            <a:r>
              <a:rPr lang="zh-CN" altLang="en-US" sz="3600" b="1" dirty="0">
                <a:solidFill>
                  <a:srgbClr val="000000"/>
                </a:solidFill>
                <a:latin typeface="黑体" panose="02010609060101010101" charset="-122"/>
                <a:ea typeface="黑体" panose="02010609060101010101" charset="-122"/>
                <a:cs typeface="黑体" panose="02010609060101010101" charset="-122"/>
              </a:rPr>
              <a:t>希望大家通过本课程，重点关注</a:t>
            </a:r>
            <a:r>
              <a:rPr lang="en-US" altLang="zh-CN" sz="3600" b="1" dirty="0">
                <a:solidFill>
                  <a:srgbClr val="000000"/>
                </a:solidFill>
                <a:latin typeface="黑体" panose="02010609060101010101" charset="-122"/>
                <a:ea typeface="黑体" panose="02010609060101010101" charset="-122"/>
                <a:cs typeface="黑体" panose="02010609060101010101" charset="-122"/>
              </a:rPr>
              <a:t>:</a:t>
            </a:r>
          </a:p>
        </p:txBody>
      </p:sp>
      <p:sp>
        <p:nvSpPr>
          <p:cNvPr id="6" name="等腰三角形 5"/>
          <p:cNvSpPr/>
          <p:nvPr/>
        </p:nvSpPr>
        <p:spPr>
          <a:xfrm>
            <a:off x="971550" y="1771650"/>
            <a:ext cx="2160588" cy="2160588"/>
          </a:xfrm>
          <a:prstGeom prst="triangle">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600" kern="0" noProof="0" dirty="0">
                <a:ln>
                  <a:noFill/>
                </a:ln>
                <a:solidFill>
                  <a:srgbClr val="FFFFFF"/>
                </a:solidFill>
                <a:effectLst/>
                <a:uLnTx/>
                <a:uFillTx/>
                <a:latin typeface="黑体" panose="02010609060101010101" charset="-122"/>
                <a:ea typeface="黑体" panose="02010609060101010101" charset="-122"/>
                <a:sym typeface="+mn-ea"/>
              </a:rPr>
              <a:t>Scientific horizon</a:t>
            </a:r>
            <a:endParaRPr kumimoji="0" lang="en-US" altLang="zh-CN" sz="16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7" name="圆角矩形标注 10"/>
          <p:cNvSpPr/>
          <p:nvPr/>
        </p:nvSpPr>
        <p:spPr>
          <a:xfrm>
            <a:off x="4124325" y="1843088"/>
            <a:ext cx="2592388" cy="2089150"/>
          </a:xfrm>
          <a:prstGeom prst="wedgeRoundRectCallout">
            <a:avLst>
              <a:gd name="adj1" fmla="val 65765"/>
              <a:gd name="adj2" fmla="val -35032"/>
              <a:gd name="adj3" fmla="val 16667"/>
            </a:avLst>
          </a:prstGeom>
          <a:solidFill>
            <a:srgbClr val="0070C0"/>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卡尔</a:t>
            </a:r>
            <a:r>
              <a:rPr lang="en-US" altLang="zh-CN"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a:t>
            </a:r>
            <a:r>
              <a:rPr lang="zh-CN" altLang="en-US"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马克思指出：</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方法论的精髓就是，</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透过现象看本质。</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抓住核心，找到不同，是为发展真理。</a:t>
            </a:r>
            <a:endPar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黑体" panose="02010609060101010101" charset="-122"/>
            </a:endParaRPr>
          </a:p>
        </p:txBody>
      </p:sp>
      <p:sp>
        <p:nvSpPr>
          <p:cNvPr id="21511" name="矩形 7"/>
          <p:cNvSpPr/>
          <p:nvPr/>
        </p:nvSpPr>
        <p:spPr>
          <a:xfrm>
            <a:off x="971550" y="4283075"/>
            <a:ext cx="6307138" cy="922020"/>
          </a:xfrm>
          <a:prstGeom prst="rect">
            <a:avLst/>
          </a:prstGeom>
          <a:noFill/>
          <a:ln w="9525">
            <a:noFill/>
          </a:ln>
        </p:spPr>
        <p:txBody>
          <a:bodyPr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思想内涵</a:t>
            </a:r>
            <a:r>
              <a:rPr lang="zh-CN" altLang="en-US" sz="1800" dirty="0">
                <a:solidFill>
                  <a:srgbClr val="000000"/>
                </a:solidFill>
                <a:latin typeface="黑体" panose="02010609060101010101" charset="-122"/>
                <a:ea typeface="黑体" panose="02010609060101010101" charset="-122"/>
              </a:rPr>
              <a:t>决定写作表达的高度和深度，</a:t>
            </a:r>
            <a:r>
              <a:rPr lang="zh-CN" altLang="en-US" sz="1800" b="1" dirty="0">
                <a:solidFill>
                  <a:srgbClr val="000000"/>
                </a:solidFill>
                <a:latin typeface="黑体" panose="02010609060101010101" charset="-122"/>
                <a:ea typeface="黑体" panose="02010609060101010101" charset="-122"/>
              </a:rPr>
              <a:t>视野</a:t>
            </a:r>
            <a:r>
              <a:rPr lang="zh-CN" altLang="en-US" sz="1800" dirty="0">
                <a:solidFill>
                  <a:srgbClr val="000000"/>
                </a:solidFill>
                <a:latin typeface="黑体" panose="02010609060101010101" charset="-122"/>
                <a:ea typeface="黑体" panose="02010609060101010101" charset="-122"/>
              </a:rPr>
              <a:t>决定完整性和可信度</a:t>
            </a:r>
            <a:endParaRPr lang="en-US" altLang="zh-CN" sz="1800" dirty="0">
              <a:solidFill>
                <a:srgbClr val="000000"/>
              </a:solidFill>
              <a:latin typeface="黑体" panose="02010609060101010101" charset="-122"/>
              <a:ea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rPr>
              <a:t>专业表达要言之有物，切忌无病呻吟。</a:t>
            </a:r>
          </a:p>
        </p:txBody>
      </p:sp>
      <p:graphicFrame>
        <p:nvGraphicFramePr>
          <p:cNvPr id="10" name="图示 9"/>
          <p:cNvGraphicFramePr/>
          <p:nvPr/>
        </p:nvGraphicFramePr>
        <p:xfrm>
          <a:off x="630068" y="4651872"/>
          <a:ext cx="8640961" cy="216043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11"/>
                                        </p:tgtEl>
                                        <p:attrNameLst>
                                          <p:attrName>style.visibility</p:attrName>
                                        </p:attrNameLst>
                                      </p:cBhvr>
                                      <p:to>
                                        <p:strVal val="visible"/>
                                      </p:to>
                                    </p:set>
                                    <p:anim calcmode="lin" valueType="num">
                                      <p:cBhvr additive="base">
                                        <p:cTn id="7" dur="500" fill="hold"/>
                                        <p:tgtEl>
                                          <p:spTgt spid="21511"/>
                                        </p:tgtEl>
                                        <p:attrNameLst>
                                          <p:attrName>ppt_x</p:attrName>
                                        </p:attrNameLst>
                                      </p:cBhvr>
                                      <p:tavLst>
                                        <p:tav tm="0">
                                          <p:val>
                                            <p:strVal val="#ppt_x"/>
                                          </p:val>
                                        </p:tav>
                                        <p:tav tm="100000">
                                          <p:val>
                                            <p:strVal val="#ppt_x"/>
                                          </p:val>
                                        </p:tav>
                                      </p:tavLst>
                                    </p:anim>
                                    <p:anim calcmode="lin" valueType="num">
                                      <p:cBhvr additive="base">
                                        <p:cTn id="8"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鲁迅说写作《</a:t>
            </a:r>
            <a:r>
              <a:rPr>
                <a:sym typeface="+mn-ea"/>
              </a:rPr>
              <a:t>作文秘诀</a:t>
            </a:r>
            <a:r>
              <a:rPr lang="zh-CN" altLang="en-US"/>
              <a:t>》</a:t>
            </a:r>
          </a:p>
        </p:txBody>
      </p:sp>
      <p:sp>
        <p:nvSpPr>
          <p:cNvPr id="3" name="内容占位符 2"/>
          <p:cNvSpPr>
            <a:spLocks noGrp="1"/>
          </p:cNvSpPr>
          <p:nvPr>
            <p:ph idx="1"/>
          </p:nvPr>
        </p:nvSpPr>
        <p:spPr>
          <a:xfrm>
            <a:off x="461010" y="1014730"/>
            <a:ext cx="5702935" cy="5358130"/>
          </a:xfrm>
        </p:spPr>
        <p:txBody>
          <a:bodyPr/>
          <a:lstStyle/>
          <a:p>
            <a:pPr>
              <a:spcAft>
                <a:spcPts val="0"/>
              </a:spcAft>
            </a:pPr>
            <a:r>
              <a:rPr lang="zh-CN" altLang="en-US"/>
              <a:t>“白描”却并没有秘诀。如果要说有，也不过是和障眼法反⼀调：有真意，去粉饰，少做作，勿卖弄而已。</a:t>
            </a:r>
          </a:p>
        </p:txBody>
      </p:sp>
      <p:pic>
        <p:nvPicPr>
          <p:cNvPr id="11" name="图片 11" descr="IMG_256"/>
          <p:cNvPicPr>
            <a:picLocks noChangeAspect="1"/>
          </p:cNvPicPr>
          <p:nvPr>
            <p:custDataLst>
              <p:tags r:id="rId1"/>
            </p:custDataLst>
          </p:nvPr>
        </p:nvPicPr>
        <p:blipFill>
          <a:blip r:embed="rId5"/>
          <a:stretch>
            <a:fillRect/>
          </a:stretch>
        </p:blipFill>
        <p:spPr>
          <a:xfrm>
            <a:off x="6228080" y="188595"/>
            <a:ext cx="1823085" cy="1823085"/>
          </a:xfrm>
          <a:prstGeom prst="rect">
            <a:avLst/>
          </a:prstGeom>
          <a:noFill/>
          <a:ln w="9525">
            <a:noFill/>
          </a:ln>
        </p:spPr>
      </p:pic>
      <p:pic>
        <p:nvPicPr>
          <p:cNvPr id="4" name="图片 3"/>
          <p:cNvPicPr>
            <a:picLocks noChangeAspect="1"/>
          </p:cNvPicPr>
          <p:nvPr>
            <p:custDataLst>
              <p:tags r:id="rId2"/>
            </p:custDataLst>
          </p:nvPr>
        </p:nvPicPr>
        <p:blipFill>
          <a:blip r:embed="rId6"/>
          <a:stretch>
            <a:fillRect/>
          </a:stretch>
        </p:blipFill>
        <p:spPr>
          <a:xfrm>
            <a:off x="251460" y="2379980"/>
            <a:ext cx="3302000" cy="4318000"/>
          </a:xfrm>
          <a:prstGeom prst="rect">
            <a:avLst/>
          </a:prstGeom>
        </p:spPr>
      </p:pic>
      <p:pic>
        <p:nvPicPr>
          <p:cNvPr id="5" name="图片 4"/>
          <p:cNvPicPr>
            <a:picLocks noChangeAspect="1"/>
          </p:cNvPicPr>
          <p:nvPr>
            <p:custDataLst>
              <p:tags r:id="rId3"/>
            </p:custDataLst>
          </p:nvPr>
        </p:nvPicPr>
        <p:blipFill>
          <a:blip r:embed="rId7"/>
          <a:stretch>
            <a:fillRect/>
          </a:stretch>
        </p:blipFill>
        <p:spPr>
          <a:xfrm>
            <a:off x="3923665" y="2204720"/>
            <a:ext cx="4402455" cy="3717290"/>
          </a:xfrm>
          <a:prstGeom prst="rect">
            <a:avLst/>
          </a:prstGeom>
        </p:spPr>
      </p:pic>
      <p:sp>
        <p:nvSpPr>
          <p:cNvPr id="100" name="文本框 99"/>
          <p:cNvSpPr txBox="1"/>
          <p:nvPr/>
        </p:nvSpPr>
        <p:spPr>
          <a:xfrm>
            <a:off x="3851910" y="6021070"/>
            <a:ext cx="5080000" cy="737235"/>
          </a:xfrm>
          <a:prstGeom prst="rect">
            <a:avLst/>
          </a:prstGeom>
          <a:solidFill>
            <a:schemeClr val="accent6">
              <a:lumMod val="20000"/>
              <a:lumOff val="80000"/>
            </a:schemeClr>
          </a:solidFill>
          <a:ln w="9525">
            <a:noFill/>
          </a:ln>
        </p:spPr>
        <p:txBody>
          <a:bodyPr>
            <a:spAutoFit/>
          </a:bodyPr>
          <a:lstStyle/>
          <a:p>
            <a:pPr indent="304800">
              <a:spcAft>
                <a:spcPts val="0"/>
              </a:spcAft>
            </a:pPr>
            <a:r>
              <a:rPr lang="zh-CN" sz="1400">
                <a:solidFill>
                  <a:srgbClr val="0000FF"/>
                </a:solidFill>
                <a:ea typeface="宋体" panose="02010600030101010101" pitchFamily="2" charset="-122"/>
              </a:rPr>
              <a:t>鲁迅先生借助写作秘诀的话题讽刺故意用生僻难懂的字讽刺白话文写作，最后的总结</a:t>
            </a:r>
            <a:r>
              <a:rPr lang="en-US" sz="1400">
                <a:solidFill>
                  <a:srgbClr val="0000FF"/>
                </a:solidFill>
                <a:latin typeface="仿宋_GB2312" panose="02010609030101010101" charset="-122"/>
                <a:ea typeface="宋体" panose="02010600030101010101" pitchFamily="2" charset="-122"/>
              </a:rPr>
              <a:t>“</a:t>
            </a:r>
            <a:r>
              <a:rPr lang="zh-CN" sz="1400">
                <a:solidFill>
                  <a:srgbClr val="FF0000"/>
                </a:solidFill>
                <a:ea typeface="宋体" panose="02010600030101010101" pitchFamily="2" charset="-122"/>
              </a:rPr>
              <a:t>有真意，去粉饰，少做作，勿卖弄而已。</a:t>
            </a:r>
            <a:r>
              <a:rPr lang="zh-CN" sz="1400">
                <a:solidFill>
                  <a:srgbClr val="0000FF"/>
                </a:solidFill>
                <a:ea typeface="宋体" panose="02010600030101010101" pitchFamily="2" charset="-122"/>
              </a:rPr>
              <a:t>”言简意赅，也适用于专业写作。----武刚</a:t>
            </a:r>
            <a:endParaRPr lang="zh-CN" altLang="en-US" sz="140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ldLvl="0" animBg="1"/>
      <p:bldP spid="100"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钱学森讲写作</a:t>
            </a:r>
          </a:p>
        </p:txBody>
      </p:sp>
      <p:sp>
        <p:nvSpPr>
          <p:cNvPr id="3" name="内容占位符 2"/>
          <p:cNvSpPr>
            <a:spLocks noGrp="1"/>
          </p:cNvSpPr>
          <p:nvPr>
            <p:ph idx="1"/>
          </p:nvPr>
        </p:nvSpPr>
        <p:spPr/>
        <p:txBody>
          <a:bodyPr/>
          <a:lstStyle/>
          <a:p>
            <a:pPr>
              <a:spcAft>
                <a:spcPts val="0"/>
              </a:spcAft>
            </a:pPr>
            <a:r>
              <a:rPr lang="zh-CN" altLang="en-US"/>
              <a:t>https://zhuanlan.zhihu.com/p/404749697</a:t>
            </a:r>
          </a:p>
          <a:p>
            <a:r>
              <a:rPr lang="zh-CN" altLang="en-US"/>
              <a:t>在1963年3月30日，钱学森同志在中国科技大学作了一场题为“怎样写毕业论文”的报告，以下来自一位在座学生的笔记：</a:t>
            </a:r>
          </a:p>
        </p:txBody>
      </p:sp>
      <p:pic>
        <p:nvPicPr>
          <p:cNvPr id="5" name="图片 4"/>
          <p:cNvPicPr>
            <a:picLocks noChangeAspect="1"/>
          </p:cNvPicPr>
          <p:nvPr>
            <p:custDataLst>
              <p:tags r:id="rId1"/>
            </p:custDataLst>
          </p:nvPr>
        </p:nvPicPr>
        <p:blipFill>
          <a:blip r:embed="rId3"/>
          <a:stretch>
            <a:fillRect/>
          </a:stretch>
        </p:blipFill>
        <p:spPr>
          <a:xfrm>
            <a:off x="755650" y="2288540"/>
            <a:ext cx="3651885" cy="4440555"/>
          </a:xfrm>
          <a:prstGeom prst="rect">
            <a:avLst/>
          </a:prstGeom>
        </p:spPr>
      </p:pic>
      <p:sp>
        <p:nvSpPr>
          <p:cNvPr id="100" name="文本框 99"/>
          <p:cNvSpPr txBox="1"/>
          <p:nvPr/>
        </p:nvSpPr>
        <p:spPr>
          <a:xfrm>
            <a:off x="4571365" y="4360545"/>
            <a:ext cx="4320540" cy="1614170"/>
          </a:xfrm>
          <a:prstGeom prst="rect">
            <a:avLst/>
          </a:prstGeom>
          <a:solidFill>
            <a:srgbClr val="002060"/>
          </a:solidFill>
          <a:ln w="9525">
            <a:noFill/>
          </a:ln>
        </p:spPr>
        <p:txBody>
          <a:bodyPr wrap="square">
            <a:noAutofit/>
          </a:bodyPr>
          <a:lstStyle/>
          <a:p>
            <a:pPr>
              <a:spcAft>
                <a:spcPts val="0"/>
              </a:spcAft>
            </a:pPr>
            <a:r>
              <a:rPr lang="zh-CN" sz="1800">
                <a:solidFill>
                  <a:schemeClr val="bg1"/>
                </a:solidFill>
                <a:ea typeface="宋体" panose="02010600030101010101" pitchFamily="2" charset="-122"/>
              </a:rPr>
              <a:t>在科学的道路上必须要有一股傻劲，不要怕做小的工作，需要付出大量的平凡劳动。取得一次成功，必须经过千百次的失败。跌倒了，爬起来，满怀信心，干劲充沛，任何困难也难不住，工作一定能做好。</a:t>
            </a:r>
            <a:endParaRPr lang="zh-CN" altLang="en-US" sz="1800">
              <a:solidFill>
                <a:schemeClr val="bg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ldLvl="0" animBg="1"/>
      <p:bldP spid="100"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莫言谈写作</a:t>
            </a:r>
          </a:p>
        </p:txBody>
      </p:sp>
      <p:sp>
        <p:nvSpPr>
          <p:cNvPr id="3" name="内容占位符 2"/>
          <p:cNvSpPr>
            <a:spLocks noGrp="1"/>
          </p:cNvSpPr>
          <p:nvPr>
            <p:ph idx="1"/>
          </p:nvPr>
        </p:nvSpPr>
        <p:spPr/>
        <p:txBody>
          <a:bodyPr/>
          <a:lstStyle/>
          <a:p>
            <a:pPr>
              <a:spcAft>
                <a:spcPts val="0"/>
              </a:spcAft>
            </a:pPr>
            <a:r>
              <a:rPr lang="zh-CN" altLang="en-US" sz="2000"/>
              <a:t>https://www.bilibili.com/video/BV1hR4y1z7Wo/?share_source=copy_web&amp;vd_source=875931efc5b7b654815ff37d6ad33035</a:t>
            </a:r>
          </a:p>
        </p:txBody>
      </p:sp>
      <p:pic>
        <p:nvPicPr>
          <p:cNvPr id="4" name="图片 3"/>
          <p:cNvPicPr>
            <a:picLocks noChangeAspect="1"/>
          </p:cNvPicPr>
          <p:nvPr>
            <p:custDataLst>
              <p:tags r:id="rId1"/>
            </p:custDataLst>
          </p:nvPr>
        </p:nvPicPr>
        <p:blipFill>
          <a:blip r:embed="rId3"/>
          <a:stretch>
            <a:fillRect/>
          </a:stretch>
        </p:blipFill>
        <p:spPr>
          <a:xfrm>
            <a:off x="395605" y="1701165"/>
            <a:ext cx="4085590" cy="4867910"/>
          </a:xfrm>
          <a:prstGeom prst="rect">
            <a:avLst/>
          </a:prstGeom>
        </p:spPr>
      </p:pic>
      <p:sp>
        <p:nvSpPr>
          <p:cNvPr id="100" name="文本框 99"/>
          <p:cNvSpPr txBox="1"/>
          <p:nvPr/>
        </p:nvSpPr>
        <p:spPr>
          <a:xfrm>
            <a:off x="4806315" y="2118995"/>
            <a:ext cx="4149090" cy="1151890"/>
          </a:xfrm>
          <a:prstGeom prst="rect">
            <a:avLst/>
          </a:prstGeom>
          <a:noFill/>
          <a:ln w="9525">
            <a:noFill/>
          </a:ln>
        </p:spPr>
        <p:txBody>
          <a:bodyPr wrap="square">
            <a:noAutofit/>
          </a:bodyPr>
          <a:lstStyle/>
          <a:p>
            <a:pPr>
              <a:spcAft>
                <a:spcPts val="0"/>
              </a:spcAft>
            </a:pPr>
            <a:r>
              <a:rPr lang="zh-CN" sz="2400" b="1">
                <a:solidFill>
                  <a:srgbClr val="0000FF"/>
                </a:solidFill>
                <a:ea typeface="宋体" panose="02010600030101010101" pitchFamily="2" charset="-122"/>
              </a:rPr>
              <a:t>你必须调动全部的感官记忆！无论是8岁小孩写作，还是成熟作家创作，都离不开这个基本的技巧。</a:t>
            </a:r>
            <a:endParaRPr lang="zh-CN" altLang="en-US" sz="2400" b="1">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22531" name="矩形 3"/>
          <p:cNvSpPr/>
          <p:nvPr/>
        </p:nvSpPr>
        <p:spPr>
          <a:xfrm>
            <a:off x="1331913" y="1100138"/>
            <a:ext cx="7069455" cy="645160"/>
          </a:xfrm>
          <a:prstGeom prst="rect">
            <a:avLst/>
          </a:prstGeom>
          <a:noFill/>
          <a:ln w="9525">
            <a:noFill/>
          </a:ln>
        </p:spPr>
        <p:txBody>
          <a:bodyPr wrap="none" anchor="t">
            <a:spAutoFit/>
          </a:bodyPr>
          <a:lstStyle/>
          <a:p>
            <a:pPr defTabSz="457200">
              <a:spcAft>
                <a:spcPts val="0"/>
              </a:spcAft>
            </a:pPr>
            <a:r>
              <a:rPr lang="zh-CN" altLang="en-US" sz="3600" b="1" dirty="0">
                <a:solidFill>
                  <a:srgbClr val="000000"/>
                </a:solidFill>
                <a:latin typeface="黑体" panose="02010609060101010101" charset="-122"/>
                <a:ea typeface="黑体" panose="02010609060101010101" charset="-122"/>
              </a:rPr>
              <a:t>希望大家通过本课程，重点关注：</a:t>
            </a:r>
          </a:p>
        </p:txBody>
      </p:sp>
      <p:sp>
        <p:nvSpPr>
          <p:cNvPr id="5" name="等腰三角形 4"/>
          <p:cNvSpPr/>
          <p:nvPr/>
        </p:nvSpPr>
        <p:spPr>
          <a:xfrm>
            <a:off x="598805" y="1748155"/>
            <a:ext cx="2551430" cy="2160905"/>
          </a:xfrm>
          <a:prstGeom prst="triangle">
            <a:avLst/>
          </a:prstGeom>
          <a:solidFill>
            <a:srgbClr val="FFC00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800" kern="0" noProof="0" dirty="0">
                <a:ln>
                  <a:noFill/>
                </a:ln>
                <a:solidFill>
                  <a:srgbClr val="000000"/>
                </a:solidFill>
                <a:effectLst/>
                <a:uLnTx/>
                <a:uFillTx/>
                <a:latin typeface="黑体" panose="02010609060101010101" charset="-122"/>
                <a:ea typeface="黑体" panose="02010609060101010101" charset="-122"/>
                <a:sym typeface="+mn-ea"/>
              </a:rPr>
              <a:t>Following attitude</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pic>
        <p:nvPicPr>
          <p:cNvPr id="22533" name="图片 5"/>
          <p:cNvPicPr>
            <a:picLocks noChangeAspect="1"/>
          </p:cNvPicPr>
          <p:nvPr/>
        </p:nvPicPr>
        <p:blipFill>
          <a:blip r:embed="rId5"/>
          <a:stretch>
            <a:fillRect/>
          </a:stretch>
        </p:blipFill>
        <p:spPr>
          <a:xfrm>
            <a:off x="7005638" y="1747838"/>
            <a:ext cx="2124075" cy="2881312"/>
          </a:xfrm>
          <a:prstGeom prst="rect">
            <a:avLst/>
          </a:prstGeom>
          <a:noFill/>
          <a:ln w="9525">
            <a:noFill/>
          </a:ln>
        </p:spPr>
      </p:pic>
      <p:sp>
        <p:nvSpPr>
          <p:cNvPr id="7" name="圆角矩形标注 10"/>
          <p:cNvSpPr/>
          <p:nvPr/>
        </p:nvSpPr>
        <p:spPr>
          <a:xfrm>
            <a:off x="3995738" y="1820863"/>
            <a:ext cx="2592388" cy="2087563"/>
          </a:xfrm>
          <a:prstGeom prst="wedgeRoundRectCallout">
            <a:avLst>
              <a:gd name="adj1" fmla="val 65765"/>
              <a:gd name="adj2" fmla="val -35032"/>
              <a:gd name="adj3" fmla="val 16667"/>
            </a:avLst>
          </a:prstGeom>
          <a:solidFill>
            <a:srgbClr val="0070C0"/>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牛顿曾说过：</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如果说我看得更远的话，是因为我站在巨人的肩膀上</a:t>
            </a:r>
            <a:endPar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22535" name="矩形 7"/>
          <p:cNvSpPr/>
          <p:nvPr/>
        </p:nvSpPr>
        <p:spPr>
          <a:xfrm>
            <a:off x="238125" y="4097655"/>
            <a:ext cx="6753225" cy="645160"/>
          </a:xfrm>
          <a:prstGeom prst="rect">
            <a:avLst/>
          </a:prstGeom>
          <a:noFill/>
          <a:ln w="9525">
            <a:noFill/>
          </a:ln>
        </p:spPr>
        <p:txBody>
          <a:bodyPr wrap="squar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试想，如果一篇科学论文，没有参考文献，有没有人会信？</a:t>
            </a:r>
            <a:endParaRPr lang="en-US" altLang="zh-CN" sz="1800" dirty="0">
              <a:solidFill>
                <a:srgbClr val="000000"/>
              </a:solidFill>
              <a:latin typeface="黑体" panose="02010609060101010101" charset="-122"/>
              <a:ea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rPr>
              <a:t>任何比较严谨的表述都是建立在相对充分调研的基础之上。</a:t>
            </a:r>
          </a:p>
        </p:txBody>
      </p:sp>
      <p:graphicFrame>
        <p:nvGraphicFramePr>
          <p:cNvPr id="10" name="图示 9"/>
          <p:cNvGraphicFramePr/>
          <p:nvPr/>
        </p:nvGraphicFramePr>
        <p:xfrm>
          <a:off x="611560" y="4628704"/>
          <a:ext cx="8532440" cy="216043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文本框 2">
            <a:extLst>
              <a:ext uri="{FF2B5EF4-FFF2-40B4-BE49-F238E27FC236}">
                <a16:creationId xmlns:a16="http://schemas.microsoft.com/office/drawing/2014/main" id="{A218B796-DA2B-EC71-70FA-B4800A3187A2}"/>
              </a:ext>
            </a:extLst>
          </p:cNvPr>
          <p:cNvSpPr txBox="1"/>
          <p:nvPr/>
        </p:nvSpPr>
        <p:spPr>
          <a:xfrm>
            <a:off x="2881201" y="6318806"/>
            <a:ext cx="3993157" cy="369332"/>
          </a:xfrm>
          <a:prstGeom prst="rect">
            <a:avLst/>
          </a:prstGeom>
          <a:noFill/>
        </p:spPr>
        <p:txBody>
          <a:bodyPr wrap="square">
            <a:spAutoFit/>
          </a:bodyPr>
          <a:lstStyle/>
          <a:p>
            <a:r>
              <a:rPr lang="zh-CN" altLang="en-US" sz="1800" b="1" dirty="0">
                <a:solidFill>
                  <a:srgbClr val="000000"/>
                </a:solidFill>
                <a:latin typeface="黑体" panose="02010609060101010101" charset="-122"/>
                <a:ea typeface="黑体" panose="02010609060101010101" charset="-122"/>
              </a:rPr>
              <a:t>提出问题 → 界定问题 → 查证问题</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blinds(horizontal)">
                                      <p:cBhvr>
                                        <p:cTn id="7" dur="500"/>
                                        <p:tgtEl>
                                          <p:spTgt spid="2253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9063" y="5805264"/>
            <a:ext cx="3940175" cy="583565"/>
          </a:xfrm>
          <a:prstGeom prst="rect">
            <a:avLst/>
          </a:prstGeom>
          <a:noFill/>
        </p:spPr>
        <p:txBody>
          <a:bodyPr wrap="square" rtlCol="0">
            <a:spAutoFit/>
          </a:bodyPr>
          <a:lstStyle/>
          <a:p>
            <a:r>
              <a:rPr lang="zh-CN" altLang="en-US"/>
              <a:t>综述的文献必须全面！</a:t>
            </a:r>
          </a:p>
        </p:txBody>
      </p:sp>
      <p:pic>
        <p:nvPicPr>
          <p:cNvPr id="7" name="图片 6">
            <a:extLst>
              <a:ext uri="{FF2B5EF4-FFF2-40B4-BE49-F238E27FC236}">
                <a16:creationId xmlns:a16="http://schemas.microsoft.com/office/drawing/2014/main" id="{CE8124A1-18D8-A6E5-8312-36017FE07775}"/>
              </a:ext>
            </a:extLst>
          </p:cNvPr>
          <p:cNvPicPr>
            <a:picLocks noChangeAspect="1"/>
          </p:cNvPicPr>
          <p:nvPr/>
        </p:nvPicPr>
        <p:blipFill>
          <a:blip r:embed="rId2"/>
          <a:stretch>
            <a:fillRect/>
          </a:stretch>
        </p:blipFill>
        <p:spPr>
          <a:xfrm>
            <a:off x="616199" y="168100"/>
            <a:ext cx="7625773" cy="2664000"/>
          </a:xfrm>
          <a:prstGeom prst="rect">
            <a:avLst/>
          </a:prstGeom>
        </p:spPr>
      </p:pic>
      <p:pic>
        <p:nvPicPr>
          <p:cNvPr id="9" name="图片 8">
            <a:extLst>
              <a:ext uri="{FF2B5EF4-FFF2-40B4-BE49-F238E27FC236}">
                <a16:creationId xmlns:a16="http://schemas.microsoft.com/office/drawing/2014/main" id="{13459684-25FD-51EB-C6D6-BE96E91884AF}"/>
              </a:ext>
            </a:extLst>
          </p:cNvPr>
          <p:cNvPicPr>
            <a:picLocks noChangeAspect="1"/>
          </p:cNvPicPr>
          <p:nvPr/>
        </p:nvPicPr>
        <p:blipFill rotWithShape="1">
          <a:blip r:embed="rId3"/>
          <a:srcRect b="59184"/>
          <a:stretch/>
        </p:blipFill>
        <p:spPr>
          <a:xfrm>
            <a:off x="522281" y="3094908"/>
            <a:ext cx="4508609" cy="2448000"/>
          </a:xfrm>
          <a:prstGeom prst="rect">
            <a:avLst/>
          </a:prstGeom>
        </p:spPr>
      </p:pic>
      <p:pic>
        <p:nvPicPr>
          <p:cNvPr id="11" name="图片 10">
            <a:extLst>
              <a:ext uri="{FF2B5EF4-FFF2-40B4-BE49-F238E27FC236}">
                <a16:creationId xmlns:a16="http://schemas.microsoft.com/office/drawing/2014/main" id="{DDDF0C53-7C9F-6F7A-E8C1-9E051FD99794}"/>
              </a:ext>
            </a:extLst>
          </p:cNvPr>
          <p:cNvPicPr>
            <a:picLocks noChangeAspect="1"/>
          </p:cNvPicPr>
          <p:nvPr/>
        </p:nvPicPr>
        <p:blipFill>
          <a:blip r:embed="rId4"/>
          <a:stretch>
            <a:fillRect/>
          </a:stretch>
        </p:blipFill>
        <p:spPr>
          <a:xfrm>
            <a:off x="4958322" y="1932406"/>
            <a:ext cx="3588040" cy="477300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5560" y="45085"/>
            <a:ext cx="4879340" cy="4318635"/>
          </a:xfrm>
          <a:prstGeom prst="rect">
            <a:avLst/>
          </a:prstGeom>
          <a:ln>
            <a:solidFill>
              <a:schemeClr val="accent1"/>
            </a:solidFill>
          </a:ln>
        </p:spPr>
      </p:pic>
      <p:pic>
        <p:nvPicPr>
          <p:cNvPr id="5" name="图片 4"/>
          <p:cNvPicPr>
            <a:picLocks noChangeAspect="1"/>
          </p:cNvPicPr>
          <p:nvPr/>
        </p:nvPicPr>
        <p:blipFill>
          <a:blip r:embed="rId3"/>
          <a:stretch>
            <a:fillRect/>
          </a:stretch>
        </p:blipFill>
        <p:spPr>
          <a:xfrm>
            <a:off x="5003800" y="1341120"/>
            <a:ext cx="3987165" cy="5527040"/>
          </a:xfrm>
          <a:prstGeom prst="rect">
            <a:avLst/>
          </a:prstGeom>
          <a:ln>
            <a:solidFill>
              <a:schemeClr val="accent1"/>
            </a:solidFill>
          </a:ln>
        </p:spPr>
      </p:pic>
      <p:sp>
        <p:nvSpPr>
          <p:cNvPr id="4" name="文本框 3"/>
          <p:cNvSpPr txBox="1"/>
          <p:nvPr/>
        </p:nvSpPr>
        <p:spPr>
          <a:xfrm>
            <a:off x="467995" y="4941570"/>
            <a:ext cx="3940175" cy="583565"/>
          </a:xfrm>
          <a:prstGeom prst="rect">
            <a:avLst/>
          </a:prstGeom>
          <a:solidFill>
            <a:srgbClr val="002060"/>
          </a:solidFill>
        </p:spPr>
        <p:txBody>
          <a:bodyPr wrap="square" rtlCol="0">
            <a:spAutoFit/>
          </a:bodyPr>
          <a:lstStyle/>
          <a:p>
            <a:pPr>
              <a:spcAft>
                <a:spcPts val="0"/>
              </a:spcAft>
            </a:pPr>
            <a:r>
              <a:rPr lang="zh-CN" altLang="en-US">
                <a:solidFill>
                  <a:schemeClr val="bg1"/>
                </a:solidFill>
              </a:rPr>
              <a:t>华为科学家也写论文！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2545" y="2132965"/>
            <a:ext cx="5147310" cy="169481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pPr>
              <a:spcAft>
                <a:spcPts val="0"/>
              </a:spcAft>
            </a:pPr>
            <a:r>
              <a:t>文献检索（示例）</a:t>
            </a:r>
            <a:endParaRPr lang="en-US" altLang="zh-CN"/>
          </a:p>
        </p:txBody>
      </p:sp>
      <p:sp>
        <p:nvSpPr>
          <p:cNvPr id="3" name="内容占位符 2"/>
          <p:cNvSpPr>
            <a:spLocks noGrp="1"/>
          </p:cNvSpPr>
          <p:nvPr>
            <p:ph idx="1"/>
          </p:nvPr>
        </p:nvSpPr>
        <p:spPr/>
        <p:txBody>
          <a:bodyPr/>
          <a:lstStyle/>
          <a:p>
            <a:pPr>
              <a:spcAft>
                <a:spcPts val="0"/>
              </a:spcAft>
            </a:pPr>
            <a:r>
              <a:rPr lang="en-US" altLang="zh-CN">
                <a:sym typeface="+mn-ea"/>
              </a:rPr>
              <a:t>Google</a:t>
            </a:r>
            <a:r>
              <a:rPr>
                <a:sym typeface="+mn-ea"/>
              </a:rPr>
              <a:t>的</a:t>
            </a:r>
            <a:r>
              <a:rPr lang="en-US">
                <a:sym typeface="+mn-ea"/>
              </a:rPr>
              <a:t>AlphaGo</a:t>
            </a:r>
            <a:r>
              <a:rPr lang="zh-CN" altLang="en-US">
                <a:sym typeface="+mn-ea"/>
              </a:rPr>
              <a:t>相关论文</a:t>
            </a:r>
          </a:p>
          <a:p>
            <a:r>
              <a:rPr lang="en-US" altLang="zh-CN">
                <a:sym typeface="+mn-ea"/>
              </a:rPr>
              <a:t>OpenAI</a:t>
            </a:r>
            <a:r>
              <a:rPr lang="zh-CN" altLang="en-US">
                <a:sym typeface="+mn-ea"/>
              </a:rPr>
              <a:t>关于</a:t>
            </a:r>
            <a:r>
              <a:rPr lang="en-US" altLang="zh-CN">
                <a:sym typeface="+mn-ea"/>
              </a:rPr>
              <a:t>ChatGPT</a:t>
            </a:r>
            <a:r>
              <a:rPr lang="zh-CN" altLang="en-US">
                <a:sym typeface="+mn-ea"/>
              </a:rPr>
              <a:t>相关论文</a:t>
            </a:r>
          </a:p>
        </p:txBody>
      </p:sp>
      <p:sp>
        <p:nvSpPr>
          <p:cNvPr id="4" name="文本框 3"/>
          <p:cNvSpPr txBox="1"/>
          <p:nvPr/>
        </p:nvSpPr>
        <p:spPr>
          <a:xfrm>
            <a:off x="179705" y="4509135"/>
            <a:ext cx="5184140" cy="1628775"/>
          </a:xfrm>
          <a:prstGeom prst="rect">
            <a:avLst/>
          </a:prstGeom>
          <a:noFill/>
        </p:spPr>
        <p:txBody>
          <a:bodyPr wrap="square" rtlCol="0" anchor="t">
            <a:noAutofit/>
          </a:bodyPr>
          <a:lstStyle/>
          <a:p>
            <a:pPr>
              <a:spcAft>
                <a:spcPts val="0"/>
              </a:spcAft>
            </a:pPr>
            <a:r>
              <a:rPr lang="zh-CN" altLang="en-US" sz="1400"/>
              <a:t>引用格式：</a:t>
            </a:r>
          </a:p>
          <a:p>
            <a:pPr>
              <a:spcBef>
                <a:spcPts val="0"/>
              </a:spcBef>
              <a:spcAft>
                <a:spcPts val="0"/>
              </a:spcAft>
            </a:pPr>
            <a:r>
              <a:rPr lang="en-US" altLang="zh-CN" sz="1400"/>
              <a:t>[1] </a:t>
            </a:r>
            <a:r>
              <a:rPr lang="zh-CN" altLang="en-US" sz="1400"/>
              <a:t>Silver D, Schrittwieser J, Simonyan K, et al. Mastering the game of go without human knowledge[J]. nature, 2017, 550(7676): 354-359.</a:t>
            </a:r>
          </a:p>
          <a:p>
            <a:pPr>
              <a:spcBef>
                <a:spcPts val="0"/>
              </a:spcBef>
              <a:spcAft>
                <a:spcPts val="0"/>
              </a:spcAft>
            </a:pPr>
            <a:r>
              <a:rPr lang="en-US" altLang="zh-CN" sz="1400">
                <a:sym typeface="+mn-ea"/>
              </a:rPr>
              <a:t>[2 ]</a:t>
            </a:r>
            <a:r>
              <a:rPr lang="zh-CN" altLang="en-US" sz="1400">
                <a:sym typeface="+mn-ea"/>
              </a:rPr>
              <a:t>Thorp H H. ChatGPT is fun, but not an author[J]. Science, 2023, 379(6630): 313-313.</a:t>
            </a:r>
            <a:endParaRPr lang="zh-CN" altLang="en-US" sz="1400"/>
          </a:p>
          <a:p>
            <a:pPr>
              <a:spcBef>
                <a:spcPts val="0"/>
              </a:spcBef>
            </a:pPr>
            <a:r>
              <a:rPr lang="en-US" altLang="zh-CN" sz="1400">
                <a:sym typeface="+mn-ea"/>
              </a:rPr>
              <a:t>[3] van Dis E A M, Bollen J, Zuidema W, et al. ChatGPT: five priorities for research[J]. Nature, 2023, 614(7947): 224-226.</a:t>
            </a:r>
            <a:endParaRPr lang="zh-CN" altLang="en-US" sz="1400"/>
          </a:p>
        </p:txBody>
      </p:sp>
      <p:pic>
        <p:nvPicPr>
          <p:cNvPr id="5" name="图片 4"/>
          <p:cNvPicPr>
            <a:picLocks noChangeAspect="1"/>
          </p:cNvPicPr>
          <p:nvPr/>
        </p:nvPicPr>
        <p:blipFill>
          <a:blip r:embed="rId3"/>
          <a:stretch>
            <a:fillRect/>
          </a:stretch>
        </p:blipFill>
        <p:spPr>
          <a:xfrm>
            <a:off x="435610" y="2277110"/>
            <a:ext cx="4451985" cy="1424940"/>
          </a:xfrm>
          <a:prstGeom prst="rect">
            <a:avLst/>
          </a:prstGeom>
        </p:spPr>
      </p:pic>
      <p:pic>
        <p:nvPicPr>
          <p:cNvPr id="7" name="图片 6"/>
          <p:cNvPicPr>
            <a:picLocks noChangeAspect="1"/>
          </p:cNvPicPr>
          <p:nvPr/>
        </p:nvPicPr>
        <p:blipFill>
          <a:blip r:embed="rId4"/>
          <a:stretch>
            <a:fillRect/>
          </a:stretch>
        </p:blipFill>
        <p:spPr>
          <a:xfrm>
            <a:off x="5655945" y="645795"/>
            <a:ext cx="2448560" cy="2673350"/>
          </a:xfrm>
          <a:prstGeom prst="rect">
            <a:avLst/>
          </a:prstGeom>
          <a:ln>
            <a:solidFill>
              <a:schemeClr val="accent6"/>
            </a:solidFill>
          </a:ln>
        </p:spPr>
      </p:pic>
      <p:pic>
        <p:nvPicPr>
          <p:cNvPr id="11" name="图片 10"/>
          <p:cNvPicPr>
            <a:picLocks noChangeAspect="1"/>
          </p:cNvPicPr>
          <p:nvPr/>
        </p:nvPicPr>
        <p:blipFill>
          <a:blip r:embed="rId5"/>
          <a:stretch>
            <a:fillRect/>
          </a:stretch>
        </p:blipFill>
        <p:spPr>
          <a:xfrm>
            <a:off x="5723890" y="3573145"/>
            <a:ext cx="2181225" cy="3136900"/>
          </a:xfrm>
          <a:prstGeom prst="rect">
            <a:avLst/>
          </a:prstGeom>
          <a:ln>
            <a:solidFill>
              <a:schemeClr val="accent6"/>
            </a:solidFill>
          </a:ln>
        </p:spPr>
      </p:pic>
      <p:sp>
        <p:nvSpPr>
          <p:cNvPr id="12" name="圆角矩形 11"/>
          <p:cNvSpPr/>
          <p:nvPr/>
        </p:nvSpPr>
        <p:spPr>
          <a:xfrm>
            <a:off x="5363845" y="404495"/>
            <a:ext cx="2992755" cy="647382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4" grpId="0"/>
      <p:bldP spid="4" grpId="1"/>
      <p:bldP spid="12" grpId="0" animBg="1"/>
      <p:bldP spid="12"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en-US" altLang="zh-CN"/>
              <a:t>ChatGPT-4 Technical Report</a:t>
            </a:r>
          </a:p>
        </p:txBody>
      </p:sp>
      <p:sp>
        <p:nvSpPr>
          <p:cNvPr id="3" name="内容占位符 2"/>
          <p:cNvSpPr>
            <a:spLocks noGrp="1"/>
          </p:cNvSpPr>
          <p:nvPr>
            <p:ph idx="1"/>
          </p:nvPr>
        </p:nvSpPr>
        <p:spPr/>
        <p:txBody>
          <a:bodyPr/>
          <a:lstStyle/>
          <a:p>
            <a:pPr>
              <a:spcAft>
                <a:spcPts val="0"/>
              </a:spcAft>
            </a:pPr>
            <a:r>
              <a:rPr lang="zh-CN" altLang="en-US"/>
              <a:t>https://arxiv.org/abs/2303.08774</a:t>
            </a:r>
          </a:p>
        </p:txBody>
      </p:sp>
      <p:pic>
        <p:nvPicPr>
          <p:cNvPr id="4" name="图片 3"/>
          <p:cNvPicPr>
            <a:picLocks noChangeAspect="1"/>
          </p:cNvPicPr>
          <p:nvPr/>
        </p:nvPicPr>
        <p:blipFill>
          <a:blip r:embed="rId2"/>
          <a:stretch>
            <a:fillRect/>
          </a:stretch>
        </p:blipFill>
        <p:spPr>
          <a:xfrm>
            <a:off x="611505" y="1700530"/>
            <a:ext cx="7938135" cy="325247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Nature</a:t>
            </a:r>
            <a:r>
              <a:t>教我们用</a:t>
            </a:r>
            <a:r>
              <a:rPr lang="en-US" altLang="zh-CN"/>
              <a:t>ChatGPT</a:t>
            </a:r>
          </a:p>
        </p:txBody>
      </p:sp>
      <p:sp>
        <p:nvSpPr>
          <p:cNvPr id="3" name="内容占位符 2"/>
          <p:cNvSpPr>
            <a:spLocks noGrp="1"/>
          </p:cNvSpPr>
          <p:nvPr>
            <p:ph idx="1"/>
          </p:nvPr>
        </p:nvSpPr>
        <p:spPr/>
        <p:txBody>
          <a:bodyPr/>
          <a:lstStyle/>
          <a:p>
            <a:r>
              <a:rPr lang="zh-CN" altLang="en-US"/>
              <a:t>学会使用</a:t>
            </a:r>
            <a:r>
              <a:rPr lang="en-US" altLang="zh-CN"/>
              <a:t>ChatGPT</a:t>
            </a:r>
            <a:r>
              <a:rPr lang="zh-CN" altLang="en-US"/>
              <a:t>的小技巧</a:t>
            </a:r>
          </a:p>
          <a:p>
            <a:pPr lvl="1"/>
            <a:r>
              <a:rPr lang="en-US" altLang="zh-CN"/>
              <a:t>选择应用场景</a:t>
            </a:r>
          </a:p>
          <a:p>
            <a:pPr lvl="1"/>
            <a:r>
              <a:rPr lang="en-US" altLang="zh-CN"/>
              <a:t>信任，但要确认</a:t>
            </a:r>
          </a:p>
          <a:p>
            <a:pPr lvl="1"/>
            <a:r>
              <a:rPr lang="en-US" altLang="zh-CN"/>
              <a:t>考虑安全性</a:t>
            </a:r>
          </a:p>
          <a:p>
            <a:pPr lvl="1"/>
            <a:r>
              <a:rPr lang="en-US" altLang="zh-CN"/>
              <a:t>迭代</a:t>
            </a:r>
          </a:p>
          <a:p>
            <a:pPr lvl="1"/>
            <a:r>
              <a:rPr lang="en-US" altLang="zh-CN"/>
              <a:t>把它当人看</a:t>
            </a:r>
          </a:p>
          <a:p>
            <a:pPr lvl="1"/>
            <a:r>
              <a:rPr lang="en-US" altLang="zh-CN"/>
              <a:t>拥抱变化</a:t>
            </a:r>
          </a:p>
        </p:txBody>
      </p:sp>
      <p:pic>
        <p:nvPicPr>
          <p:cNvPr id="4" name="图片 3"/>
          <p:cNvPicPr>
            <a:picLocks noChangeAspect="1"/>
          </p:cNvPicPr>
          <p:nvPr/>
        </p:nvPicPr>
        <p:blipFill>
          <a:blip r:embed="rId2"/>
          <a:stretch>
            <a:fillRect/>
          </a:stretch>
        </p:blipFill>
        <p:spPr>
          <a:xfrm>
            <a:off x="4932045" y="1196975"/>
            <a:ext cx="3896995" cy="5354955"/>
          </a:xfrm>
          <a:prstGeom prst="rect">
            <a:avLst/>
          </a:prstGeom>
        </p:spPr>
      </p:pic>
      <p:sp>
        <p:nvSpPr>
          <p:cNvPr id="6" name="文本框 5"/>
          <p:cNvSpPr txBox="1"/>
          <p:nvPr/>
        </p:nvSpPr>
        <p:spPr>
          <a:xfrm>
            <a:off x="396240" y="3976370"/>
            <a:ext cx="4178935" cy="2216150"/>
          </a:xfrm>
          <a:prstGeom prst="rect">
            <a:avLst/>
          </a:prstGeom>
        </p:spPr>
        <p:txBody>
          <a:bodyPr>
            <a:noAutofit/>
          </a:bodyPr>
          <a:lstStyle/>
          <a:p>
            <a:pPr>
              <a:lnSpc>
                <a:spcPct val="100000"/>
              </a:lnSpc>
              <a:spcAft>
                <a:spcPct val="0"/>
              </a:spcAft>
            </a:pPr>
            <a:r>
              <a:rPr lang="zh-CN" altLang="en-US" sz="1600" b="0" i="0">
                <a:solidFill>
                  <a:srgbClr val="222222"/>
                </a:solidFill>
                <a:latin typeface="Arial" panose="020B0604020202020204"/>
                <a:ea typeface="Arial" panose="020B0604020202020204"/>
              </a:rPr>
              <a:t>参考文献：</a:t>
            </a:r>
          </a:p>
          <a:p>
            <a:pPr>
              <a:lnSpc>
                <a:spcPct val="100000"/>
              </a:lnSpc>
              <a:spcAft>
                <a:spcPct val="0"/>
              </a:spcAft>
            </a:pPr>
            <a:r>
              <a:rPr lang="en-US" altLang="zh-CN" sz="1600" b="0" i="0">
                <a:solidFill>
                  <a:srgbClr val="222222"/>
                </a:solidFill>
                <a:latin typeface="Arial" panose="020B0604020202020204"/>
                <a:ea typeface="Arial" panose="020B0604020202020204"/>
              </a:rPr>
              <a:t>1. Piccolo, S. R. et al. Preprint at https://arxiv.org/abs/2303.13528 (2023).</a:t>
            </a:r>
          </a:p>
          <a:p>
            <a:pPr>
              <a:lnSpc>
                <a:spcPct val="100000"/>
              </a:lnSpc>
              <a:spcAft>
                <a:spcPct val="0"/>
              </a:spcAft>
            </a:pPr>
            <a:r>
              <a:rPr lang="en-US" altLang="zh-CN" sz="1600" b="0" i="0">
                <a:solidFill>
                  <a:srgbClr val="222222"/>
                </a:solidFill>
                <a:latin typeface="Arial" panose="020B0604020202020204"/>
                <a:ea typeface="Arial" panose="020B0604020202020204"/>
              </a:rPr>
              <a:t>2. Jesse, K. et al. Preprint at https://arxiv.org/abs/2303.11455 (2023).</a:t>
            </a:r>
          </a:p>
          <a:p>
            <a:pPr>
              <a:lnSpc>
                <a:spcPct val="100000"/>
              </a:lnSpc>
              <a:spcAft>
                <a:spcPct val="0"/>
              </a:spcAft>
            </a:pPr>
            <a:r>
              <a:rPr lang="en-US" altLang="zh-CN" sz="1600" b="0" i="0">
                <a:solidFill>
                  <a:srgbClr val="222222"/>
                </a:solidFill>
                <a:latin typeface="Arial" panose="020B0604020202020204"/>
                <a:ea typeface="Arial" panose="020B0604020202020204"/>
              </a:rPr>
              <a:t>3. Pearce, H. et al. Preprint at https://arxiv.org/abs/2108.09293 (2021).</a:t>
            </a:r>
          </a:p>
          <a:p>
            <a:pPr>
              <a:lnSpc>
                <a:spcPct val="100000"/>
              </a:lnSpc>
              <a:spcAft>
                <a:spcPct val="0"/>
              </a:spcAft>
            </a:pPr>
            <a:r>
              <a:rPr lang="en-US" altLang="zh-CN" sz="1600" b="0" i="0">
                <a:solidFill>
                  <a:srgbClr val="222222"/>
                </a:solidFill>
                <a:latin typeface="Arial" panose="020B0604020202020204"/>
                <a:ea typeface="Arial" panose="020B0604020202020204"/>
              </a:rPr>
              <a:t>4. Shue, E. et al. Quant. Biol. https://doi.org/10.15302/J-QB-023-0327 (2023).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23555" name="矩形 3"/>
          <p:cNvSpPr/>
          <p:nvPr/>
        </p:nvSpPr>
        <p:spPr>
          <a:xfrm>
            <a:off x="1096963" y="1012825"/>
            <a:ext cx="7069455" cy="645160"/>
          </a:xfrm>
          <a:prstGeom prst="rect">
            <a:avLst/>
          </a:prstGeom>
          <a:noFill/>
          <a:ln w="9525">
            <a:noFill/>
          </a:ln>
        </p:spPr>
        <p:txBody>
          <a:bodyPr wrap="none" anchor="t">
            <a:spAutoFit/>
          </a:bodyPr>
          <a:lstStyle/>
          <a:p>
            <a:pPr defTabSz="457200">
              <a:spcAft>
                <a:spcPts val="0"/>
              </a:spcAft>
            </a:pPr>
            <a:r>
              <a:rPr lang="zh-CN" altLang="en-US" sz="3600" b="1" dirty="0">
                <a:solidFill>
                  <a:srgbClr val="000000"/>
                </a:solidFill>
                <a:latin typeface="黑体" panose="02010609060101010101" charset="-122"/>
                <a:ea typeface="黑体" panose="02010609060101010101" charset="-122"/>
              </a:rPr>
              <a:t>希望大家通过本课程，重点关注：</a:t>
            </a:r>
          </a:p>
        </p:txBody>
      </p:sp>
      <p:sp>
        <p:nvSpPr>
          <p:cNvPr id="5" name="等腰三角形 4"/>
          <p:cNvSpPr/>
          <p:nvPr/>
        </p:nvSpPr>
        <p:spPr>
          <a:xfrm>
            <a:off x="0" y="1700530"/>
            <a:ext cx="2160588" cy="2160588"/>
          </a:xfrm>
          <a:prstGeom prst="triangle">
            <a:avLst/>
          </a:prstGeom>
          <a:solidFill>
            <a:srgbClr val="002060"/>
          </a:solidFill>
          <a:ln w="12700" cap="flat" cmpd="sng" algn="ctr">
            <a:noFill/>
            <a:prstDash val="solid"/>
            <a:miter lim="800000"/>
          </a:ln>
          <a:effectLst/>
        </p:spPr>
        <p:txBody>
          <a:bodyPr anchor="ctr"/>
          <a:lstStyle/>
          <a:p>
            <a:pPr lvl="0">
              <a:lnSpc>
                <a:spcPct val="100000"/>
              </a:lnSpc>
              <a:spcBef>
                <a:spcPct val="0"/>
              </a:spcBef>
              <a:spcAft>
                <a:spcPts val="35"/>
              </a:spcAft>
            </a:pPr>
            <a:r>
              <a:rPr lang="en-US" altLang="zh-CN" sz="2800" dirty="0">
                <a:solidFill>
                  <a:schemeClr val="bg1"/>
                </a:solidFill>
                <a:latin typeface="Calibri" panose="020F0502020204030204"/>
                <a:ea typeface="等线" panose="02010600030101010101" pitchFamily="2" charset="-122"/>
                <a:sym typeface="+mn-ea"/>
              </a:rPr>
              <a:t>Style</a:t>
            </a:r>
            <a:endParaRPr lang="en-US" altLang="zh-CN" sz="2800" dirty="0">
              <a:solidFill>
                <a:schemeClr val="bg1"/>
              </a:solidFill>
              <a:latin typeface="Calibri" panose="020F0502020204030204"/>
              <a:ea typeface="等线" panose="02010600030101010101" pitchFamily="2" charset="-122"/>
              <a:cs typeface="+mn-cs"/>
            </a:endParaRPr>
          </a:p>
          <a:p>
            <a:pPr lvl="0">
              <a:lnSpc>
                <a:spcPct val="100000"/>
              </a:lnSpc>
              <a:spcBef>
                <a:spcPts val="0"/>
              </a:spcBef>
              <a:spcAft>
                <a:spcPct val="35000"/>
              </a:spcAft>
            </a:pPr>
            <a:r>
              <a:rPr lang="en-US" altLang="zh-CN" sz="2800" dirty="0">
                <a:solidFill>
                  <a:schemeClr val="bg1"/>
                </a:solidFill>
                <a:latin typeface="Calibri" panose="020F0502020204030204"/>
                <a:ea typeface="等线" panose="02010600030101010101" pitchFamily="2" charset="-122"/>
                <a:sym typeface="+mn-ea"/>
              </a:rPr>
              <a:t>faith</a:t>
            </a:r>
            <a:endParaRPr kumimoji="0" lang="en-US" altLang="zh-CN" sz="2800" b="0" i="0" u="none" strike="noStrike" kern="0" cap="none" spc="0" normalizeH="0" baseline="0" noProof="0" dirty="0">
              <a:ln>
                <a:noFill/>
              </a:ln>
              <a:solidFill>
                <a:schemeClr val="bg1"/>
              </a:solidFill>
              <a:effectLst/>
              <a:uLnTx/>
              <a:uFillTx/>
              <a:latin typeface="Calibri" panose="020F0502020204030204"/>
              <a:ea typeface="等线" panose="02010600030101010101" pitchFamily="2" charset="-122"/>
              <a:cs typeface="+mn-cs"/>
              <a:sym typeface="+mn-ea"/>
            </a:endParaRPr>
          </a:p>
        </p:txBody>
      </p:sp>
      <p:sp>
        <p:nvSpPr>
          <p:cNvPr id="7" name="矩形 6"/>
          <p:cNvSpPr/>
          <p:nvPr/>
        </p:nvSpPr>
        <p:spPr>
          <a:xfrm>
            <a:off x="467678" y="3861118"/>
            <a:ext cx="4069080" cy="276860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rPr>
              <a:t>如果说，内容不够优秀，是水平问题；</a:t>
            </a:r>
            <a:endParaRPr kumimoji="0" lang="en-US" altLang="zh-CN" sz="18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rPr>
              <a:t>那么形式烂，就是态度问题。</a:t>
            </a:r>
            <a:endParaRPr kumimoji="0" lang="en-US" altLang="zh-CN" sz="18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rPr>
              <a:t>逻辑清晰</a:t>
            </a:r>
            <a:endParaRPr kumimoji="0" lang="en-US" altLang="zh-CN"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rPr>
              <a:t>书写规范</a:t>
            </a:r>
            <a:endParaRPr kumimoji="0" lang="en-US" altLang="zh-CN"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rPr>
              <a:t>图文并茂</a:t>
            </a:r>
            <a:endParaRPr kumimoji="0" lang="en-US" altLang="zh-CN"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rPr>
              <a:t>排版合理</a:t>
            </a:r>
            <a:endParaRPr kumimoji="0" lang="en-US" altLang="zh-CN"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0000FF"/>
                </a:solidFill>
                <a:effectLst/>
                <a:uLnTx/>
                <a:uFillTx/>
                <a:latin typeface="黑体" panose="02010609060101010101" charset="-122"/>
                <a:ea typeface="黑体" panose="02010609060101010101" charset="-122"/>
                <a:cs typeface="+mn-cs"/>
              </a:rPr>
              <a:t>稳重自信</a:t>
            </a:r>
          </a:p>
        </p:txBody>
      </p:sp>
      <p:pic>
        <p:nvPicPr>
          <p:cNvPr id="23559" name="图片 7"/>
          <p:cNvPicPr>
            <a:picLocks noChangeAspect="1"/>
          </p:cNvPicPr>
          <p:nvPr/>
        </p:nvPicPr>
        <p:blipFill>
          <a:blip r:embed="rId5"/>
          <a:srcRect l="3996"/>
          <a:stretch>
            <a:fillRect/>
          </a:stretch>
        </p:blipFill>
        <p:spPr>
          <a:xfrm>
            <a:off x="4932045" y="4350385"/>
            <a:ext cx="2112010" cy="1226820"/>
          </a:xfrm>
          <a:prstGeom prst="rect">
            <a:avLst/>
          </a:prstGeom>
          <a:noFill/>
          <a:ln w="9525">
            <a:noFill/>
          </a:ln>
        </p:spPr>
      </p:pic>
      <p:sp>
        <p:nvSpPr>
          <p:cNvPr id="23560" name="矩形 9"/>
          <p:cNvSpPr/>
          <p:nvPr/>
        </p:nvSpPr>
        <p:spPr>
          <a:xfrm>
            <a:off x="3707448" y="5949315"/>
            <a:ext cx="3383280" cy="368300"/>
          </a:xfrm>
          <a:prstGeom prst="rect">
            <a:avLst/>
          </a:prstGeom>
          <a:noFill/>
          <a:ln w="9525">
            <a:noFill/>
          </a:ln>
        </p:spPr>
        <p:txBody>
          <a:bodyPr wrap="none" anchor="t">
            <a:spAutoFit/>
          </a:bodyPr>
          <a:lstStyle/>
          <a:p>
            <a:pPr algn="r" defTabSz="457200">
              <a:spcAft>
                <a:spcPts val="0"/>
              </a:spcAft>
            </a:pPr>
            <a:r>
              <a:rPr lang="zh-CN" altLang="en-US" sz="1800" dirty="0">
                <a:solidFill>
                  <a:srgbClr val="FF0000"/>
                </a:solidFill>
                <a:latin typeface="黑体" panose="02010609060101010101" charset="-122"/>
                <a:ea typeface="黑体" panose="02010609060101010101" charset="-122"/>
              </a:rPr>
              <a:t>只看海报，你会选看哪部电影？</a:t>
            </a:r>
            <a:endParaRPr lang="zh-CN" altLang="en-US" sz="1800" b="1" dirty="0">
              <a:solidFill>
                <a:srgbClr val="FF0000"/>
              </a:solidFill>
              <a:latin typeface="黑体" panose="02010609060101010101" charset="-122"/>
              <a:ea typeface="黑体" panose="02010609060101010101" charset="-122"/>
            </a:endParaRPr>
          </a:p>
        </p:txBody>
      </p:sp>
      <p:pic>
        <p:nvPicPr>
          <p:cNvPr id="105" name="图片 104"/>
          <p:cNvPicPr/>
          <p:nvPr/>
        </p:nvPicPr>
        <p:blipFill>
          <a:blip r:embed="rId6"/>
          <a:stretch>
            <a:fillRect/>
          </a:stretch>
        </p:blipFill>
        <p:spPr>
          <a:xfrm>
            <a:off x="3780155" y="1889125"/>
            <a:ext cx="1374140" cy="1979295"/>
          </a:xfrm>
          <a:prstGeom prst="rect">
            <a:avLst/>
          </a:prstGeom>
          <a:noFill/>
          <a:ln w="9525">
            <a:noFill/>
          </a:ln>
        </p:spPr>
      </p:pic>
      <p:pic>
        <p:nvPicPr>
          <p:cNvPr id="106" name="图片 105"/>
          <p:cNvPicPr/>
          <p:nvPr/>
        </p:nvPicPr>
        <p:blipFill>
          <a:blip r:embed="rId7"/>
          <a:stretch>
            <a:fillRect/>
          </a:stretch>
        </p:blipFill>
        <p:spPr>
          <a:xfrm>
            <a:off x="7380605" y="4437380"/>
            <a:ext cx="1570355" cy="2066925"/>
          </a:xfrm>
          <a:prstGeom prst="rect">
            <a:avLst/>
          </a:prstGeom>
          <a:noFill/>
          <a:ln w="9525">
            <a:noFill/>
          </a:ln>
        </p:spPr>
      </p:pic>
      <p:pic>
        <p:nvPicPr>
          <p:cNvPr id="107" name="图片 106"/>
          <p:cNvPicPr/>
          <p:nvPr/>
        </p:nvPicPr>
        <p:blipFill>
          <a:blip r:link="rId8"/>
          <a:stretch>
            <a:fillRect/>
          </a:stretch>
        </p:blipFill>
        <p:spPr>
          <a:xfrm>
            <a:off x="4427855" y="3424555"/>
            <a:ext cx="0" cy="0"/>
          </a:xfrm>
          <a:prstGeom prst="rect">
            <a:avLst/>
          </a:prstGeom>
          <a:noFill/>
          <a:ln w="9525">
            <a:noFill/>
          </a:ln>
        </p:spPr>
      </p:pic>
      <p:pic>
        <p:nvPicPr>
          <p:cNvPr id="108" name="图片 107"/>
          <p:cNvPicPr/>
          <p:nvPr/>
        </p:nvPicPr>
        <p:blipFill>
          <a:blip r:link="rId8"/>
          <a:stretch>
            <a:fillRect/>
          </a:stretch>
        </p:blipFill>
        <p:spPr>
          <a:xfrm>
            <a:off x="4427855" y="3424555"/>
            <a:ext cx="0" cy="0"/>
          </a:xfrm>
          <a:prstGeom prst="rect">
            <a:avLst/>
          </a:prstGeom>
          <a:noFill/>
          <a:ln w="9525">
            <a:noFill/>
          </a:ln>
        </p:spPr>
      </p:pic>
      <p:pic>
        <p:nvPicPr>
          <p:cNvPr id="109" name="图片 108"/>
          <p:cNvPicPr/>
          <p:nvPr/>
        </p:nvPicPr>
        <p:blipFill>
          <a:blip r:link="rId8"/>
          <a:stretch>
            <a:fillRect/>
          </a:stretch>
        </p:blipFill>
        <p:spPr>
          <a:xfrm>
            <a:off x="4427855" y="3424555"/>
            <a:ext cx="0" cy="0"/>
          </a:xfrm>
          <a:prstGeom prst="rect">
            <a:avLst/>
          </a:prstGeom>
          <a:noFill/>
          <a:ln w="9525">
            <a:noFill/>
          </a:ln>
        </p:spPr>
      </p:pic>
      <p:pic>
        <p:nvPicPr>
          <p:cNvPr id="110" name="图片 109"/>
          <p:cNvPicPr/>
          <p:nvPr/>
        </p:nvPicPr>
        <p:blipFill>
          <a:blip r:link="rId8"/>
          <a:stretch>
            <a:fillRect/>
          </a:stretch>
        </p:blipFill>
        <p:spPr>
          <a:xfrm>
            <a:off x="4427855" y="3424555"/>
            <a:ext cx="0" cy="0"/>
          </a:xfrm>
          <a:prstGeom prst="rect">
            <a:avLst/>
          </a:prstGeom>
          <a:noFill/>
          <a:ln w="9525">
            <a:noFill/>
          </a:ln>
        </p:spPr>
      </p:pic>
      <p:pic>
        <p:nvPicPr>
          <p:cNvPr id="3" name="图片 2"/>
          <p:cNvPicPr>
            <a:picLocks noChangeAspect="1"/>
          </p:cNvPicPr>
          <p:nvPr/>
        </p:nvPicPr>
        <p:blipFill>
          <a:blip r:embed="rId9"/>
          <a:stretch>
            <a:fillRect/>
          </a:stretch>
        </p:blipFill>
        <p:spPr>
          <a:xfrm>
            <a:off x="7668260" y="1912620"/>
            <a:ext cx="1459230" cy="1955800"/>
          </a:xfrm>
          <a:prstGeom prst="rect">
            <a:avLst/>
          </a:prstGeom>
        </p:spPr>
      </p:pic>
      <p:pic>
        <p:nvPicPr>
          <p:cNvPr id="111" name="图片 110"/>
          <p:cNvPicPr/>
          <p:nvPr/>
        </p:nvPicPr>
        <p:blipFill>
          <a:blip r:embed="rId10"/>
          <a:stretch>
            <a:fillRect/>
          </a:stretch>
        </p:blipFill>
        <p:spPr>
          <a:xfrm>
            <a:off x="5652135" y="1883410"/>
            <a:ext cx="1835150" cy="2033270"/>
          </a:xfrm>
          <a:prstGeom prst="rect">
            <a:avLst/>
          </a:prstGeom>
          <a:noFill/>
          <a:ln w="9525">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5"/>
                                        </p:tgtEl>
                                        <p:attrNameLst>
                                          <p:attrName>style.visibility</p:attrName>
                                        </p:attrNameLst>
                                      </p:cBhvr>
                                      <p:to>
                                        <p:strVal val="visible"/>
                                      </p:to>
                                    </p:set>
                                    <p:anim calcmode="lin" valueType="num">
                                      <p:cBhvr additive="base">
                                        <p:cTn id="13" dur="500" fill="hold"/>
                                        <p:tgtEl>
                                          <p:spTgt spid="105"/>
                                        </p:tgtEl>
                                        <p:attrNameLst>
                                          <p:attrName>ppt_x</p:attrName>
                                        </p:attrNameLst>
                                      </p:cBhvr>
                                      <p:tavLst>
                                        <p:tav tm="0">
                                          <p:val>
                                            <p:strVal val="#ppt_x"/>
                                          </p:val>
                                        </p:tav>
                                        <p:tav tm="100000">
                                          <p:val>
                                            <p:strVal val="#ppt_x"/>
                                          </p:val>
                                        </p:tav>
                                      </p:tavLst>
                                    </p:anim>
                                    <p:anim calcmode="lin" valueType="num">
                                      <p:cBhvr additive="base">
                                        <p:cTn id="14" dur="500" fill="hold"/>
                                        <p:tgtEl>
                                          <p:spTgt spid="10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1"/>
                                        </p:tgtEl>
                                        <p:attrNameLst>
                                          <p:attrName>style.visibility</p:attrName>
                                        </p:attrNameLst>
                                      </p:cBhvr>
                                      <p:to>
                                        <p:strVal val="visible"/>
                                      </p:to>
                                    </p:set>
                                    <p:anim calcmode="lin" valueType="num">
                                      <p:cBhvr additive="base">
                                        <p:cTn id="21" dur="500" fill="hold"/>
                                        <p:tgtEl>
                                          <p:spTgt spid="111"/>
                                        </p:tgtEl>
                                        <p:attrNameLst>
                                          <p:attrName>ppt_x</p:attrName>
                                        </p:attrNameLst>
                                      </p:cBhvr>
                                      <p:tavLst>
                                        <p:tav tm="0">
                                          <p:val>
                                            <p:strVal val="#ppt_x"/>
                                          </p:val>
                                        </p:tav>
                                        <p:tav tm="100000">
                                          <p:val>
                                            <p:strVal val="#ppt_x"/>
                                          </p:val>
                                        </p:tav>
                                      </p:tavLst>
                                    </p:anim>
                                    <p:anim calcmode="lin" valueType="num">
                                      <p:cBhvr additive="base">
                                        <p:cTn id="22"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3559"/>
                                        </p:tgtEl>
                                        <p:attrNameLst>
                                          <p:attrName>style.visibility</p:attrName>
                                        </p:attrNameLst>
                                      </p:cBhvr>
                                      <p:to>
                                        <p:strVal val="visible"/>
                                      </p:to>
                                    </p:set>
                                    <p:anim calcmode="lin" valueType="num">
                                      <p:cBhvr additive="base">
                                        <p:cTn id="27" dur="500" fill="hold"/>
                                        <p:tgtEl>
                                          <p:spTgt spid="23559"/>
                                        </p:tgtEl>
                                        <p:attrNameLst>
                                          <p:attrName>ppt_x</p:attrName>
                                        </p:attrNameLst>
                                      </p:cBhvr>
                                      <p:tavLst>
                                        <p:tav tm="0">
                                          <p:val>
                                            <p:strVal val="#ppt_x"/>
                                          </p:val>
                                        </p:tav>
                                        <p:tav tm="100000">
                                          <p:val>
                                            <p:strVal val="#ppt_x"/>
                                          </p:val>
                                        </p:tav>
                                      </p:tavLst>
                                    </p:anim>
                                    <p:anim calcmode="lin" valueType="num">
                                      <p:cBhvr additive="base">
                                        <p:cTn id="28" dur="500" fill="hold"/>
                                        <p:tgtEl>
                                          <p:spTgt spid="2355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6"/>
                                        </p:tgtEl>
                                        <p:attrNameLst>
                                          <p:attrName>style.visibility</p:attrName>
                                        </p:attrNameLst>
                                      </p:cBhvr>
                                      <p:to>
                                        <p:strVal val="visible"/>
                                      </p:to>
                                    </p:set>
                                    <p:anim calcmode="lin" valueType="num">
                                      <p:cBhvr additive="base">
                                        <p:cTn id="31" dur="500" fill="hold"/>
                                        <p:tgtEl>
                                          <p:spTgt spid="106"/>
                                        </p:tgtEl>
                                        <p:attrNameLst>
                                          <p:attrName>ppt_x</p:attrName>
                                        </p:attrNameLst>
                                      </p:cBhvr>
                                      <p:tavLst>
                                        <p:tav tm="0">
                                          <p:val>
                                            <p:strVal val="#ppt_x"/>
                                          </p:val>
                                        </p:tav>
                                        <p:tav tm="100000">
                                          <p:val>
                                            <p:strVal val="#ppt_x"/>
                                          </p:val>
                                        </p:tav>
                                      </p:tavLst>
                                    </p:anim>
                                    <p:anim calcmode="lin" valueType="num">
                                      <p:cBhvr additive="base">
                                        <p:cTn id="32" dur="500" fill="hold"/>
                                        <p:tgtEl>
                                          <p:spTgt spid="10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3560"/>
                                        </p:tgtEl>
                                        <p:attrNameLst>
                                          <p:attrName>style.visibility</p:attrName>
                                        </p:attrNameLst>
                                      </p:cBhvr>
                                      <p:to>
                                        <p:strVal val="visible"/>
                                      </p:to>
                                    </p:set>
                                    <p:anim calcmode="lin" valueType="num">
                                      <p:cBhvr additive="base">
                                        <p:cTn id="35" dur="500" fill="hold"/>
                                        <p:tgtEl>
                                          <p:spTgt spid="23560"/>
                                        </p:tgtEl>
                                        <p:attrNameLst>
                                          <p:attrName>ppt_x</p:attrName>
                                        </p:attrNameLst>
                                      </p:cBhvr>
                                      <p:tavLst>
                                        <p:tav tm="0">
                                          <p:val>
                                            <p:strVal val="#ppt_x"/>
                                          </p:val>
                                        </p:tav>
                                        <p:tav tm="100000">
                                          <p:val>
                                            <p:strVal val="#ppt_x"/>
                                          </p:val>
                                        </p:tav>
                                      </p:tavLst>
                                    </p:anim>
                                    <p:anim calcmode="lin" valueType="num">
                                      <p:cBhvr additive="base">
                                        <p:cTn id="36" dur="500" fill="hold"/>
                                        <p:tgtEl>
                                          <p:spTgt spid="235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3560" grpId="0"/>
      <p:bldP spid="23560" grpId="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6"/>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24579" name="矩形 3"/>
          <p:cNvSpPr/>
          <p:nvPr/>
        </p:nvSpPr>
        <p:spPr>
          <a:xfrm>
            <a:off x="1306513" y="854075"/>
            <a:ext cx="6840855" cy="645160"/>
          </a:xfrm>
          <a:prstGeom prst="rect">
            <a:avLst/>
          </a:prstGeom>
          <a:noFill/>
          <a:ln w="9525">
            <a:noFill/>
          </a:ln>
        </p:spPr>
        <p:txBody>
          <a:bodyPr wrap="none" anchor="t">
            <a:spAutoFit/>
          </a:bodyPr>
          <a:lstStyle/>
          <a:p>
            <a:pPr defTabSz="457200">
              <a:spcAft>
                <a:spcPts val="0"/>
              </a:spcAft>
            </a:pPr>
            <a:r>
              <a:rPr lang="zh-CN" altLang="en-US" sz="3600" b="1" dirty="0">
                <a:solidFill>
                  <a:srgbClr val="000000"/>
                </a:solidFill>
                <a:latin typeface="黑体" panose="02010609060101010101" charset="-122"/>
                <a:ea typeface="黑体" panose="02010609060101010101" charset="-122"/>
                <a:cs typeface="黑体" panose="02010609060101010101" charset="-122"/>
              </a:rPr>
              <a:t>希望大家通过本课程，重点关注</a:t>
            </a:r>
            <a:r>
              <a:rPr lang="en-US" altLang="zh-CN" sz="3600" b="1" dirty="0">
                <a:solidFill>
                  <a:srgbClr val="000000"/>
                </a:solidFill>
                <a:latin typeface="黑体" panose="02010609060101010101" charset="-122"/>
                <a:ea typeface="黑体" panose="02010609060101010101" charset="-122"/>
                <a:cs typeface="黑体" panose="02010609060101010101" charset="-122"/>
              </a:rPr>
              <a:t>:</a:t>
            </a:r>
          </a:p>
        </p:txBody>
      </p:sp>
      <p:sp>
        <p:nvSpPr>
          <p:cNvPr id="5" name="等腰三角形 4"/>
          <p:cNvSpPr/>
          <p:nvPr/>
        </p:nvSpPr>
        <p:spPr>
          <a:xfrm>
            <a:off x="874713" y="1501775"/>
            <a:ext cx="2160588" cy="2160588"/>
          </a:xfrm>
          <a:prstGeom prst="triangle">
            <a:avLst/>
          </a:prstGeom>
          <a:solidFill>
            <a:srgbClr val="ED7D31"/>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600" kern="0" noProof="0" dirty="0">
                <a:ln>
                  <a:noFill/>
                </a:ln>
                <a:solidFill>
                  <a:srgbClr val="000000"/>
                </a:solidFill>
                <a:effectLst/>
                <a:uLnTx/>
                <a:uFillTx/>
                <a:latin typeface="黑体" panose="02010609060101010101" charset="-122"/>
                <a:ea typeface="黑体" panose="02010609060101010101" charset="-122"/>
                <a:sym typeface="+mn-ea"/>
              </a:rPr>
              <a:t>English</a:t>
            </a:r>
            <a:endParaRPr kumimoji="0" lang="en-US" altLang="zh-CN" sz="16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600" kern="0" noProof="0" dirty="0">
                <a:ln>
                  <a:noFill/>
                </a:ln>
                <a:solidFill>
                  <a:srgbClr val="000000"/>
                </a:solidFill>
                <a:effectLst/>
                <a:uLnTx/>
                <a:uFillTx/>
                <a:latin typeface="黑体" panose="02010609060101010101" charset="-122"/>
                <a:ea typeface="黑体" panose="02010609060101010101" charset="-122"/>
                <a:sym typeface="+mn-ea"/>
              </a:rPr>
              <a:t>learning</a:t>
            </a:r>
            <a:endParaRPr kumimoji="0" lang="en-US" altLang="zh-CN" sz="16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24581" name="矩形 5"/>
          <p:cNvSpPr/>
          <p:nvPr/>
        </p:nvSpPr>
        <p:spPr>
          <a:xfrm>
            <a:off x="2746375" y="1862138"/>
            <a:ext cx="49834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时代在进步，对大学生语言能力的要求也在升高</a:t>
            </a:r>
          </a:p>
        </p:txBody>
      </p:sp>
      <p:graphicFrame>
        <p:nvGraphicFramePr>
          <p:cNvPr id="7" name="图示 6"/>
          <p:cNvGraphicFramePr/>
          <p:nvPr/>
        </p:nvGraphicFramePr>
        <p:xfrm>
          <a:off x="3347862" y="2421696"/>
          <a:ext cx="6096000" cy="4064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4583" name="矩形 7"/>
          <p:cNvSpPr/>
          <p:nvPr/>
        </p:nvSpPr>
        <p:spPr>
          <a:xfrm>
            <a:off x="874713" y="4741863"/>
            <a:ext cx="26974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基本要求，建议大一完成</a:t>
            </a:r>
          </a:p>
        </p:txBody>
      </p:sp>
      <p:cxnSp>
        <p:nvCxnSpPr>
          <p:cNvPr id="24584" name="直接连接符 9"/>
          <p:cNvCxnSpPr/>
          <p:nvPr/>
        </p:nvCxnSpPr>
        <p:spPr>
          <a:xfrm flipH="1" flipV="1">
            <a:off x="3921125" y="5122863"/>
            <a:ext cx="554038" cy="504825"/>
          </a:xfrm>
          <a:prstGeom prst="line">
            <a:avLst/>
          </a:prstGeom>
          <a:ln w="28575" cap="flat" cmpd="sng">
            <a:solidFill>
              <a:srgbClr val="000000"/>
            </a:solidFill>
            <a:prstDash val="solid"/>
            <a:miter/>
            <a:headEnd type="none" w="med" len="med"/>
            <a:tailEnd type="none" w="med" len="med"/>
          </a:ln>
        </p:spPr>
      </p:cxnSp>
      <p:cxnSp>
        <p:nvCxnSpPr>
          <p:cNvPr id="24585" name="直接连接符 10"/>
          <p:cNvCxnSpPr/>
          <p:nvPr/>
        </p:nvCxnSpPr>
        <p:spPr>
          <a:xfrm>
            <a:off x="971550" y="5122863"/>
            <a:ext cx="2949575" cy="0"/>
          </a:xfrm>
          <a:prstGeom prst="line">
            <a:avLst/>
          </a:prstGeom>
          <a:ln w="28575" cap="flat" cmpd="sng">
            <a:solidFill>
              <a:srgbClr val="000000"/>
            </a:solidFill>
            <a:prstDash val="solid"/>
            <a:miter/>
            <a:headEnd type="none" w="med" len="med"/>
            <a:tailEnd type="none" w="med" len="med"/>
          </a:ln>
        </p:spPr>
      </p:cxnSp>
      <p:cxnSp>
        <p:nvCxnSpPr>
          <p:cNvPr id="24586" name="直接连接符 11"/>
          <p:cNvCxnSpPr/>
          <p:nvPr/>
        </p:nvCxnSpPr>
        <p:spPr>
          <a:xfrm flipH="1" flipV="1">
            <a:off x="4857750" y="4237038"/>
            <a:ext cx="338138" cy="288925"/>
          </a:xfrm>
          <a:prstGeom prst="line">
            <a:avLst/>
          </a:prstGeom>
          <a:ln w="28575" cap="flat" cmpd="sng">
            <a:solidFill>
              <a:srgbClr val="000000"/>
            </a:solidFill>
            <a:prstDash val="solid"/>
            <a:miter/>
            <a:headEnd type="none" w="med" len="med"/>
            <a:tailEnd type="none" w="med" len="med"/>
          </a:ln>
        </p:spPr>
      </p:cxnSp>
      <p:cxnSp>
        <p:nvCxnSpPr>
          <p:cNvPr id="24587" name="直接连接符 12"/>
          <p:cNvCxnSpPr/>
          <p:nvPr/>
        </p:nvCxnSpPr>
        <p:spPr>
          <a:xfrm>
            <a:off x="2027238" y="4237038"/>
            <a:ext cx="2830512" cy="0"/>
          </a:xfrm>
          <a:prstGeom prst="line">
            <a:avLst/>
          </a:prstGeom>
          <a:ln w="28575" cap="flat" cmpd="sng">
            <a:solidFill>
              <a:srgbClr val="000000"/>
            </a:solidFill>
            <a:prstDash val="solid"/>
            <a:miter/>
            <a:headEnd type="none" w="med" len="med"/>
            <a:tailEnd type="none" w="med" len="med"/>
          </a:ln>
        </p:spPr>
      </p:cxnSp>
      <p:sp>
        <p:nvSpPr>
          <p:cNvPr id="24588" name="矩形 13"/>
          <p:cNvSpPr/>
          <p:nvPr/>
        </p:nvSpPr>
        <p:spPr>
          <a:xfrm>
            <a:off x="2027238" y="3868738"/>
            <a:ext cx="28117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发展趋势，建议大二</a:t>
            </a:r>
            <a:r>
              <a:rPr lang="en-US" altLang="zh-CN" sz="1800" dirty="0">
                <a:solidFill>
                  <a:srgbClr val="000000"/>
                </a:solidFill>
                <a:latin typeface="黑体" panose="02010609060101010101" charset="-122"/>
                <a:ea typeface="黑体" panose="02010609060101010101" charset="-122"/>
                <a:cs typeface="黑体" panose="02010609060101010101" charset="-122"/>
              </a:rPr>
              <a:t>/</a:t>
            </a:r>
            <a:r>
              <a:rPr lang="zh-CN" altLang="en-US" sz="1800" dirty="0">
                <a:solidFill>
                  <a:srgbClr val="000000"/>
                </a:solidFill>
                <a:latin typeface="黑体" panose="02010609060101010101" charset="-122"/>
                <a:ea typeface="黑体" panose="02010609060101010101" charset="-122"/>
                <a:cs typeface="黑体" panose="02010609060101010101" charset="-122"/>
              </a:rPr>
              <a:t>大三</a:t>
            </a:r>
          </a:p>
        </p:txBody>
      </p:sp>
      <p:cxnSp>
        <p:nvCxnSpPr>
          <p:cNvPr id="24589" name="直接连接符 14"/>
          <p:cNvCxnSpPr/>
          <p:nvPr/>
        </p:nvCxnSpPr>
        <p:spPr>
          <a:xfrm flipH="1" flipV="1">
            <a:off x="5627688" y="3373438"/>
            <a:ext cx="144462" cy="144462"/>
          </a:xfrm>
          <a:prstGeom prst="line">
            <a:avLst/>
          </a:prstGeom>
          <a:ln w="28575" cap="flat" cmpd="sng">
            <a:solidFill>
              <a:srgbClr val="000000"/>
            </a:solidFill>
            <a:prstDash val="solid"/>
            <a:miter/>
            <a:headEnd type="none" w="med" len="med"/>
            <a:tailEnd type="none" w="med" len="med"/>
          </a:ln>
        </p:spPr>
      </p:cxnSp>
      <p:cxnSp>
        <p:nvCxnSpPr>
          <p:cNvPr id="24590" name="直接连接符 15"/>
          <p:cNvCxnSpPr/>
          <p:nvPr/>
        </p:nvCxnSpPr>
        <p:spPr>
          <a:xfrm>
            <a:off x="3481388" y="3373438"/>
            <a:ext cx="2146300" cy="0"/>
          </a:xfrm>
          <a:prstGeom prst="line">
            <a:avLst/>
          </a:prstGeom>
          <a:ln w="28575" cap="flat" cmpd="sng">
            <a:solidFill>
              <a:srgbClr val="000000"/>
            </a:solidFill>
            <a:prstDash val="solid"/>
            <a:miter/>
            <a:headEnd type="none" w="med" len="med"/>
            <a:tailEnd type="none" w="med" len="med"/>
          </a:ln>
        </p:spPr>
      </p:cxnSp>
      <p:sp>
        <p:nvSpPr>
          <p:cNvPr id="24591" name="矩形 16"/>
          <p:cNvSpPr/>
          <p:nvPr/>
        </p:nvSpPr>
        <p:spPr>
          <a:xfrm>
            <a:off x="3467100" y="3003550"/>
            <a:ext cx="10972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深造必备</a:t>
            </a:r>
          </a:p>
        </p:txBody>
      </p:sp>
      <p:pic>
        <p:nvPicPr>
          <p:cNvPr id="2" name="SDR Angel-Full Duplex Radio Communication with PlutoSDR Tutorial">
            <a:hlinkClick r:id="" action="ppaction://media"/>
          </p:cNvPr>
          <p:cNvPicPr/>
          <p:nvPr>
            <a:videoFile r:link="rId4"/>
            <p:extLst>
              <p:ext uri="{DAA4B4D4-6D71-4841-9C94-3DE7FCFB9230}">
                <p14:media xmlns:p14="http://schemas.microsoft.com/office/powerpoint/2010/main" r:embed="rId3"/>
              </p:ext>
            </p:extLst>
          </p:nvPr>
        </p:nvPicPr>
        <p:blipFill>
          <a:blip r:embed="rId12"/>
          <a:stretch>
            <a:fillRect/>
          </a:stretch>
        </p:blipFill>
        <p:spPr>
          <a:xfrm>
            <a:off x="1303655" y="2703830"/>
            <a:ext cx="6759575" cy="376745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p:cTn id="9" fill="hold" display="1">
                  <p:stCondLst>
                    <p:cond delay="indefinite"/>
                  </p:stCondLst>
                  <p:endCondLst>
                    <p:cond evt="onNext" delay="0">
                      <p:tgtEl>
                        <p:sldTgt/>
                      </p:tgtEl>
                    </p:cond>
                    <p:cond evt="onPrev" delay="0">
                      <p:tgtEl>
                        <p:sldTgt/>
                      </p:tgtEl>
                    </p:cond>
                  </p:endCondLst>
                </p:cTn>
                <p:tgtEl>
                  <p:spTgt spid="2"/>
                </p:tgtEl>
              </p:cMediaNode>
            </p:video>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userDrawn="1">
            <p:custDataLst>
              <p:tags r:id="rId1"/>
            </p:custDataLst>
          </p:nvPr>
        </p:nvPicPr>
        <p:blipFill>
          <a:blip r:embed="rId5"/>
          <a:stretch>
            <a:fillRect/>
          </a:stretch>
        </p:blipFill>
        <p:spPr>
          <a:xfrm>
            <a:off x="48577" y="249238"/>
            <a:ext cx="1127284" cy="1068705"/>
          </a:xfrm>
          <a:prstGeom prst="rect">
            <a:avLst/>
          </a:prstGeom>
        </p:spPr>
      </p:pic>
      <p:sp>
        <p:nvSpPr>
          <p:cNvPr id="9" name="Rectangle 2"/>
          <p:cNvSpPr>
            <a:spLocks noGrp="1" noChangeArrowheads="1"/>
          </p:cNvSpPr>
          <p:nvPr/>
        </p:nvSpPr>
        <p:spPr>
          <a:xfrm>
            <a:off x="1187450" y="44450"/>
            <a:ext cx="6624638" cy="792163"/>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24579" name="矩形 3"/>
          <p:cNvSpPr/>
          <p:nvPr/>
        </p:nvSpPr>
        <p:spPr>
          <a:xfrm>
            <a:off x="1306513" y="854075"/>
            <a:ext cx="6840855" cy="645160"/>
          </a:xfrm>
          <a:prstGeom prst="rect">
            <a:avLst/>
          </a:prstGeom>
          <a:noFill/>
          <a:ln w="9525">
            <a:noFill/>
          </a:ln>
        </p:spPr>
        <p:txBody>
          <a:bodyPr wrap="none" anchor="t">
            <a:spAutoFit/>
          </a:bodyPr>
          <a:lstStyle/>
          <a:p>
            <a:pPr defTabSz="457200">
              <a:spcAft>
                <a:spcPts val="0"/>
              </a:spcAft>
            </a:pPr>
            <a:r>
              <a:rPr lang="zh-CN" altLang="en-US" sz="3600" b="1" dirty="0">
                <a:solidFill>
                  <a:srgbClr val="000000"/>
                </a:solidFill>
                <a:latin typeface="黑体" panose="02010609060101010101" charset="-122"/>
                <a:ea typeface="黑体" panose="02010609060101010101" charset="-122"/>
                <a:cs typeface="黑体" panose="02010609060101010101" charset="-122"/>
              </a:rPr>
              <a:t>希望大家通过本课程，重点关注</a:t>
            </a:r>
            <a:r>
              <a:rPr lang="en-US" altLang="zh-CN" sz="3600" b="1" dirty="0">
                <a:solidFill>
                  <a:srgbClr val="000000"/>
                </a:solidFill>
                <a:latin typeface="黑体" panose="02010609060101010101" charset="-122"/>
                <a:ea typeface="黑体" panose="02010609060101010101" charset="-122"/>
                <a:cs typeface="黑体" panose="02010609060101010101" charset="-122"/>
              </a:rPr>
              <a:t>:</a:t>
            </a:r>
          </a:p>
        </p:txBody>
      </p:sp>
      <p:sp>
        <p:nvSpPr>
          <p:cNvPr id="24581" name="矩形 5"/>
          <p:cNvSpPr/>
          <p:nvPr/>
        </p:nvSpPr>
        <p:spPr>
          <a:xfrm>
            <a:off x="2411730" y="1484948"/>
            <a:ext cx="49834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时代在进步，对大学生语言能力的要求也在升高</a:t>
            </a:r>
          </a:p>
        </p:txBody>
      </p:sp>
      <p:sp>
        <p:nvSpPr>
          <p:cNvPr id="2" name="矩形 5"/>
          <p:cNvSpPr/>
          <p:nvPr/>
        </p:nvSpPr>
        <p:spPr>
          <a:xfrm>
            <a:off x="610870" y="1853565"/>
            <a:ext cx="7702550" cy="368300"/>
          </a:xfrm>
          <a:prstGeom prst="rect">
            <a:avLst/>
          </a:prstGeom>
          <a:noFill/>
          <a:ln w="9525">
            <a:noFill/>
          </a:ln>
        </p:spPr>
        <p:txBody>
          <a:bodyPr wrap="square" anchor="t">
            <a:spAutoFit/>
          </a:bodyPr>
          <a:lstStyle/>
          <a:p>
            <a:pPr defTabSz="457200">
              <a:spcAft>
                <a:spcPts val="0"/>
              </a:spcAft>
            </a:pPr>
            <a:r>
              <a:rPr lang="zh-CN" altLang="en-US" sz="1800" dirty="0">
                <a:solidFill>
                  <a:srgbClr val="0070C0"/>
                </a:solidFill>
                <a:latin typeface="黑体" panose="02010609060101010101" charset="-122"/>
                <a:ea typeface="黑体" panose="02010609060101010101" charset="-122"/>
              </a:rPr>
              <a:t>出色的语言表达成为科技博主的基本要求！而清晰专业的写作是基础！</a:t>
            </a:r>
          </a:p>
        </p:txBody>
      </p:sp>
      <p:pic>
        <p:nvPicPr>
          <p:cNvPr id="3" name="稚晖君">
            <a:hlinkClick r:id="" action="ppaction://media"/>
          </p:cNvPr>
          <p:cNvPicPr/>
          <p:nvPr>
            <a:videoFile r:link="rId3"/>
            <p:extLst>
              <p:ext uri="{DAA4B4D4-6D71-4841-9C94-3DE7FCFB9230}">
                <p14:media xmlns:p14="http://schemas.microsoft.com/office/powerpoint/2010/main" r:embed="rId2"/>
              </p:ext>
            </p:extLst>
          </p:nvPr>
        </p:nvPicPr>
        <p:blipFill>
          <a:blip r:embed="rId6"/>
          <a:stretch>
            <a:fillRect/>
          </a:stretch>
        </p:blipFill>
        <p:spPr>
          <a:xfrm>
            <a:off x="611505" y="2348865"/>
            <a:ext cx="7075170" cy="3446780"/>
          </a:xfrm>
          <a:prstGeom prst="rect">
            <a:avLst/>
          </a:prstGeom>
        </p:spPr>
      </p:pic>
    </p:spTree>
  </p:cSld>
  <p:clrMapOvr>
    <a:masterClrMapping/>
  </p:clrMapOvr>
  <p:timing>
    <p:tnLst>
      <p:par>
        <p:cTn id="1" dur="indefinite" restart="never" nodeType="tmRoot">
          <p:childTnLst>
            <p:video>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26627" name="矩形 7"/>
          <p:cNvSpPr/>
          <p:nvPr/>
        </p:nvSpPr>
        <p:spPr>
          <a:xfrm>
            <a:off x="1619250" y="1198563"/>
            <a:ext cx="4773930"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a:t>
            </a:r>
            <a:r>
              <a:rPr lang="zh-CN" altLang="en-US" sz="3600" b="1" dirty="0">
                <a:solidFill>
                  <a:srgbClr val="000000"/>
                </a:solidFill>
                <a:latin typeface="黑体" panose="02010609060101010101" charset="-122"/>
                <a:ea typeface="黑体" panose="02010609060101010101" charset="-122"/>
              </a:rPr>
              <a:t>课程计划</a:t>
            </a:r>
          </a:p>
        </p:txBody>
      </p:sp>
      <p:sp>
        <p:nvSpPr>
          <p:cNvPr id="10" name="矩形 9"/>
          <p:cNvSpPr/>
          <p:nvPr/>
        </p:nvSpPr>
        <p:spPr>
          <a:xfrm>
            <a:off x="900430" y="1800225"/>
            <a:ext cx="6624955" cy="767080"/>
          </a:xfrm>
          <a:prstGeom prst="rect">
            <a:avLst/>
          </a:prstGeom>
          <a:solidFill>
            <a:srgbClr val="ED7D31">
              <a:lumMod val="40000"/>
              <a:lumOff val="60000"/>
            </a:srgbClr>
          </a:solidFill>
          <a:ln w="12700" cap="flat" cmpd="sng" algn="ctr">
            <a:solidFill>
              <a:srgbClr val="0070C0"/>
            </a:solid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文献检索和综述，选择一个研究主题，检索资料，撰写文献综述</a:t>
            </a:r>
          </a:p>
        </p:txBody>
      </p:sp>
      <p:sp>
        <p:nvSpPr>
          <p:cNvPr id="26629" name="矩形 10"/>
          <p:cNvSpPr/>
          <p:nvPr/>
        </p:nvSpPr>
        <p:spPr>
          <a:xfrm>
            <a:off x="70485" y="2593340"/>
            <a:ext cx="6533515" cy="3599815"/>
          </a:xfrm>
          <a:prstGeom prst="rect">
            <a:avLst/>
          </a:prstGeom>
          <a:noFill/>
          <a:ln w="9525">
            <a:noFill/>
          </a:ln>
        </p:spPr>
        <p:txBody>
          <a:bodyPr wrap="square" anchor="t">
            <a:spAutoFit/>
          </a:bodyPr>
          <a:lstStyle/>
          <a:p>
            <a:pPr marL="571500" indent="-571500" defTabSz="457200">
              <a:spcAft>
                <a:spcPts val="1200"/>
              </a:spcAft>
              <a:buChar char="•"/>
            </a:pPr>
            <a:r>
              <a:rPr lang="zh-CN" altLang="en-US" sz="2400" dirty="0">
                <a:solidFill>
                  <a:srgbClr val="000000"/>
                </a:solidFill>
                <a:latin typeface="黑体" panose="02010609060101010101" charset="-122"/>
                <a:ea typeface="黑体" panose="02010609060101010101" charset="-122"/>
              </a:rPr>
              <a:t>要研究或开展的工作属于什么学科范畴？</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上网查找文献和资料的思路一般如何？</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如何利用好电子科技大学图书馆资源？</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怎么选择听科学讲座？</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怎样高效率的读论文和书籍，方法一样吗？</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如何选取重点？</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如何撰写文献综述？</a:t>
            </a:r>
          </a:p>
        </p:txBody>
      </p:sp>
      <p:sp>
        <p:nvSpPr>
          <p:cNvPr id="12" name="椭圆 11"/>
          <p:cNvSpPr/>
          <p:nvPr/>
        </p:nvSpPr>
        <p:spPr>
          <a:xfrm>
            <a:off x="7596188" y="1630363"/>
            <a:ext cx="1439863" cy="1443038"/>
          </a:xfrm>
          <a:prstGeom prst="ellipse">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kern="0" noProof="0" dirty="0">
                <a:ln>
                  <a:noFill/>
                </a:ln>
                <a:solidFill>
                  <a:srgbClr val="FFFFFF"/>
                </a:solidFill>
                <a:effectLst/>
                <a:uLnTx/>
                <a:uFillTx/>
                <a:latin typeface="黑体" panose="02010609060101010101" charset="-122"/>
                <a:ea typeface="黑体" panose="02010609060101010101" charset="-122"/>
                <a:sym typeface="+mn-ea"/>
              </a:rPr>
              <a:t>查听读写</a:t>
            </a:r>
            <a:endParaRPr kumimoji="0" lang="zh-CN" altLang="en-US" sz="24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pic>
        <p:nvPicPr>
          <p:cNvPr id="2" name="图片 1"/>
          <p:cNvPicPr>
            <a:picLocks noChangeAspect="1"/>
          </p:cNvPicPr>
          <p:nvPr/>
        </p:nvPicPr>
        <p:blipFill>
          <a:blip r:embed="rId5"/>
          <a:stretch>
            <a:fillRect/>
          </a:stretch>
        </p:blipFill>
        <p:spPr>
          <a:xfrm>
            <a:off x="6523355" y="3644900"/>
            <a:ext cx="2620645" cy="223901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9">
                                            <p:txEl>
                                              <p:pRg st="0" end="0"/>
                                            </p:txEl>
                                          </p:spTgt>
                                        </p:tgtEl>
                                        <p:attrNameLst>
                                          <p:attrName>style.visibility</p:attrName>
                                        </p:attrNameLst>
                                      </p:cBhvr>
                                      <p:to>
                                        <p:strVal val="visible"/>
                                      </p:to>
                                    </p:set>
                                    <p:animEffect transition="in" filter="blinds(horizontal)">
                                      <p:cBhvr>
                                        <p:cTn id="7" dur="500"/>
                                        <p:tgtEl>
                                          <p:spTgt spid="266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629">
                                            <p:txEl>
                                              <p:pRg st="1" end="1"/>
                                            </p:txEl>
                                          </p:spTgt>
                                        </p:tgtEl>
                                        <p:attrNameLst>
                                          <p:attrName>style.visibility</p:attrName>
                                        </p:attrNameLst>
                                      </p:cBhvr>
                                      <p:to>
                                        <p:strVal val="visible"/>
                                      </p:to>
                                    </p:set>
                                    <p:animEffect transition="in" filter="blinds(horizontal)">
                                      <p:cBhvr>
                                        <p:cTn id="12" dur="500"/>
                                        <p:tgtEl>
                                          <p:spTgt spid="266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629">
                                            <p:txEl>
                                              <p:pRg st="2" end="2"/>
                                            </p:txEl>
                                          </p:spTgt>
                                        </p:tgtEl>
                                        <p:attrNameLst>
                                          <p:attrName>style.visibility</p:attrName>
                                        </p:attrNameLst>
                                      </p:cBhvr>
                                      <p:to>
                                        <p:strVal val="visible"/>
                                      </p:to>
                                    </p:set>
                                    <p:animEffect transition="in" filter="blinds(horizontal)">
                                      <p:cBhvr>
                                        <p:cTn id="17" dur="500"/>
                                        <p:tgtEl>
                                          <p:spTgt spid="266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629">
                                            <p:txEl>
                                              <p:pRg st="3" end="3"/>
                                            </p:txEl>
                                          </p:spTgt>
                                        </p:tgtEl>
                                        <p:attrNameLst>
                                          <p:attrName>style.visibility</p:attrName>
                                        </p:attrNameLst>
                                      </p:cBhvr>
                                      <p:to>
                                        <p:strVal val="visible"/>
                                      </p:to>
                                    </p:set>
                                    <p:animEffect transition="in" filter="blinds(horizontal)">
                                      <p:cBhvr>
                                        <p:cTn id="22" dur="500"/>
                                        <p:tgtEl>
                                          <p:spTgt spid="26629">
                                            <p:txEl>
                                              <p:pRg st="3" end="3"/>
                                            </p:txEl>
                                          </p:spTgt>
                                        </p:tgtEl>
                                      </p:cBhvr>
                                    </p:animEffect>
                                  </p:childTnLst>
                                </p:cTn>
                              </p:par>
                              <p:par>
                                <p:cTn id="23" presetID="2" presetClass="entr" presetSubtype="4"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6629">
                                            <p:txEl>
                                              <p:pRg st="4" end="4"/>
                                            </p:txEl>
                                          </p:spTgt>
                                        </p:tgtEl>
                                        <p:attrNameLst>
                                          <p:attrName>style.visibility</p:attrName>
                                        </p:attrNameLst>
                                      </p:cBhvr>
                                      <p:to>
                                        <p:strVal val="visible"/>
                                      </p:to>
                                    </p:set>
                                    <p:animEffect transition="in" filter="blinds(horizontal)">
                                      <p:cBhvr>
                                        <p:cTn id="31" dur="500"/>
                                        <p:tgtEl>
                                          <p:spTgt spid="26629">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6629">
                                            <p:txEl>
                                              <p:pRg st="5" end="5"/>
                                            </p:txEl>
                                          </p:spTgt>
                                        </p:tgtEl>
                                        <p:attrNameLst>
                                          <p:attrName>style.visibility</p:attrName>
                                        </p:attrNameLst>
                                      </p:cBhvr>
                                      <p:to>
                                        <p:strVal val="visible"/>
                                      </p:to>
                                    </p:set>
                                    <p:animEffect transition="in" filter="blinds(horizontal)">
                                      <p:cBhvr>
                                        <p:cTn id="36" dur="500"/>
                                        <p:tgtEl>
                                          <p:spTgt spid="26629">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6629">
                                            <p:txEl>
                                              <p:pRg st="6" end="6"/>
                                            </p:txEl>
                                          </p:spTgt>
                                        </p:tgtEl>
                                        <p:attrNameLst>
                                          <p:attrName>style.visibility</p:attrName>
                                        </p:attrNameLst>
                                      </p:cBhvr>
                                      <p:to>
                                        <p:strVal val="visible"/>
                                      </p:to>
                                    </p:set>
                                    <p:animEffect transition="in" filter="blinds(horizontal)">
                                      <p:cBhvr>
                                        <p:cTn id="41" dur="500"/>
                                        <p:tgtEl>
                                          <p:spTgt spid="2662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27651" name="矩形 12"/>
          <p:cNvSpPr/>
          <p:nvPr/>
        </p:nvSpPr>
        <p:spPr>
          <a:xfrm>
            <a:off x="1692275" y="981075"/>
            <a:ext cx="4773930"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a:t>
            </a:r>
            <a:r>
              <a:rPr lang="zh-CN" altLang="en-US" sz="3600" b="1" dirty="0">
                <a:solidFill>
                  <a:srgbClr val="000000"/>
                </a:solidFill>
                <a:latin typeface="黑体" panose="02010609060101010101" charset="-122"/>
                <a:ea typeface="黑体" panose="02010609060101010101" charset="-122"/>
              </a:rPr>
              <a:t>课程计划</a:t>
            </a:r>
          </a:p>
        </p:txBody>
      </p:sp>
      <p:sp>
        <p:nvSpPr>
          <p:cNvPr id="14" name="矩形 13"/>
          <p:cNvSpPr/>
          <p:nvPr/>
        </p:nvSpPr>
        <p:spPr>
          <a:xfrm>
            <a:off x="785495" y="1916430"/>
            <a:ext cx="6918960" cy="1152525"/>
          </a:xfrm>
          <a:prstGeom prst="rect">
            <a:avLst/>
          </a:prstGeom>
          <a:solidFill>
            <a:srgbClr val="ED7D31">
              <a:lumMod val="40000"/>
              <a:lumOff val="60000"/>
            </a:srgbClr>
          </a:solidFill>
          <a:ln w="12700" cap="flat" cmpd="sng" algn="ctr">
            <a:solidFill>
              <a:srgbClr val="0070C0"/>
            </a:solid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科技报告、专利、论文</a:t>
            </a:r>
            <a:endParaRPr kumimoji="0" lang="en-US" altLang="zh-CN"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考核：根据资料，完成一份综述性论文及课堂报告</a:t>
            </a:r>
          </a:p>
        </p:txBody>
      </p:sp>
      <p:sp>
        <p:nvSpPr>
          <p:cNvPr id="27653" name="矩形 14"/>
          <p:cNvSpPr/>
          <p:nvPr/>
        </p:nvSpPr>
        <p:spPr>
          <a:xfrm>
            <a:off x="971550" y="3357563"/>
            <a:ext cx="7921625" cy="2553335"/>
          </a:xfrm>
          <a:prstGeom prst="rect">
            <a:avLst/>
          </a:prstGeom>
          <a:noFill/>
          <a:ln w="9525">
            <a:noFill/>
          </a:ln>
        </p:spPr>
        <p:txBody>
          <a:bodyPr anchor="t">
            <a:spAutoFit/>
          </a:bodyPr>
          <a:lstStyle/>
          <a:p>
            <a:pPr marL="571500" indent="-571500" defTabSz="457200">
              <a:spcAft>
                <a:spcPts val="1200"/>
              </a:spcAft>
              <a:buChar char="•"/>
            </a:pPr>
            <a:r>
              <a:rPr lang="zh-CN" altLang="en-US" sz="2400" dirty="0">
                <a:solidFill>
                  <a:srgbClr val="000000"/>
                </a:solidFill>
                <a:latin typeface="黑体" panose="02010609060101010101" charset="-122"/>
                <a:ea typeface="黑体" panose="02010609060101010101" charset="-122"/>
              </a:rPr>
              <a:t>电子信息专业中会遇到哪些书写内容？</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如何写好一份科技报告？</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什么是技术专利？其要求是什么？</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什么是科学论文？其要求是什么？</a:t>
            </a:r>
            <a:endParaRPr lang="en-US" altLang="zh-CN" sz="2400" dirty="0">
              <a:solidFill>
                <a:srgbClr val="000000"/>
              </a:solidFill>
              <a:latin typeface="黑体" panose="02010609060101010101" charset="-122"/>
              <a:ea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rPr>
              <a:t>什么是学位论文？其要求是什么？</a:t>
            </a:r>
          </a:p>
        </p:txBody>
      </p:sp>
      <p:sp>
        <p:nvSpPr>
          <p:cNvPr id="16" name="椭圆 15"/>
          <p:cNvSpPr/>
          <p:nvPr/>
        </p:nvSpPr>
        <p:spPr>
          <a:xfrm>
            <a:off x="7704138" y="1770698"/>
            <a:ext cx="1439863" cy="1441450"/>
          </a:xfrm>
          <a:prstGeom prst="ellipse">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3600" kern="0" noProof="0" dirty="0">
                <a:ln>
                  <a:noFill/>
                </a:ln>
                <a:solidFill>
                  <a:srgbClr val="FFFFFF"/>
                </a:solidFill>
                <a:effectLst/>
                <a:uLnTx/>
                <a:uFillTx/>
                <a:latin typeface="黑体" panose="02010609060101010101" charset="-122"/>
                <a:ea typeface="黑体" panose="02010609060101010101" charset="-122"/>
                <a:sym typeface="+mn-ea"/>
              </a:rPr>
              <a:t>写</a:t>
            </a:r>
            <a:endParaRPr kumimoji="0" lang="zh-CN" altLang="en-US" sz="36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3">
                                            <p:txEl>
                                              <p:pRg st="0" end="0"/>
                                            </p:txEl>
                                          </p:spTgt>
                                        </p:tgtEl>
                                        <p:attrNameLst>
                                          <p:attrName>style.visibility</p:attrName>
                                        </p:attrNameLst>
                                      </p:cBhvr>
                                      <p:to>
                                        <p:strVal val="visible"/>
                                      </p:to>
                                    </p:set>
                                    <p:animEffect transition="in" filter="blinds(horizontal)">
                                      <p:cBhvr>
                                        <p:cTn id="7" dur="500"/>
                                        <p:tgtEl>
                                          <p:spTgt spid="276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653">
                                            <p:txEl>
                                              <p:pRg st="1" end="1"/>
                                            </p:txEl>
                                          </p:spTgt>
                                        </p:tgtEl>
                                        <p:attrNameLst>
                                          <p:attrName>style.visibility</p:attrName>
                                        </p:attrNameLst>
                                      </p:cBhvr>
                                      <p:to>
                                        <p:strVal val="visible"/>
                                      </p:to>
                                    </p:set>
                                    <p:animEffect transition="in" filter="blinds(horizontal)">
                                      <p:cBhvr>
                                        <p:cTn id="12" dur="500"/>
                                        <p:tgtEl>
                                          <p:spTgt spid="276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653">
                                            <p:txEl>
                                              <p:pRg st="2" end="2"/>
                                            </p:txEl>
                                          </p:spTgt>
                                        </p:tgtEl>
                                        <p:attrNameLst>
                                          <p:attrName>style.visibility</p:attrName>
                                        </p:attrNameLst>
                                      </p:cBhvr>
                                      <p:to>
                                        <p:strVal val="visible"/>
                                      </p:to>
                                    </p:set>
                                    <p:animEffect transition="in" filter="blinds(horizontal)">
                                      <p:cBhvr>
                                        <p:cTn id="17" dur="500"/>
                                        <p:tgtEl>
                                          <p:spTgt spid="2765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653">
                                            <p:txEl>
                                              <p:pRg st="3" end="3"/>
                                            </p:txEl>
                                          </p:spTgt>
                                        </p:tgtEl>
                                        <p:attrNameLst>
                                          <p:attrName>style.visibility</p:attrName>
                                        </p:attrNameLst>
                                      </p:cBhvr>
                                      <p:to>
                                        <p:strVal val="visible"/>
                                      </p:to>
                                    </p:set>
                                    <p:animEffect transition="in" filter="blinds(horizontal)">
                                      <p:cBhvr>
                                        <p:cTn id="22" dur="500"/>
                                        <p:tgtEl>
                                          <p:spTgt spid="2765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7653">
                                            <p:txEl>
                                              <p:pRg st="4" end="4"/>
                                            </p:txEl>
                                          </p:spTgt>
                                        </p:tgtEl>
                                        <p:attrNameLst>
                                          <p:attrName>style.visibility</p:attrName>
                                        </p:attrNameLst>
                                      </p:cBhvr>
                                      <p:to>
                                        <p:strVal val="visible"/>
                                      </p:to>
                                    </p:set>
                                    <p:animEffect transition="in" filter="blinds(horizontal)">
                                      <p:cBhvr>
                                        <p:cTn id="27" dur="500"/>
                                        <p:tgtEl>
                                          <p:spTgt spid="276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sp>
        <p:nvSpPr>
          <p:cNvPr id="28675" name="矩形 3"/>
          <p:cNvSpPr/>
          <p:nvPr/>
        </p:nvSpPr>
        <p:spPr>
          <a:xfrm>
            <a:off x="1763713" y="1270000"/>
            <a:ext cx="4897495" cy="646331"/>
          </a:xfrm>
          <a:prstGeom prst="rect">
            <a:avLst/>
          </a:prstGeom>
          <a:noFill/>
          <a:ln w="9525">
            <a:noFill/>
          </a:ln>
        </p:spPr>
        <p:txBody>
          <a:bodyPr wrap="none" anchor="t">
            <a:spAutoFit/>
          </a:bodyPr>
          <a:lstStyle/>
          <a:p>
            <a:pPr defTabSz="457200"/>
            <a:r>
              <a:rPr lang="zh-CN" altLang="en-US" sz="3600" b="1" dirty="0">
                <a:solidFill>
                  <a:srgbClr val="000000"/>
                </a:solidFill>
                <a:latin typeface="黑体" panose="02010609060101010101" charset="-122"/>
                <a:ea typeface="黑体" panose="02010609060101010101" charset="-122"/>
              </a:rPr>
              <a:t>专业写作基础课程计划</a:t>
            </a:r>
          </a:p>
        </p:txBody>
      </p:sp>
      <p:sp>
        <p:nvSpPr>
          <p:cNvPr id="5" name="矩形 4"/>
          <p:cNvSpPr/>
          <p:nvPr/>
        </p:nvSpPr>
        <p:spPr>
          <a:xfrm>
            <a:off x="1043305" y="2206625"/>
            <a:ext cx="6624955" cy="765175"/>
          </a:xfrm>
          <a:prstGeom prst="rect">
            <a:avLst/>
          </a:prstGeom>
          <a:solidFill>
            <a:srgbClr val="ED7D31">
              <a:lumMod val="40000"/>
              <a:lumOff val="60000"/>
            </a:srgbClr>
          </a:solidFill>
          <a:ln w="12700" cap="flat" cmpd="sng" algn="ctr">
            <a:solidFill>
              <a:srgbClr val="0070C0"/>
            </a:solid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课堂交流：分组，每组抽签决定顺序</a:t>
            </a:r>
          </a:p>
        </p:txBody>
      </p:sp>
      <p:sp>
        <p:nvSpPr>
          <p:cNvPr id="28677" name="矩形 5"/>
          <p:cNvSpPr/>
          <p:nvPr/>
        </p:nvSpPr>
        <p:spPr>
          <a:xfrm>
            <a:off x="1042988" y="3145155"/>
            <a:ext cx="7921625" cy="2030095"/>
          </a:xfrm>
          <a:prstGeom prst="rect">
            <a:avLst/>
          </a:prstGeom>
          <a:noFill/>
          <a:ln w="9525">
            <a:noFill/>
          </a:ln>
        </p:spPr>
        <p:txBody>
          <a:bodyPr anchor="t">
            <a:spAutoFit/>
          </a:bodyPr>
          <a:lstStyle/>
          <a:p>
            <a:pPr marL="571500" indent="-571500" defTabSz="457200">
              <a:spcAft>
                <a:spcPts val="1200"/>
              </a:spcAft>
              <a:buChar char="•"/>
            </a:pPr>
            <a:r>
              <a:rPr lang="zh-CN" altLang="en-US" sz="2400" dirty="0">
                <a:solidFill>
                  <a:srgbClr val="000000"/>
                </a:solidFill>
                <a:latin typeface="黑体" panose="02010609060101010101" charset="-122"/>
                <a:ea typeface="黑体" panose="02010609060101010101" charset="-122"/>
                <a:cs typeface="黑体" panose="02010609060101010101" charset="-122"/>
              </a:rPr>
              <a:t>针对综述论文，开展研究合作</a:t>
            </a:r>
            <a:endParaRPr lang="en-US" altLang="zh-CN" sz="2400" dirty="0">
              <a:solidFill>
                <a:srgbClr val="000000"/>
              </a:solidFill>
              <a:latin typeface="黑体" panose="02010609060101010101" charset="-122"/>
              <a:ea typeface="黑体" panose="02010609060101010101" charset="-122"/>
              <a:cs typeface="黑体" panose="02010609060101010101" charset="-122"/>
            </a:endParaRPr>
          </a:p>
          <a:p>
            <a:pPr marL="571500" indent="-571500" defTabSz="457200">
              <a:spcAft>
                <a:spcPts val="1200"/>
              </a:spcAft>
              <a:buChar char="•"/>
            </a:pPr>
            <a:r>
              <a:rPr lang="zh-CN" altLang="en-US" sz="2400" dirty="0">
                <a:solidFill>
                  <a:srgbClr val="000000"/>
                </a:solidFill>
                <a:latin typeface="黑体" panose="02010609060101010101" charset="-122"/>
                <a:ea typeface="黑体" panose="02010609060101010101" charset="-122"/>
                <a:cs typeface="黑体" panose="02010609060101010101" charset="-122"/>
                <a:sym typeface="+mn-ea"/>
              </a:rPr>
              <a:t>准备</a:t>
            </a:r>
            <a:r>
              <a:rPr lang="zh-CN" altLang="en-US" sz="2400" dirty="0">
                <a:solidFill>
                  <a:srgbClr val="000000"/>
                </a:solidFill>
                <a:latin typeface="黑体" panose="02010609060101010101" charset="-122"/>
                <a:ea typeface="黑体" panose="02010609060101010101" charset="-122"/>
                <a:cs typeface="黑体" panose="02010609060101010101" charset="-122"/>
              </a:rPr>
              <a:t>用于专业性表达的幻灯片</a:t>
            </a:r>
            <a:endParaRPr lang="en-US" altLang="zh-CN" sz="2400" dirty="0">
              <a:solidFill>
                <a:srgbClr val="000000"/>
              </a:solidFill>
              <a:latin typeface="黑体" panose="02010609060101010101" charset="-122"/>
              <a:ea typeface="黑体" panose="02010609060101010101" charset="-122"/>
              <a:cs typeface="黑体" panose="02010609060101010101" charset="-122"/>
            </a:endParaRPr>
          </a:p>
          <a:p>
            <a:pPr marL="571500" indent="-571500" defTabSz="457200">
              <a:spcAft>
                <a:spcPts val="1200"/>
              </a:spcAft>
              <a:buChar char="•"/>
            </a:pPr>
            <a:r>
              <a:rPr lang="zh-CN" altLang="en-US" sz="2400" dirty="0">
                <a:solidFill>
                  <a:srgbClr val="000000"/>
                </a:solidFill>
                <a:latin typeface="黑体" panose="02010609060101010101" charset="-122"/>
                <a:ea typeface="黑体" panose="02010609060101010101" charset="-122"/>
                <a:cs typeface="黑体" panose="02010609060101010101" charset="-122"/>
              </a:rPr>
              <a:t>根据综述选题，确定撰写提纲</a:t>
            </a:r>
            <a:endParaRPr lang="en-US" altLang="zh-CN" sz="2400" dirty="0">
              <a:solidFill>
                <a:srgbClr val="000000"/>
              </a:solidFill>
              <a:latin typeface="黑体" panose="02010609060101010101" charset="-122"/>
              <a:ea typeface="黑体" panose="02010609060101010101" charset="-122"/>
              <a:cs typeface="黑体" panose="02010609060101010101" charset="-122"/>
            </a:endParaRPr>
          </a:p>
          <a:p>
            <a:pPr marL="571500" indent="-571500" defTabSz="457200">
              <a:spcAft>
                <a:spcPts val="1200"/>
              </a:spcAft>
              <a:buChar char="•"/>
            </a:pPr>
            <a:r>
              <a:rPr lang="zh-CN" altLang="en-US" sz="2400" dirty="0">
                <a:solidFill>
                  <a:srgbClr val="000000"/>
                </a:solidFill>
                <a:latin typeface="黑体" panose="02010609060101010101" charset="-122"/>
                <a:ea typeface="黑体" panose="02010609060101010101" charset="-122"/>
                <a:cs typeface="黑体" panose="02010609060101010101" charset="-122"/>
              </a:rPr>
              <a:t>有限时间，高质量、高效表达</a:t>
            </a:r>
          </a:p>
        </p:txBody>
      </p:sp>
      <p:sp>
        <p:nvSpPr>
          <p:cNvPr id="7" name="椭圆 6"/>
          <p:cNvSpPr/>
          <p:nvPr/>
        </p:nvSpPr>
        <p:spPr>
          <a:xfrm>
            <a:off x="7715250" y="1703388"/>
            <a:ext cx="1439863" cy="1441450"/>
          </a:xfrm>
          <a:prstGeom prst="ellipse">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说</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7">
                                            <p:txEl>
                                              <p:pRg st="0" end="0"/>
                                            </p:txEl>
                                          </p:spTgt>
                                        </p:tgtEl>
                                        <p:attrNameLst>
                                          <p:attrName>style.visibility</p:attrName>
                                        </p:attrNameLst>
                                      </p:cBhvr>
                                      <p:to>
                                        <p:strVal val="visible"/>
                                      </p:to>
                                    </p:set>
                                    <p:animEffect transition="in" filter="blinds(horizontal)">
                                      <p:cBhvr>
                                        <p:cTn id="7" dur="500"/>
                                        <p:tgtEl>
                                          <p:spTgt spid="286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7">
                                            <p:txEl>
                                              <p:pRg st="1" end="1"/>
                                            </p:txEl>
                                          </p:spTgt>
                                        </p:tgtEl>
                                        <p:attrNameLst>
                                          <p:attrName>style.visibility</p:attrName>
                                        </p:attrNameLst>
                                      </p:cBhvr>
                                      <p:to>
                                        <p:strVal val="visible"/>
                                      </p:to>
                                    </p:set>
                                    <p:animEffect transition="in" filter="blinds(horizontal)">
                                      <p:cBhvr>
                                        <p:cTn id="12" dur="500"/>
                                        <p:tgtEl>
                                          <p:spTgt spid="286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677">
                                            <p:txEl>
                                              <p:pRg st="2" end="2"/>
                                            </p:txEl>
                                          </p:spTgt>
                                        </p:tgtEl>
                                        <p:attrNameLst>
                                          <p:attrName>style.visibility</p:attrName>
                                        </p:attrNameLst>
                                      </p:cBhvr>
                                      <p:to>
                                        <p:strVal val="visible"/>
                                      </p:to>
                                    </p:set>
                                    <p:animEffect transition="in" filter="blinds(horizontal)">
                                      <p:cBhvr>
                                        <p:cTn id="17" dur="500"/>
                                        <p:tgtEl>
                                          <p:spTgt spid="286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8677">
                                            <p:txEl>
                                              <p:pRg st="3" end="3"/>
                                            </p:txEl>
                                          </p:spTgt>
                                        </p:tgtEl>
                                        <p:attrNameLst>
                                          <p:attrName>style.visibility</p:attrName>
                                        </p:attrNameLst>
                                      </p:cBhvr>
                                      <p:to>
                                        <p:strVal val="visible"/>
                                      </p:to>
                                    </p:set>
                                    <p:animEffect transition="in" filter="blinds(horizontal)">
                                      <p:cBhvr>
                                        <p:cTn id="22" dur="500"/>
                                        <p:tgtEl>
                                          <p:spTgt spid="2867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pic>
        <p:nvPicPr>
          <p:cNvPr id="29699" name="图片 4"/>
          <p:cNvPicPr>
            <a:picLocks noChangeAspect="1"/>
          </p:cNvPicPr>
          <p:nvPr/>
        </p:nvPicPr>
        <p:blipFill>
          <a:blip r:embed="rId6"/>
          <a:stretch>
            <a:fillRect/>
          </a:stretch>
        </p:blipFill>
        <p:spPr>
          <a:xfrm>
            <a:off x="48260" y="1844675"/>
            <a:ext cx="1246505" cy="1750060"/>
          </a:xfrm>
          <a:prstGeom prst="rect">
            <a:avLst/>
          </a:prstGeom>
          <a:noFill/>
          <a:ln w="9525">
            <a:noFill/>
          </a:ln>
        </p:spPr>
      </p:pic>
      <p:sp>
        <p:nvSpPr>
          <p:cNvPr id="29700" name="矩形 5"/>
          <p:cNvSpPr/>
          <p:nvPr/>
        </p:nvSpPr>
        <p:spPr>
          <a:xfrm>
            <a:off x="1284605" y="1630680"/>
            <a:ext cx="7465060" cy="2953385"/>
          </a:xfrm>
          <a:prstGeom prst="rect">
            <a:avLst/>
          </a:prstGeom>
          <a:noFill/>
          <a:ln w="9525">
            <a:noFill/>
          </a:ln>
        </p:spPr>
        <p:txBody>
          <a:bodyPr wrap="square" anchor="t">
            <a:spAutoFit/>
          </a:bodyPr>
          <a:lstStyle/>
          <a:p>
            <a:pPr defTabSz="457200">
              <a:spcAft>
                <a:spcPts val="600"/>
              </a:spcAft>
            </a:pPr>
            <a:r>
              <a:rPr lang="zh-CN" altLang="en-US" sz="2400" dirty="0">
                <a:solidFill>
                  <a:srgbClr val="0000FF"/>
                </a:solidFill>
                <a:latin typeface="黑体" panose="02010609060101010101" charset="-122"/>
                <a:ea typeface="黑体" panose="02010609060101010101" charset="-122"/>
                <a:cs typeface="黑体" panose="02010609060101010101" charset="-122"/>
              </a:rPr>
              <a:t>总要求</a:t>
            </a:r>
            <a:r>
              <a:rPr lang="zh-CN" altLang="en-US" sz="2400" dirty="0">
                <a:solidFill>
                  <a:srgbClr val="000000"/>
                </a:solidFill>
                <a:latin typeface="黑体" panose="02010609060101010101" charset="-122"/>
                <a:ea typeface="黑体" panose="02010609060101010101" charset="-122"/>
                <a:cs typeface="黑体" panose="02010609060101010101" charset="-122"/>
              </a:rPr>
              <a:t>：</a:t>
            </a:r>
            <a:r>
              <a:rPr lang="zh-CN" altLang="en-US" sz="2400" dirty="0">
                <a:solidFill>
                  <a:srgbClr val="FF0000"/>
                </a:solidFill>
                <a:latin typeface="黑体" panose="02010609060101010101" charset="-122"/>
                <a:ea typeface="黑体" panose="02010609060101010101" charset="-122"/>
                <a:cs typeface="黑体" panose="02010609060101010101" charset="-122"/>
              </a:rPr>
              <a:t>每人完成不少于</a:t>
            </a:r>
            <a:r>
              <a:rPr lang="en-US" altLang="zh-CN" sz="2400" dirty="0">
                <a:solidFill>
                  <a:srgbClr val="FF0000"/>
                </a:solidFill>
                <a:latin typeface="黑体" panose="02010609060101010101" charset="-122"/>
                <a:ea typeface="黑体" panose="02010609060101010101" charset="-122"/>
                <a:cs typeface="黑体" panose="02010609060101010101" charset="-122"/>
              </a:rPr>
              <a:t>1500</a:t>
            </a:r>
            <a:r>
              <a:rPr lang="zh-CN" altLang="en-US" sz="2400" dirty="0">
                <a:solidFill>
                  <a:srgbClr val="FF0000"/>
                </a:solidFill>
                <a:latin typeface="黑体" panose="02010609060101010101" charset="-122"/>
                <a:ea typeface="黑体" panose="02010609060101010101" charset="-122"/>
                <a:cs typeface="黑体" panose="02010609060101010101" charset="-122"/>
              </a:rPr>
              <a:t>字写作</a:t>
            </a:r>
          </a:p>
          <a:p>
            <a:pPr defTabSz="457200">
              <a:spcBef>
                <a:spcPts val="0"/>
              </a:spcBef>
              <a:spcAft>
                <a:spcPts val="600"/>
              </a:spcAft>
            </a:pPr>
            <a:r>
              <a:rPr lang="zh-CN" altLang="en-US" sz="2400" dirty="0">
                <a:solidFill>
                  <a:srgbClr val="000000"/>
                </a:solidFill>
                <a:latin typeface="黑体" panose="02010609060101010101" charset="-122"/>
                <a:ea typeface="黑体" panose="02010609060101010101" charset="-122"/>
                <a:cs typeface="黑体" panose="02010609060101010101" charset="-122"/>
              </a:rPr>
              <a:t>过程：</a:t>
            </a:r>
            <a:r>
              <a:rPr lang="en-US" altLang="zh-CN" sz="2400" dirty="0">
                <a:solidFill>
                  <a:srgbClr val="000000"/>
                </a:solidFill>
                <a:latin typeface="黑体" panose="02010609060101010101" charset="-122"/>
                <a:ea typeface="黑体" panose="02010609060101010101" charset="-122"/>
                <a:cs typeface="黑体" panose="02010609060101010101" charset="-122"/>
              </a:rPr>
              <a:t>(1)</a:t>
            </a:r>
            <a:r>
              <a:rPr lang="zh-CN" altLang="en-US" sz="2400" dirty="0">
                <a:solidFill>
                  <a:srgbClr val="000000"/>
                </a:solidFill>
                <a:latin typeface="黑体" panose="02010609060101010101" charset="-122"/>
                <a:ea typeface="黑体" panose="02010609060101010101" charset="-122"/>
                <a:cs typeface="黑体" panose="02010609060101010101" charset="-122"/>
              </a:rPr>
              <a:t>选题查新</a:t>
            </a:r>
            <a:r>
              <a:rPr lang="en-US" altLang="zh-CN" sz="2400" dirty="0">
                <a:solidFill>
                  <a:srgbClr val="000000"/>
                </a:solidFill>
                <a:latin typeface="黑体" panose="02010609060101010101" charset="-122"/>
                <a:ea typeface="黑体" panose="02010609060101010101" charset="-122"/>
                <a:cs typeface="黑体" panose="02010609060101010101" charset="-122"/>
              </a:rPr>
              <a:t>;(2)</a:t>
            </a:r>
            <a:r>
              <a:rPr lang="zh-CN" altLang="en-US" sz="2400" dirty="0">
                <a:solidFill>
                  <a:srgbClr val="000000"/>
                </a:solidFill>
                <a:latin typeface="黑体" panose="02010609060101010101" charset="-122"/>
                <a:ea typeface="黑体" panose="02010609060101010101" charset="-122"/>
                <a:cs typeface="黑体" panose="02010609060101010101" charset="-122"/>
                <a:sym typeface="+mn-ea"/>
              </a:rPr>
              <a:t>撰写综述及小论文；</a:t>
            </a:r>
          </a:p>
          <a:p>
            <a:pPr defTabSz="457200">
              <a:spcBef>
                <a:spcPts val="0"/>
              </a:spcBef>
              <a:spcAft>
                <a:spcPts val="600"/>
              </a:spcAft>
            </a:pPr>
            <a:r>
              <a:rPr lang="en-US" altLang="zh-CN" sz="2400" dirty="0">
                <a:solidFill>
                  <a:srgbClr val="000000"/>
                </a:solidFill>
                <a:latin typeface="黑体" panose="02010609060101010101" charset="-122"/>
                <a:ea typeface="黑体" panose="02010609060101010101" charset="-122"/>
                <a:cs typeface="黑体" panose="02010609060101010101" charset="-122"/>
                <a:sym typeface="+mn-ea"/>
              </a:rPr>
              <a:t>(3)</a:t>
            </a:r>
            <a:r>
              <a:rPr lang="zh-CN" altLang="en-US" sz="2400" dirty="0">
                <a:solidFill>
                  <a:srgbClr val="000000"/>
                </a:solidFill>
                <a:latin typeface="黑体" panose="02010609060101010101" charset="-122"/>
                <a:ea typeface="黑体" panose="02010609060101010101" charset="-122"/>
                <a:cs typeface="黑体" panose="02010609060101010101" charset="-122"/>
                <a:sym typeface="+mn-ea"/>
              </a:rPr>
              <a:t>提交</a:t>
            </a:r>
            <a:r>
              <a:rPr lang="en-US" altLang="zh-CN" sz="2400" dirty="0">
                <a:solidFill>
                  <a:srgbClr val="000000"/>
                </a:solidFill>
                <a:latin typeface="黑体" panose="02010609060101010101" charset="-122"/>
                <a:ea typeface="黑体" panose="02010609060101010101" charset="-122"/>
                <a:cs typeface="黑体" panose="02010609060101010101" charset="-122"/>
                <a:sym typeface="+mn-ea"/>
              </a:rPr>
              <a:t>-</a:t>
            </a:r>
            <a:r>
              <a:rPr lang="zh-CN" altLang="en-US" sz="2400" dirty="0">
                <a:solidFill>
                  <a:srgbClr val="000000"/>
                </a:solidFill>
                <a:latin typeface="黑体" panose="02010609060101010101" charset="-122"/>
                <a:ea typeface="黑体" panose="02010609060101010101" charset="-122"/>
                <a:cs typeface="黑体" panose="02010609060101010101" charset="-122"/>
                <a:sym typeface="+mn-ea"/>
              </a:rPr>
              <a:t>修改</a:t>
            </a:r>
            <a:r>
              <a:rPr lang="en-US" altLang="zh-CN" sz="2400" dirty="0">
                <a:solidFill>
                  <a:srgbClr val="000000"/>
                </a:solidFill>
                <a:latin typeface="黑体" panose="02010609060101010101" charset="-122"/>
                <a:ea typeface="黑体" panose="02010609060101010101" charset="-122"/>
                <a:cs typeface="黑体" panose="02010609060101010101" charset="-122"/>
                <a:sym typeface="+mn-ea"/>
              </a:rPr>
              <a:t>-</a:t>
            </a:r>
            <a:r>
              <a:rPr lang="zh-CN" altLang="en-US" sz="2400" dirty="0">
                <a:solidFill>
                  <a:srgbClr val="000000"/>
                </a:solidFill>
                <a:latin typeface="黑体" panose="02010609060101010101" charset="-122"/>
                <a:ea typeface="黑体" panose="02010609060101010101" charset="-122"/>
                <a:cs typeface="黑体" panose="02010609060101010101" charset="-122"/>
                <a:sym typeface="+mn-ea"/>
              </a:rPr>
              <a:t>完善，课堂点评；</a:t>
            </a:r>
            <a:r>
              <a:rPr lang="en-US" altLang="zh-CN" sz="2400" dirty="0">
                <a:solidFill>
                  <a:srgbClr val="000000"/>
                </a:solidFill>
                <a:latin typeface="黑体" panose="02010609060101010101" charset="-122"/>
                <a:ea typeface="黑体" panose="02010609060101010101" charset="-122"/>
                <a:cs typeface="黑体" panose="02010609060101010101" charset="-122"/>
                <a:sym typeface="+mn-ea"/>
              </a:rPr>
              <a:t>(4)</a:t>
            </a:r>
            <a:r>
              <a:rPr lang="zh-CN" altLang="en-US" sz="2400" dirty="0">
                <a:solidFill>
                  <a:srgbClr val="000000"/>
                </a:solidFill>
                <a:latin typeface="黑体" panose="02010609060101010101" charset="-122"/>
                <a:ea typeface="黑体" panose="02010609060101010101" charset="-122"/>
                <a:cs typeface="黑体" panose="02010609060101010101" charset="-122"/>
                <a:sym typeface="+mn-ea"/>
              </a:rPr>
              <a:t>课堂分组汇报</a:t>
            </a:r>
            <a:endParaRPr lang="zh-CN" altLang="en-US" sz="2400" dirty="0">
              <a:solidFill>
                <a:srgbClr val="FF0000"/>
              </a:solidFill>
              <a:latin typeface="黑体" panose="02010609060101010101" charset="-122"/>
              <a:ea typeface="黑体" panose="02010609060101010101" charset="-122"/>
              <a:cs typeface="黑体" panose="02010609060101010101" charset="-122"/>
            </a:endParaRPr>
          </a:p>
          <a:p>
            <a:pPr defTabSz="457200">
              <a:spcBef>
                <a:spcPts val="0"/>
              </a:spcBef>
              <a:spcAft>
                <a:spcPts val="600"/>
              </a:spcAft>
            </a:pPr>
            <a:r>
              <a:rPr lang="zh-CN" altLang="en-US" sz="2400" dirty="0">
                <a:solidFill>
                  <a:srgbClr val="0000FF"/>
                </a:solidFill>
                <a:latin typeface="黑体" panose="02010609060101010101" charset="-122"/>
                <a:ea typeface="黑体" panose="02010609060101010101" charset="-122"/>
                <a:cs typeface="黑体" panose="02010609060101010101" charset="-122"/>
              </a:rPr>
              <a:t>形式</a:t>
            </a:r>
            <a:r>
              <a:rPr lang="zh-CN" altLang="en-US" sz="2400" dirty="0">
                <a:solidFill>
                  <a:srgbClr val="000000"/>
                </a:solidFill>
                <a:latin typeface="黑体" panose="02010609060101010101" charset="-122"/>
                <a:ea typeface="黑体" panose="02010609060101010101" charset="-122"/>
                <a:cs typeface="黑体" panose="02010609060101010101" charset="-122"/>
              </a:rPr>
              <a:t>：</a:t>
            </a:r>
          </a:p>
          <a:p>
            <a:pPr defTabSz="457200">
              <a:spcBef>
                <a:spcPts val="0"/>
              </a:spcBef>
              <a:spcAft>
                <a:spcPts val="600"/>
              </a:spcAft>
            </a:pPr>
            <a:r>
              <a:rPr lang="zh-CN" altLang="en-US" sz="2000" dirty="0">
                <a:solidFill>
                  <a:srgbClr val="FF0000"/>
                </a:solidFill>
                <a:latin typeface="黑体" panose="02010609060101010101" charset="-122"/>
                <a:ea typeface="黑体" panose="02010609060101010101" charset="-122"/>
                <a:cs typeface="黑体" panose="02010609060101010101" charset="-122"/>
              </a:rPr>
              <a:t>（</a:t>
            </a:r>
            <a:r>
              <a:rPr lang="en-US" altLang="zh-CN" sz="2000" dirty="0">
                <a:solidFill>
                  <a:srgbClr val="FF0000"/>
                </a:solidFill>
                <a:latin typeface="黑体" panose="02010609060101010101" charset="-122"/>
                <a:ea typeface="黑体" panose="02010609060101010101" charset="-122"/>
                <a:cs typeface="黑体" panose="02010609060101010101" charset="-122"/>
              </a:rPr>
              <a:t>1</a:t>
            </a:r>
            <a:r>
              <a:rPr lang="zh-CN" altLang="en-US" sz="2000" dirty="0">
                <a:solidFill>
                  <a:srgbClr val="FF0000"/>
                </a:solidFill>
                <a:latin typeface="黑体" panose="02010609060101010101" charset="-122"/>
                <a:ea typeface="黑体" panose="02010609060101010101" charset="-122"/>
                <a:cs typeface="黑体" panose="02010609060101010101" charset="-122"/>
              </a:rPr>
              <a:t>）综述论文（</a:t>
            </a:r>
            <a:r>
              <a:rPr lang="en-US" altLang="zh-CN" sz="2000" dirty="0">
                <a:solidFill>
                  <a:srgbClr val="FF0000"/>
                </a:solidFill>
                <a:latin typeface="黑体" panose="02010609060101010101" charset="-122"/>
                <a:ea typeface="黑体" panose="02010609060101010101" charset="-122"/>
                <a:cs typeface="黑体" panose="02010609060101010101" charset="-122"/>
              </a:rPr>
              <a:t>3000</a:t>
            </a:r>
            <a:r>
              <a:rPr lang="zh-CN" altLang="en-US" sz="2000" dirty="0">
                <a:solidFill>
                  <a:srgbClr val="FF0000"/>
                </a:solidFill>
                <a:latin typeface="黑体" panose="02010609060101010101" charset="-122"/>
                <a:ea typeface="黑体" panose="02010609060101010101" charset="-122"/>
                <a:cs typeface="黑体" panose="02010609060101010101" charset="-122"/>
              </a:rPr>
              <a:t>字），分组完成，个人</a:t>
            </a:r>
            <a:r>
              <a:rPr lang="en-US" altLang="zh-CN" sz="2000" dirty="0">
                <a:solidFill>
                  <a:srgbClr val="FF0000"/>
                </a:solidFill>
                <a:latin typeface="黑体" panose="02010609060101010101" charset="-122"/>
                <a:ea typeface="黑体" panose="02010609060101010101" charset="-122"/>
                <a:cs typeface="黑体" panose="02010609060101010101" charset="-122"/>
              </a:rPr>
              <a:t>1000</a:t>
            </a:r>
            <a:r>
              <a:rPr lang="zh-CN" altLang="en-US" sz="2000" dirty="0">
                <a:solidFill>
                  <a:srgbClr val="FF0000"/>
                </a:solidFill>
                <a:latin typeface="黑体" panose="02010609060101010101" charset="-122"/>
                <a:ea typeface="黑体" panose="02010609060101010101" charset="-122"/>
                <a:cs typeface="黑体" panose="02010609060101010101" charset="-122"/>
              </a:rPr>
              <a:t>字；</a:t>
            </a:r>
          </a:p>
          <a:p>
            <a:pPr defTabSz="457200">
              <a:spcBef>
                <a:spcPts val="0"/>
              </a:spcBef>
              <a:spcAft>
                <a:spcPts val="600"/>
              </a:spcAft>
            </a:pPr>
            <a:r>
              <a:rPr lang="zh-CN" altLang="en-US" sz="2000" dirty="0">
                <a:solidFill>
                  <a:srgbClr val="FF0000"/>
                </a:solidFill>
                <a:latin typeface="黑体" panose="02010609060101010101" charset="-122"/>
                <a:ea typeface="黑体" panose="02010609060101010101" charset="-122"/>
                <a:cs typeface="黑体" panose="02010609060101010101" charset="-122"/>
              </a:rPr>
              <a:t>（</a:t>
            </a:r>
            <a:r>
              <a:rPr lang="en-US" altLang="zh-CN" sz="2000" dirty="0">
                <a:solidFill>
                  <a:srgbClr val="FF0000"/>
                </a:solidFill>
                <a:latin typeface="黑体" panose="02010609060101010101" charset="-122"/>
                <a:ea typeface="黑体" panose="02010609060101010101" charset="-122"/>
                <a:cs typeface="黑体" panose="02010609060101010101" charset="-122"/>
              </a:rPr>
              <a:t>2</a:t>
            </a:r>
            <a:r>
              <a:rPr lang="zh-CN" altLang="en-US" sz="2000" dirty="0">
                <a:solidFill>
                  <a:srgbClr val="FF0000"/>
                </a:solidFill>
                <a:latin typeface="黑体" panose="02010609060101010101" charset="-122"/>
                <a:ea typeface="黑体" panose="02010609060101010101" charset="-122"/>
                <a:cs typeface="黑体" panose="02010609060101010101" charset="-122"/>
              </a:rPr>
              <a:t>）课堂作业</a:t>
            </a:r>
            <a:r>
              <a:rPr lang="en-US" altLang="zh-CN" sz="2000" dirty="0">
                <a:solidFill>
                  <a:srgbClr val="FF0000"/>
                </a:solidFill>
                <a:latin typeface="黑体" panose="02010609060101010101" charset="-122"/>
                <a:ea typeface="黑体" panose="02010609060101010101" charset="-122"/>
                <a:cs typeface="黑体" panose="02010609060101010101" charset="-122"/>
              </a:rPr>
              <a:t>1</a:t>
            </a:r>
            <a:r>
              <a:rPr lang="zh-CN" altLang="en-US" sz="2000" dirty="0">
                <a:solidFill>
                  <a:srgbClr val="FF0000"/>
                </a:solidFill>
                <a:latin typeface="黑体" panose="02010609060101010101" charset="-122"/>
                <a:ea typeface="黑体" panose="02010609060101010101" charset="-122"/>
                <a:cs typeface="黑体" panose="02010609060101010101" charset="-122"/>
              </a:rPr>
              <a:t>次，习作点评</a:t>
            </a:r>
            <a:r>
              <a:rPr lang="en-US" altLang="zh-CN" sz="2000" dirty="0">
                <a:solidFill>
                  <a:srgbClr val="FF0000"/>
                </a:solidFill>
                <a:latin typeface="黑体" panose="02010609060101010101" charset="-122"/>
                <a:ea typeface="黑体" panose="02010609060101010101" charset="-122"/>
                <a:cs typeface="黑体" panose="02010609060101010101" charset="-122"/>
              </a:rPr>
              <a:t>1</a:t>
            </a:r>
            <a:r>
              <a:rPr lang="zh-CN" altLang="en-US" sz="2000" dirty="0">
                <a:solidFill>
                  <a:srgbClr val="FF0000"/>
                </a:solidFill>
                <a:latin typeface="黑体" panose="02010609060101010101" charset="-122"/>
                <a:ea typeface="黑体" panose="02010609060101010101" charset="-122"/>
                <a:cs typeface="黑体" panose="02010609060101010101" charset="-122"/>
              </a:rPr>
              <a:t>次（课下），论文修改说明</a:t>
            </a:r>
            <a:r>
              <a:rPr lang="en-US" altLang="zh-CN" sz="2000" dirty="0">
                <a:solidFill>
                  <a:srgbClr val="FF0000"/>
                </a:solidFill>
                <a:latin typeface="黑体" panose="02010609060101010101" charset="-122"/>
                <a:ea typeface="黑体" panose="02010609060101010101" charset="-122"/>
                <a:cs typeface="黑体" panose="02010609060101010101" charset="-122"/>
              </a:rPr>
              <a:t>1</a:t>
            </a:r>
            <a:r>
              <a:rPr lang="zh-CN" altLang="en-US" sz="2000" dirty="0">
                <a:solidFill>
                  <a:srgbClr val="FF0000"/>
                </a:solidFill>
                <a:latin typeface="黑体" panose="02010609060101010101" charset="-122"/>
                <a:ea typeface="黑体" panose="02010609060101010101" charset="-122"/>
                <a:cs typeface="黑体" panose="02010609060101010101" charset="-122"/>
              </a:rPr>
              <a:t>页</a:t>
            </a:r>
          </a:p>
          <a:p>
            <a:pPr defTabSz="457200">
              <a:spcAft>
                <a:spcPts val="600"/>
              </a:spcAft>
            </a:pPr>
            <a:endParaRPr lang="zh-CN" altLang="en-US" sz="2000" dirty="0">
              <a:solidFill>
                <a:srgbClr val="FF0000"/>
              </a:solidFill>
              <a:latin typeface="黑体" panose="02010609060101010101" charset="-122"/>
              <a:ea typeface="黑体" panose="02010609060101010101" charset="-122"/>
              <a:cs typeface="黑体" panose="02010609060101010101" charset="-122"/>
            </a:endParaRPr>
          </a:p>
        </p:txBody>
      </p:sp>
      <p:sp>
        <p:nvSpPr>
          <p:cNvPr id="8" name="圆角矩形 2"/>
          <p:cNvSpPr/>
          <p:nvPr/>
        </p:nvSpPr>
        <p:spPr>
          <a:xfrm>
            <a:off x="1854200" y="4653915"/>
            <a:ext cx="1441450" cy="1439863"/>
          </a:xfrm>
          <a:prstGeom prst="roundRect">
            <a:avLst/>
          </a:prstGeom>
          <a:solidFill>
            <a:srgbClr val="0070C0"/>
          </a:solidFill>
          <a:ln w="12700" cap="flat" cmpd="sng" algn="ctr">
            <a:solidFill>
              <a:sysClr val="windowText" lastClr="00000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综述论文</a:t>
            </a:r>
            <a:endPar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每组一份</a:t>
            </a:r>
            <a:endPar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按质评分</a:t>
            </a:r>
            <a:endPar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10" name="圆角矩形 24"/>
          <p:cNvSpPr/>
          <p:nvPr/>
        </p:nvSpPr>
        <p:spPr>
          <a:xfrm>
            <a:off x="3941763" y="4653915"/>
            <a:ext cx="1441450" cy="1439863"/>
          </a:xfrm>
          <a:prstGeom prst="roundRect">
            <a:avLst/>
          </a:prstGeom>
          <a:solidFill>
            <a:srgbClr val="00B050"/>
          </a:solidFill>
          <a:ln w="12700" cap="flat" cmpd="sng" algn="ctr">
            <a:solidFill>
              <a:sysClr val="windowText" lastClr="00000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课堂作业</a:t>
            </a:r>
            <a:endPar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习作点评</a:t>
            </a:r>
            <a:endPar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修改说明</a:t>
            </a:r>
            <a:endPar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按人评分</a:t>
            </a:r>
            <a:endPar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11" name="圆角矩形 25"/>
          <p:cNvSpPr/>
          <p:nvPr/>
        </p:nvSpPr>
        <p:spPr>
          <a:xfrm>
            <a:off x="6100763" y="4653915"/>
            <a:ext cx="1443038" cy="1439863"/>
          </a:xfrm>
          <a:prstGeom prst="roundRect">
            <a:avLst/>
          </a:prstGeom>
          <a:solidFill>
            <a:srgbClr val="7030A0"/>
          </a:solidFill>
          <a:ln w="12700" cap="flat" cmpd="sng" algn="ctr">
            <a:solidFill>
              <a:sysClr val="windowText" lastClr="00000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课堂交流</a:t>
            </a:r>
            <a:endPar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口头报告</a:t>
            </a:r>
            <a:endPar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按组评分</a:t>
            </a:r>
            <a:endPar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29705" name="矩形 11"/>
          <p:cNvSpPr/>
          <p:nvPr/>
        </p:nvSpPr>
        <p:spPr>
          <a:xfrm>
            <a:off x="1570990" y="6094095"/>
            <a:ext cx="1724660" cy="398780"/>
          </a:xfrm>
          <a:prstGeom prst="rect">
            <a:avLst/>
          </a:prstGeom>
          <a:noFill/>
          <a:ln w="9525">
            <a:noFill/>
          </a:ln>
        </p:spPr>
        <p:txBody>
          <a:bodyPr wrap="square" anchor="t">
            <a:spAutoFit/>
          </a:bodyPr>
          <a:lstStyle/>
          <a:p>
            <a:pPr algn="ctr" defTabSz="457200">
              <a:spcAft>
                <a:spcPts val="0"/>
              </a:spcAft>
            </a:pPr>
            <a:r>
              <a:rPr lang="zh-CN" altLang="en-US" sz="2000" b="1" dirty="0">
                <a:solidFill>
                  <a:srgbClr val="FF0000"/>
                </a:solidFill>
                <a:latin typeface="黑体" panose="02010609060101010101" charset="-122"/>
                <a:ea typeface="黑体" panose="02010609060101010101" charset="-122"/>
              </a:rPr>
              <a:t>课程论文</a:t>
            </a:r>
            <a:r>
              <a:rPr lang="en-US" altLang="zh-CN" sz="2000" b="1" dirty="0">
                <a:solidFill>
                  <a:srgbClr val="FF0000"/>
                </a:solidFill>
                <a:latin typeface="黑体" panose="02010609060101010101" charset="-122"/>
                <a:ea typeface="黑体" panose="02010609060101010101" charset="-122"/>
              </a:rPr>
              <a:t>40%</a:t>
            </a:r>
          </a:p>
        </p:txBody>
      </p:sp>
      <p:sp>
        <p:nvSpPr>
          <p:cNvPr id="29706" name="矩形 12"/>
          <p:cNvSpPr/>
          <p:nvPr/>
        </p:nvSpPr>
        <p:spPr>
          <a:xfrm>
            <a:off x="3942080" y="6094095"/>
            <a:ext cx="1731010" cy="398780"/>
          </a:xfrm>
          <a:prstGeom prst="rect">
            <a:avLst/>
          </a:prstGeom>
          <a:noFill/>
          <a:ln w="9525">
            <a:noFill/>
          </a:ln>
        </p:spPr>
        <p:txBody>
          <a:bodyPr wrap="square" anchor="t">
            <a:spAutoFit/>
          </a:bodyPr>
          <a:lstStyle/>
          <a:p>
            <a:pPr algn="ctr" defTabSz="457200">
              <a:spcAft>
                <a:spcPts val="0"/>
              </a:spcAft>
            </a:pPr>
            <a:r>
              <a:rPr lang="zh-CN" altLang="en-US" sz="2000" b="1" dirty="0">
                <a:solidFill>
                  <a:srgbClr val="FF0000"/>
                </a:solidFill>
                <a:latin typeface="黑体" panose="02010609060101010101" charset="-122"/>
                <a:ea typeface="黑体" panose="02010609060101010101" charset="-122"/>
              </a:rPr>
              <a:t>平时作业</a:t>
            </a:r>
            <a:r>
              <a:rPr lang="en-US" altLang="zh-CN" sz="2000" b="1" dirty="0">
                <a:solidFill>
                  <a:srgbClr val="FF0000"/>
                </a:solidFill>
                <a:latin typeface="黑体" panose="02010609060101010101" charset="-122"/>
                <a:ea typeface="黑体" panose="02010609060101010101" charset="-122"/>
              </a:rPr>
              <a:t>30%</a:t>
            </a:r>
          </a:p>
        </p:txBody>
      </p:sp>
      <p:sp>
        <p:nvSpPr>
          <p:cNvPr id="29707" name="矩形 13"/>
          <p:cNvSpPr/>
          <p:nvPr/>
        </p:nvSpPr>
        <p:spPr>
          <a:xfrm>
            <a:off x="6099175" y="6094095"/>
            <a:ext cx="1863725" cy="398780"/>
          </a:xfrm>
          <a:prstGeom prst="rect">
            <a:avLst/>
          </a:prstGeom>
          <a:noFill/>
          <a:ln w="9525">
            <a:noFill/>
          </a:ln>
        </p:spPr>
        <p:txBody>
          <a:bodyPr wrap="square" anchor="t">
            <a:spAutoFit/>
          </a:bodyPr>
          <a:lstStyle/>
          <a:p>
            <a:pPr algn="ctr" defTabSz="457200">
              <a:spcAft>
                <a:spcPts val="0"/>
              </a:spcAft>
            </a:pPr>
            <a:r>
              <a:rPr lang="zh-CN" altLang="en-US" sz="2000" b="1" dirty="0">
                <a:solidFill>
                  <a:srgbClr val="FF0000"/>
                </a:solidFill>
                <a:latin typeface="黑体" panose="02010609060101010101" charset="-122"/>
                <a:ea typeface="黑体" panose="02010609060101010101" charset="-122"/>
              </a:rPr>
              <a:t>课堂报告</a:t>
            </a:r>
            <a:r>
              <a:rPr lang="en-US" altLang="zh-CN" sz="2000" b="1" dirty="0">
                <a:solidFill>
                  <a:srgbClr val="FF0000"/>
                </a:solidFill>
                <a:latin typeface="黑体" panose="02010609060101010101" charset="-122"/>
                <a:ea typeface="黑体" panose="02010609060101010101" charset="-122"/>
              </a:rPr>
              <a:t>30%</a:t>
            </a:r>
          </a:p>
        </p:txBody>
      </p:sp>
      <p:pic>
        <p:nvPicPr>
          <p:cNvPr id="29708" name="图片 14"/>
          <p:cNvPicPr>
            <a:picLocks noChangeAspect="1"/>
          </p:cNvPicPr>
          <p:nvPr/>
        </p:nvPicPr>
        <p:blipFill>
          <a:blip r:embed="rId7"/>
          <a:stretch>
            <a:fillRect/>
          </a:stretch>
        </p:blipFill>
        <p:spPr>
          <a:xfrm>
            <a:off x="107950" y="4074795"/>
            <a:ext cx="593090" cy="794385"/>
          </a:xfrm>
          <a:prstGeom prst="rect">
            <a:avLst/>
          </a:prstGeom>
          <a:noFill/>
          <a:ln w="9525">
            <a:noFill/>
          </a:ln>
        </p:spPr>
      </p:pic>
      <p:sp>
        <p:nvSpPr>
          <p:cNvPr id="29710" name="矩形 16"/>
          <p:cNvSpPr/>
          <p:nvPr/>
        </p:nvSpPr>
        <p:spPr>
          <a:xfrm>
            <a:off x="35560" y="4846320"/>
            <a:ext cx="1423670" cy="318135"/>
          </a:xfrm>
          <a:prstGeom prst="rect">
            <a:avLst/>
          </a:prstGeom>
          <a:noFill/>
          <a:ln w="9525">
            <a:noFill/>
          </a:ln>
        </p:spPr>
        <p:txBody>
          <a:bodyPr anchor="t">
            <a:noAutofit/>
          </a:bodyPr>
          <a:lstStyle/>
          <a:p>
            <a:pPr algn="ctr" defTabSz="457200">
              <a:spcAft>
                <a:spcPts val="0"/>
              </a:spcAft>
            </a:pPr>
            <a:r>
              <a:rPr lang="zh-CN" altLang="en-US" sz="1600" dirty="0">
                <a:solidFill>
                  <a:srgbClr val="000000"/>
                </a:solidFill>
                <a:latin typeface="黑体" panose="02010609060101010101" charset="-122"/>
                <a:ea typeface="黑体" panose="02010609060101010101" charset="-122"/>
              </a:rPr>
              <a:t>求抱学霸大腿？</a:t>
            </a:r>
          </a:p>
        </p:txBody>
      </p:sp>
      <p:sp>
        <p:nvSpPr>
          <p:cNvPr id="29711" name="矩形 17"/>
          <p:cNvSpPr/>
          <p:nvPr/>
        </p:nvSpPr>
        <p:spPr>
          <a:xfrm>
            <a:off x="1625600" y="915988"/>
            <a:ext cx="4773930"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a:t>
            </a:r>
            <a:r>
              <a:rPr lang="zh-CN" altLang="en-US" sz="3600" b="1" dirty="0">
                <a:solidFill>
                  <a:srgbClr val="000000"/>
                </a:solidFill>
                <a:latin typeface="黑体" panose="02010609060101010101" charset="-122"/>
                <a:ea typeface="黑体" panose="02010609060101010101" charset="-122"/>
              </a:rPr>
              <a:t>成绩构成</a:t>
            </a:r>
          </a:p>
        </p:txBody>
      </p:sp>
      <p:pic>
        <p:nvPicPr>
          <p:cNvPr id="29712" name="图片 18"/>
          <p:cNvPicPr>
            <a:picLocks noChangeAspect="1"/>
          </p:cNvPicPr>
          <p:nvPr/>
        </p:nvPicPr>
        <p:blipFill>
          <a:blip r:embed="rId8"/>
          <a:stretch>
            <a:fillRect/>
          </a:stretch>
        </p:blipFill>
        <p:spPr>
          <a:xfrm>
            <a:off x="538480" y="5349240"/>
            <a:ext cx="637540" cy="728345"/>
          </a:xfrm>
          <a:prstGeom prst="rect">
            <a:avLst/>
          </a:prstGeom>
          <a:noFill/>
          <a:ln w="9525">
            <a:noFill/>
          </a:ln>
        </p:spPr>
      </p:pic>
      <p:sp>
        <p:nvSpPr>
          <p:cNvPr id="3" name="矩形 16"/>
          <p:cNvSpPr/>
          <p:nvPr>
            <p:custDataLst>
              <p:tags r:id="rId3"/>
            </p:custDataLst>
          </p:nvPr>
        </p:nvSpPr>
        <p:spPr>
          <a:xfrm>
            <a:off x="35560" y="5991225"/>
            <a:ext cx="1423670" cy="678815"/>
          </a:xfrm>
          <a:prstGeom prst="rect">
            <a:avLst/>
          </a:prstGeom>
          <a:noFill/>
          <a:ln w="9525">
            <a:noFill/>
          </a:ln>
        </p:spPr>
        <p:txBody>
          <a:bodyPr anchor="t">
            <a:noAutofit/>
          </a:bodyPr>
          <a:lstStyle/>
          <a:p>
            <a:pPr algn="ctr" defTabSz="457200">
              <a:spcAft>
                <a:spcPts val="0"/>
              </a:spcAft>
            </a:pPr>
            <a:r>
              <a:rPr lang="en-US" altLang="zh-CN" sz="1600" dirty="0">
                <a:solidFill>
                  <a:srgbClr val="FF0000"/>
                </a:solidFill>
                <a:latin typeface="黑体" panose="02010609060101010101" charset="-122"/>
                <a:ea typeface="黑体" panose="02010609060101010101" charset="-122"/>
              </a:rPr>
              <a:t>No</a:t>
            </a:r>
            <a:r>
              <a:rPr lang="zh-CN" altLang="en-US" sz="1600" dirty="0">
                <a:solidFill>
                  <a:srgbClr val="FF0000"/>
                </a:solidFill>
                <a:latin typeface="黑体" panose="02010609060101010101" charset="-122"/>
                <a:ea typeface="黑体" panose="02010609060101010101" charset="-122"/>
              </a:rPr>
              <a:t>！</a:t>
            </a:r>
          </a:p>
          <a:p>
            <a:pPr algn="ctr" defTabSz="457200">
              <a:spcBef>
                <a:spcPts val="0"/>
              </a:spcBef>
            </a:pPr>
            <a:r>
              <a:rPr lang="zh-CN" altLang="en-US" sz="1600" dirty="0">
                <a:solidFill>
                  <a:srgbClr val="FF0000"/>
                </a:solidFill>
                <a:latin typeface="黑体" panose="02010609060101010101" charset="-122"/>
                <a:ea typeface="黑体" panose="02010609060101010101" charset="-122"/>
              </a:rPr>
              <a:t>随机的！</a:t>
            </a: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187450"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第一章 概述</a:t>
            </a:r>
          </a:p>
        </p:txBody>
      </p:sp>
      <p:pic>
        <p:nvPicPr>
          <p:cNvPr id="29699" name="图片 4"/>
          <p:cNvPicPr>
            <a:picLocks noChangeAspect="1"/>
          </p:cNvPicPr>
          <p:nvPr/>
        </p:nvPicPr>
        <p:blipFill>
          <a:blip r:embed="rId5"/>
          <a:stretch>
            <a:fillRect/>
          </a:stretch>
        </p:blipFill>
        <p:spPr>
          <a:xfrm>
            <a:off x="48260" y="1844675"/>
            <a:ext cx="1246505" cy="1750060"/>
          </a:xfrm>
          <a:prstGeom prst="rect">
            <a:avLst/>
          </a:prstGeom>
          <a:noFill/>
          <a:ln w="9525">
            <a:noFill/>
          </a:ln>
        </p:spPr>
      </p:pic>
      <p:sp>
        <p:nvSpPr>
          <p:cNvPr id="29700" name="矩形 5"/>
          <p:cNvSpPr/>
          <p:nvPr/>
        </p:nvSpPr>
        <p:spPr>
          <a:xfrm>
            <a:off x="1284605" y="1630680"/>
            <a:ext cx="7465060" cy="2614930"/>
          </a:xfrm>
          <a:prstGeom prst="rect">
            <a:avLst/>
          </a:prstGeom>
          <a:noFill/>
          <a:ln w="9525">
            <a:noFill/>
          </a:ln>
        </p:spPr>
        <p:txBody>
          <a:bodyPr wrap="square" anchor="t">
            <a:spAutoFit/>
          </a:bodyPr>
          <a:lstStyle/>
          <a:p>
            <a:pPr defTabSz="457200">
              <a:spcAft>
                <a:spcPts val="600"/>
              </a:spcAft>
            </a:pPr>
            <a:r>
              <a:rPr lang="zh-CN" altLang="en-US" sz="2400" dirty="0">
                <a:solidFill>
                  <a:srgbClr val="FF0000"/>
                </a:solidFill>
                <a:latin typeface="黑体" panose="02010609060101010101" charset="-122"/>
                <a:ea typeface="黑体" panose="02010609060101010101" charset="-122"/>
                <a:cs typeface="黑体" panose="02010609060101010101" charset="-122"/>
              </a:rPr>
              <a:t>量子</a:t>
            </a:r>
            <a:r>
              <a:rPr lang="en-US" altLang="zh-CN" sz="2400" dirty="0">
                <a:solidFill>
                  <a:srgbClr val="FF0000"/>
                </a:solidFill>
                <a:latin typeface="黑体" panose="02010609060101010101" charset="-122"/>
                <a:ea typeface="黑体" panose="02010609060101010101" charset="-122"/>
                <a:cs typeface="黑体" panose="02010609060101010101" charset="-122"/>
              </a:rPr>
              <a:t>xxx</a:t>
            </a:r>
            <a:r>
              <a:rPr lang="zh-CN" altLang="en-US" sz="2400" dirty="0">
                <a:solidFill>
                  <a:srgbClr val="FF0000"/>
                </a:solidFill>
                <a:latin typeface="黑体" panose="02010609060101010101" charset="-122"/>
                <a:ea typeface="黑体" panose="02010609060101010101" charset="-122"/>
                <a:cs typeface="黑体" panose="02010609060101010101" charset="-122"/>
              </a:rPr>
              <a:t>（通信、精密测量、计算）技术研究综述</a:t>
            </a:r>
            <a:endParaRPr lang="zh-CN" altLang="en-US" sz="2400" dirty="0">
              <a:solidFill>
                <a:srgbClr val="000000"/>
              </a:solidFill>
              <a:latin typeface="黑体" panose="02010609060101010101" charset="-122"/>
              <a:ea typeface="黑体" panose="02010609060101010101" charset="-122"/>
              <a:cs typeface="黑体" panose="02010609060101010101" charset="-122"/>
            </a:endParaRPr>
          </a:p>
          <a:p>
            <a:pPr defTabSz="457200">
              <a:spcAft>
                <a:spcPts val="600"/>
              </a:spcAft>
            </a:pPr>
            <a:r>
              <a:rPr lang="zh-CN" altLang="en-US" sz="2000" dirty="0">
                <a:solidFill>
                  <a:srgbClr val="0000FF"/>
                </a:solidFill>
                <a:latin typeface="黑体" panose="02010609060101010101" charset="-122"/>
                <a:ea typeface="黑体" panose="02010609060101010101" charset="-122"/>
                <a:cs typeface="黑体" panose="02010609060101010101" charset="-122"/>
              </a:rPr>
              <a:t>（</a:t>
            </a:r>
            <a:r>
              <a:rPr lang="en-US" altLang="zh-CN" sz="2000" dirty="0">
                <a:solidFill>
                  <a:srgbClr val="0000FF"/>
                </a:solidFill>
                <a:latin typeface="黑体" panose="02010609060101010101" charset="-122"/>
                <a:ea typeface="黑体" panose="02010609060101010101" charset="-122"/>
                <a:cs typeface="黑体" panose="02010609060101010101" charset="-122"/>
              </a:rPr>
              <a:t>1</a:t>
            </a:r>
            <a:r>
              <a:rPr lang="zh-CN" altLang="en-US" sz="2000" dirty="0">
                <a:solidFill>
                  <a:srgbClr val="0000FF"/>
                </a:solidFill>
                <a:latin typeface="黑体" panose="02010609060101010101" charset="-122"/>
                <a:ea typeface="黑体" panose="02010609060101010101" charset="-122"/>
                <a:cs typeface="黑体" panose="02010609060101010101" charset="-122"/>
              </a:rPr>
              <a:t>）综述论文（</a:t>
            </a:r>
            <a:r>
              <a:rPr lang="en-US" altLang="zh-CN" sz="2000" dirty="0">
                <a:solidFill>
                  <a:srgbClr val="0000FF"/>
                </a:solidFill>
                <a:latin typeface="黑体" panose="02010609060101010101" charset="-122"/>
                <a:ea typeface="黑体" panose="02010609060101010101" charset="-122"/>
                <a:cs typeface="黑体" panose="02010609060101010101" charset="-122"/>
              </a:rPr>
              <a:t>4000</a:t>
            </a:r>
            <a:r>
              <a:rPr lang="zh-CN" altLang="en-US" sz="2000" dirty="0">
                <a:solidFill>
                  <a:srgbClr val="0000FF"/>
                </a:solidFill>
                <a:latin typeface="黑体" panose="02010609060101010101" charset="-122"/>
                <a:ea typeface="黑体" panose="02010609060101010101" charset="-122"/>
                <a:cs typeface="黑体" panose="02010609060101010101" charset="-122"/>
              </a:rPr>
              <a:t>字），分组完成，个人</a:t>
            </a:r>
            <a:r>
              <a:rPr lang="en-US" altLang="zh-CN" sz="2000" dirty="0">
                <a:solidFill>
                  <a:srgbClr val="0000FF"/>
                </a:solidFill>
                <a:latin typeface="黑体" panose="02010609060101010101" charset="-122"/>
                <a:ea typeface="黑体" panose="02010609060101010101" charset="-122"/>
                <a:cs typeface="黑体" panose="02010609060101010101" charset="-122"/>
              </a:rPr>
              <a:t>1000</a:t>
            </a:r>
            <a:r>
              <a:rPr lang="zh-CN" altLang="en-US" sz="2000" dirty="0">
                <a:solidFill>
                  <a:srgbClr val="0000FF"/>
                </a:solidFill>
                <a:latin typeface="黑体" panose="02010609060101010101" charset="-122"/>
                <a:ea typeface="黑体" panose="02010609060101010101" charset="-122"/>
                <a:cs typeface="黑体" panose="02010609060101010101" charset="-122"/>
              </a:rPr>
              <a:t>字</a:t>
            </a:r>
          </a:p>
          <a:p>
            <a:pPr defTabSz="457200">
              <a:spcBef>
                <a:spcPts val="0"/>
              </a:spcBef>
              <a:spcAft>
                <a:spcPts val="600"/>
              </a:spcAft>
            </a:pPr>
            <a:r>
              <a:rPr lang="zh-CN" altLang="en-US" sz="2000" dirty="0">
                <a:solidFill>
                  <a:srgbClr val="0000FF"/>
                </a:solidFill>
                <a:latin typeface="黑体" panose="02010609060101010101" charset="-122"/>
                <a:ea typeface="黑体" panose="02010609060101010101" charset="-122"/>
                <a:cs typeface="黑体" panose="02010609060101010101" charset="-122"/>
              </a:rPr>
              <a:t>（</a:t>
            </a:r>
            <a:r>
              <a:rPr lang="en-US" altLang="zh-CN" sz="2000" dirty="0">
                <a:solidFill>
                  <a:srgbClr val="0000FF"/>
                </a:solidFill>
                <a:latin typeface="黑体" panose="02010609060101010101" charset="-122"/>
                <a:ea typeface="黑体" panose="02010609060101010101" charset="-122"/>
                <a:cs typeface="黑体" panose="02010609060101010101" charset="-122"/>
              </a:rPr>
              <a:t>2</a:t>
            </a:r>
            <a:r>
              <a:rPr lang="zh-CN" altLang="en-US" sz="2000" dirty="0">
                <a:solidFill>
                  <a:srgbClr val="0000FF"/>
                </a:solidFill>
                <a:latin typeface="黑体" panose="02010609060101010101" charset="-122"/>
                <a:ea typeface="黑体" panose="02010609060101010101" charset="-122"/>
                <a:cs typeface="黑体" panose="02010609060101010101" charset="-122"/>
              </a:rPr>
              <a:t>）分工：</a:t>
            </a:r>
          </a:p>
          <a:p>
            <a:pPr marL="342900" indent="-342900" defTabSz="457200">
              <a:spcBef>
                <a:spcPts val="0"/>
              </a:spcBef>
              <a:spcAft>
                <a:spcPts val="600"/>
              </a:spcAft>
              <a:buFont typeface="Arial" panose="020B0604020202020204" pitchFamily="34" charset="0"/>
              <a:buChar char="•"/>
            </a:pPr>
            <a:r>
              <a:rPr lang="zh-CN" altLang="en-US" sz="2000" dirty="0">
                <a:solidFill>
                  <a:srgbClr val="0000FF"/>
                </a:solidFill>
                <a:latin typeface="黑体" panose="02010609060101010101" charset="-122"/>
                <a:ea typeface="黑体" panose="02010609060101010101" charset="-122"/>
                <a:cs typeface="黑体" panose="02010609060101010101" charset="-122"/>
              </a:rPr>
              <a:t>组长：召集组员，完成大纲，整理组员提交的文献（前</a:t>
            </a:r>
            <a:r>
              <a:rPr lang="en-US" altLang="zh-CN" sz="2000" dirty="0">
                <a:solidFill>
                  <a:srgbClr val="0000FF"/>
                </a:solidFill>
                <a:latin typeface="黑体" panose="02010609060101010101" charset="-122"/>
                <a:ea typeface="黑体" panose="02010609060101010101" charset="-122"/>
                <a:cs typeface="黑体" panose="02010609060101010101" charset="-122"/>
              </a:rPr>
              <a:t>2</a:t>
            </a:r>
            <a:r>
              <a:rPr lang="zh-CN" altLang="en-US" sz="2000" dirty="0">
                <a:solidFill>
                  <a:srgbClr val="0000FF"/>
                </a:solidFill>
                <a:latin typeface="黑体" panose="02010609060101010101" charset="-122"/>
                <a:ea typeface="黑体" panose="02010609060101010101" charset="-122"/>
                <a:cs typeface="黑体" panose="02010609060101010101" charset="-122"/>
              </a:rPr>
              <a:t>周）</a:t>
            </a:r>
          </a:p>
          <a:p>
            <a:pPr marL="342900" indent="-342900" defTabSz="457200">
              <a:spcBef>
                <a:spcPts val="0"/>
              </a:spcBef>
              <a:spcAft>
                <a:spcPts val="600"/>
              </a:spcAft>
              <a:buFont typeface="Arial" panose="020B0604020202020204" pitchFamily="34" charset="0"/>
              <a:buChar char="•"/>
            </a:pPr>
            <a:r>
              <a:rPr lang="zh-CN" altLang="en-US" sz="2000" dirty="0">
                <a:solidFill>
                  <a:srgbClr val="0000FF"/>
                </a:solidFill>
                <a:latin typeface="黑体" panose="02010609060101010101" charset="-122"/>
                <a:ea typeface="黑体" panose="02010609060101010101" charset="-122"/>
                <a:cs typeface="黑体" panose="02010609060101010101" charset="-122"/>
              </a:rPr>
              <a:t>组员：讨论题目，确定具体方向及对应章节，撰写章节提纲（具体到</a:t>
            </a:r>
            <a:r>
              <a:rPr lang="en-US" altLang="zh-CN" sz="2000" dirty="0">
                <a:solidFill>
                  <a:srgbClr val="0000FF"/>
                </a:solidFill>
                <a:latin typeface="黑体" panose="02010609060101010101" charset="-122"/>
                <a:ea typeface="黑体" panose="02010609060101010101" charset="-122"/>
                <a:cs typeface="黑体" panose="02010609060101010101" charset="-122"/>
              </a:rPr>
              <a:t>3</a:t>
            </a:r>
            <a:r>
              <a:rPr lang="zh-CN" altLang="en-US" sz="2000" dirty="0">
                <a:solidFill>
                  <a:srgbClr val="0000FF"/>
                </a:solidFill>
                <a:latin typeface="黑体" panose="02010609060101010101" charset="-122"/>
                <a:ea typeface="黑体" panose="02010609060101010101" charset="-122"/>
                <a:cs typeface="黑体" panose="02010609060101010101" charset="-122"/>
              </a:rPr>
              <a:t>级标题），完成文献检索（不少于</a:t>
            </a:r>
            <a:r>
              <a:rPr lang="en-US" altLang="zh-CN" sz="2000" dirty="0">
                <a:solidFill>
                  <a:srgbClr val="0000FF"/>
                </a:solidFill>
                <a:latin typeface="黑体" panose="02010609060101010101" charset="-122"/>
                <a:ea typeface="黑体" panose="02010609060101010101" charset="-122"/>
                <a:cs typeface="黑体" panose="02010609060101010101" charset="-122"/>
              </a:rPr>
              <a:t>20</a:t>
            </a:r>
            <a:r>
              <a:rPr lang="zh-CN" altLang="en-US" sz="2000" dirty="0">
                <a:solidFill>
                  <a:srgbClr val="0000FF"/>
                </a:solidFill>
                <a:latin typeface="黑体" panose="02010609060101010101" charset="-122"/>
                <a:ea typeface="黑体" panose="02010609060101010101" charset="-122"/>
                <a:cs typeface="黑体" panose="02010609060101010101" charset="-122"/>
              </a:rPr>
              <a:t>篇，中、英各</a:t>
            </a:r>
            <a:r>
              <a:rPr lang="en-US" altLang="zh-CN" sz="2000" dirty="0">
                <a:solidFill>
                  <a:srgbClr val="0000FF"/>
                </a:solidFill>
                <a:latin typeface="黑体" panose="02010609060101010101" charset="-122"/>
                <a:ea typeface="黑体" panose="02010609060101010101" charset="-122"/>
                <a:cs typeface="黑体" panose="02010609060101010101" charset="-122"/>
              </a:rPr>
              <a:t>10</a:t>
            </a:r>
            <a:r>
              <a:rPr lang="zh-CN" altLang="en-US" sz="2000" dirty="0">
                <a:solidFill>
                  <a:srgbClr val="0000FF"/>
                </a:solidFill>
                <a:latin typeface="黑体" panose="02010609060101010101" charset="-122"/>
                <a:ea typeface="黑体" panose="02010609060101010101" charset="-122"/>
                <a:cs typeface="黑体" panose="02010609060101010101" charset="-122"/>
              </a:rPr>
              <a:t>篇）</a:t>
            </a:r>
          </a:p>
        </p:txBody>
      </p:sp>
      <p:sp>
        <p:nvSpPr>
          <p:cNvPr id="8" name="圆角矩形 2"/>
          <p:cNvSpPr/>
          <p:nvPr/>
        </p:nvSpPr>
        <p:spPr>
          <a:xfrm>
            <a:off x="107315" y="4602480"/>
            <a:ext cx="2310130" cy="1440180"/>
          </a:xfrm>
          <a:prstGeom prst="roundRect">
            <a:avLst/>
          </a:prstGeom>
          <a:solidFill>
            <a:srgbClr val="0070C0"/>
          </a:solidFill>
          <a:ln w="12700" cap="flat" cmpd="sng" algn="ctr">
            <a:solidFill>
              <a:sysClr val="windowText" lastClr="00000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sz="2000" kern="0" noProof="0" dirty="0">
                <a:ln>
                  <a:noFill/>
                </a:ln>
                <a:solidFill>
                  <a:srgbClr val="FFFFFF"/>
                </a:solidFill>
                <a:effectLst/>
                <a:uLnTx/>
                <a:uFillTx/>
                <a:latin typeface="黑体" panose="02010609060101010101" charset="-122"/>
                <a:ea typeface="黑体" panose="02010609060101010101" charset="-122"/>
                <a:sym typeface="+mn-ea"/>
              </a:rPr>
              <a:t>组长：</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a:t>
            </a:r>
            <a:r>
              <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1</a:t>
            </a:r>
            <a:r>
              <a:rPr kumimoji="0" 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）组织讨论</a:t>
            </a:r>
            <a:br>
              <a:rPr kumimoji="0" 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br>
            <a:r>
              <a:rPr kumimoji="0" 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a:t>
            </a:r>
            <a:r>
              <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2</a:t>
            </a:r>
            <a:r>
              <a:rPr kumimoji="0" 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）修改提纲</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a:t>
            </a:r>
            <a:r>
              <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3</a:t>
            </a:r>
            <a:r>
              <a:rPr kumimoji="0" 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）汇总</a:t>
            </a:r>
          </a:p>
        </p:txBody>
      </p:sp>
      <p:sp>
        <p:nvSpPr>
          <p:cNvPr id="10" name="圆角矩形 24"/>
          <p:cNvSpPr/>
          <p:nvPr/>
        </p:nvSpPr>
        <p:spPr>
          <a:xfrm>
            <a:off x="2589530" y="4602480"/>
            <a:ext cx="4046220" cy="1475105"/>
          </a:xfrm>
          <a:prstGeom prst="roundRect">
            <a:avLst/>
          </a:prstGeom>
          <a:solidFill>
            <a:srgbClr val="00B050"/>
          </a:solidFill>
          <a:ln w="12700" cap="flat" cmpd="sng" algn="ctr">
            <a:solidFill>
              <a:sysClr val="windowText" lastClr="00000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组员：</a:t>
            </a: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a:t>
            </a:r>
            <a:r>
              <a:rPr lang="en-US" altLang="zh-CN" sz="2000" kern="0" noProof="0" dirty="0">
                <a:ln>
                  <a:noFill/>
                </a:ln>
                <a:solidFill>
                  <a:srgbClr val="FFFFFF"/>
                </a:solidFill>
                <a:effectLst/>
                <a:uLnTx/>
                <a:uFillTx/>
                <a:latin typeface="黑体" panose="02010609060101010101" charset="-122"/>
                <a:ea typeface="黑体" panose="02010609060101010101" charset="-122"/>
                <a:sym typeface="+mn-ea"/>
              </a:rPr>
              <a:t>1</a:t>
            </a: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）撰写章节提纲（到3级标题）</a:t>
            </a: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a:t>
            </a:r>
            <a:r>
              <a:rPr lang="en-US" altLang="zh-CN" sz="2000" kern="0" noProof="0" dirty="0">
                <a:ln>
                  <a:noFill/>
                </a:ln>
                <a:solidFill>
                  <a:srgbClr val="FFFFFF"/>
                </a:solidFill>
                <a:effectLst/>
                <a:uLnTx/>
                <a:uFillTx/>
                <a:latin typeface="黑体" panose="02010609060101010101" charset="-122"/>
                <a:ea typeface="黑体" panose="02010609060101010101" charset="-122"/>
                <a:sym typeface="+mn-ea"/>
              </a:rPr>
              <a:t>2</a:t>
            </a: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）对应方向文献检索</a:t>
            </a: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a:t>
            </a:r>
            <a:r>
              <a:rPr lang="en-US" altLang="zh-CN" sz="2000" kern="0" noProof="0" dirty="0">
                <a:ln>
                  <a:noFill/>
                </a:ln>
                <a:solidFill>
                  <a:srgbClr val="FFFFFF"/>
                </a:solidFill>
                <a:effectLst/>
                <a:uLnTx/>
                <a:uFillTx/>
                <a:latin typeface="黑体" panose="02010609060101010101" charset="-122"/>
                <a:ea typeface="黑体" panose="02010609060101010101" charset="-122"/>
                <a:sym typeface="+mn-ea"/>
              </a:rPr>
              <a:t>3</a:t>
            </a: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）撰写，修改再修改按人评分</a:t>
            </a:r>
            <a:endPar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11" name="圆角矩形 25"/>
          <p:cNvSpPr/>
          <p:nvPr/>
        </p:nvSpPr>
        <p:spPr>
          <a:xfrm>
            <a:off x="6669405" y="4653915"/>
            <a:ext cx="2406650" cy="1440180"/>
          </a:xfrm>
          <a:prstGeom prst="roundRect">
            <a:avLst/>
          </a:prstGeom>
          <a:solidFill>
            <a:srgbClr val="7030A0"/>
          </a:solidFill>
          <a:ln w="12700" cap="flat" cmpd="sng" algn="ctr">
            <a:solidFill>
              <a:sysClr val="windowText" lastClr="00000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000" kern="0" noProof="0" dirty="0">
                <a:ln>
                  <a:noFill/>
                </a:ln>
                <a:solidFill>
                  <a:srgbClr val="FFFFFF"/>
                </a:solidFill>
                <a:effectLst/>
                <a:uLnTx/>
                <a:uFillTx/>
                <a:latin typeface="黑体" panose="02010609060101010101" charset="-122"/>
                <a:ea typeface="黑体" panose="02010609060101010101" charset="-122"/>
                <a:sym typeface="+mn-ea"/>
              </a:rPr>
              <a:t>口头分组汇报</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a:t>
            </a:r>
            <a:r>
              <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1</a:t>
            </a:r>
            <a:r>
              <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）选题过程</a:t>
            </a:r>
            <a:br>
              <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br>
            <a:r>
              <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a:t>
            </a:r>
            <a:r>
              <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2</a:t>
            </a:r>
            <a:r>
              <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）撰写修改</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a:t>
            </a:r>
            <a:r>
              <a:rPr kumimoji="0" lang="en-US" altLang="zh-CN"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3</a:t>
            </a:r>
            <a:r>
              <a:rPr kumimoji="0" lang="zh-CN" altLang="en-US" sz="2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）汇报幻灯片</a:t>
            </a:r>
          </a:p>
        </p:txBody>
      </p:sp>
      <p:sp>
        <p:nvSpPr>
          <p:cNvPr id="29711" name="矩形 17"/>
          <p:cNvSpPr/>
          <p:nvPr/>
        </p:nvSpPr>
        <p:spPr>
          <a:xfrm>
            <a:off x="1625600" y="915988"/>
            <a:ext cx="2937510"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综述选题建议</a:t>
            </a:r>
            <a:endParaRPr lang="zh-CN" altLang="en-US" sz="3600" b="1" dirty="0">
              <a:solidFill>
                <a:srgbClr val="000000"/>
              </a:solidFill>
              <a:latin typeface="黑体" panose="02010609060101010101" charset="-122"/>
              <a:ea typeface="黑体" panose="02010609060101010101" charset="-122"/>
            </a:endParaRPr>
          </a:p>
        </p:txBody>
      </p:sp>
      <p:sp>
        <p:nvSpPr>
          <p:cNvPr id="2" name="文本框 1"/>
          <p:cNvSpPr txBox="1"/>
          <p:nvPr/>
        </p:nvSpPr>
        <p:spPr>
          <a:xfrm>
            <a:off x="553720" y="6165215"/>
            <a:ext cx="9058275" cy="583565"/>
          </a:xfrm>
          <a:prstGeom prst="rect">
            <a:avLst/>
          </a:prstGeom>
          <a:noFill/>
        </p:spPr>
        <p:txBody>
          <a:bodyPr wrap="square" rtlCol="0" anchor="t">
            <a:spAutoFit/>
          </a:bodyPr>
          <a:lstStyle/>
          <a:p>
            <a:r>
              <a:rPr lang="zh-CN" altLang="en-US" dirty="0">
                <a:solidFill>
                  <a:srgbClr val="FF0000"/>
                </a:solidFill>
              </a:rPr>
              <a:t>助教：周翔宇 </a:t>
            </a:r>
            <a:r>
              <a:rPr lang="en-US" altLang="zh-CN" dirty="0">
                <a:solidFill>
                  <a:srgbClr val="FF0000"/>
                </a:solidFill>
              </a:rPr>
              <a:t>QQ:2661829386</a:t>
            </a:r>
            <a:endParaRPr lang="zh-CN" altLang="en-US" dirty="0">
              <a:solidFill>
                <a:srgbClr val="FF0000"/>
              </a:solidFill>
            </a:endParaRPr>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5BB01-92C0-DF78-2306-8A388A32B73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B4268C6-60B8-2A65-05E0-3C8868151EBB}"/>
              </a:ext>
            </a:extLst>
          </p:cNvPr>
          <p:cNvPicPr>
            <a:picLocks noChangeAspect="1"/>
          </p:cNvPicPr>
          <p:nvPr userDrawn="1">
            <p:custDataLst>
              <p:tags r:id="rId2"/>
            </p:custDataLst>
          </p:nvPr>
        </p:nvPicPr>
        <p:blipFill>
          <a:blip r:embed="rId6"/>
          <a:stretch>
            <a:fillRect/>
          </a:stretch>
        </p:blipFill>
        <p:spPr>
          <a:xfrm>
            <a:off x="48577" y="249238"/>
            <a:ext cx="1127284" cy="1068705"/>
          </a:xfrm>
          <a:prstGeom prst="rect">
            <a:avLst/>
          </a:prstGeom>
        </p:spPr>
      </p:pic>
      <p:sp>
        <p:nvSpPr>
          <p:cNvPr id="162818" name="Rectangle 2">
            <a:extLst>
              <a:ext uri="{FF2B5EF4-FFF2-40B4-BE49-F238E27FC236}">
                <a16:creationId xmlns:a16="http://schemas.microsoft.com/office/drawing/2014/main" id="{F7C191A1-7127-6DB9-4208-6465AC8F72E8}"/>
              </a:ext>
            </a:extLst>
          </p:cNvPr>
          <p:cNvSpPr>
            <a:spLocks noGrp="1" noChangeArrowheads="1"/>
          </p:cNvSpPr>
          <p:nvPr>
            <p:ph type="title" idx="4294967295"/>
          </p:nvPr>
        </p:nvSpPr>
        <p:spPr>
          <a:xfrm>
            <a:off x="1503680" y="20955"/>
            <a:ext cx="5805170" cy="815975"/>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sym typeface="+mn-ea"/>
              </a:rPr>
              <a:t>课时安排与节点要求</a:t>
            </a:r>
          </a:p>
        </p:txBody>
      </p:sp>
      <p:sp>
        <p:nvSpPr>
          <p:cNvPr id="4" name="文本框 3">
            <a:extLst>
              <a:ext uri="{FF2B5EF4-FFF2-40B4-BE49-F238E27FC236}">
                <a16:creationId xmlns:a16="http://schemas.microsoft.com/office/drawing/2014/main" id="{01AD824E-1A5B-0081-01E0-1CB356010524}"/>
              </a:ext>
            </a:extLst>
          </p:cNvPr>
          <p:cNvSpPr txBox="1"/>
          <p:nvPr/>
        </p:nvSpPr>
        <p:spPr>
          <a:xfrm>
            <a:off x="179705" y="6449325"/>
            <a:ext cx="5674951" cy="461665"/>
          </a:xfrm>
          <a:prstGeom prst="rect">
            <a:avLst/>
          </a:prstGeom>
          <a:noFill/>
        </p:spPr>
        <p:txBody>
          <a:bodyPr wrap="none" rtlCol="0">
            <a:spAutoFit/>
          </a:bodyPr>
          <a:lstStyle/>
          <a:p>
            <a:r>
              <a:rPr lang="en-US" altLang="zh-CN" sz="2400" dirty="0">
                <a:solidFill>
                  <a:srgbClr val="0000FF"/>
                </a:solidFill>
                <a:latin typeface="+mn-lt"/>
                <a:ea typeface="+mn-ea"/>
              </a:rPr>
              <a:t>*2-8</a:t>
            </a:r>
            <a:r>
              <a:rPr lang="zh-CN" altLang="en-US" sz="2400" dirty="0">
                <a:solidFill>
                  <a:srgbClr val="0000FF"/>
                </a:solidFill>
                <a:latin typeface="+mn-lt"/>
                <a:ea typeface="+mn-ea"/>
              </a:rPr>
              <a:t>周节点要求，请在前一周周五前提交</a:t>
            </a:r>
          </a:p>
        </p:txBody>
      </p:sp>
      <p:graphicFrame>
        <p:nvGraphicFramePr>
          <p:cNvPr id="6" name="表格 1">
            <a:extLst>
              <a:ext uri="{FF2B5EF4-FFF2-40B4-BE49-F238E27FC236}">
                <a16:creationId xmlns:a16="http://schemas.microsoft.com/office/drawing/2014/main" id="{529744C4-5312-38EC-EA15-49AD926F87A5}"/>
              </a:ext>
            </a:extLst>
          </p:cNvPr>
          <p:cNvGraphicFramePr/>
          <p:nvPr>
            <p:custDataLst>
              <p:tags r:id="rId3"/>
            </p:custDataLst>
            <p:extLst>
              <p:ext uri="{D42A27DB-BD31-4B8C-83A1-F6EECF244321}">
                <p14:modId xmlns:p14="http://schemas.microsoft.com/office/powerpoint/2010/main" val="90031279"/>
              </p:ext>
            </p:extLst>
          </p:nvPr>
        </p:nvGraphicFramePr>
        <p:xfrm>
          <a:off x="179705" y="981075"/>
          <a:ext cx="8897620" cy="5444490"/>
        </p:xfrm>
        <a:graphic>
          <a:graphicData uri="http://schemas.openxmlformats.org/drawingml/2006/table">
            <a:tbl>
              <a:tblPr firstRow="1" bandRow="1">
                <a:tableStyleId>{93296810-A885-4BE3-A3E7-6D5BEEA58F35}</a:tableStyleId>
              </a:tblPr>
              <a:tblGrid>
                <a:gridCol w="701675">
                  <a:extLst>
                    <a:ext uri="{9D8B030D-6E8A-4147-A177-3AD203B41FA5}">
                      <a16:colId xmlns:a16="http://schemas.microsoft.com/office/drawing/2014/main" val="20000"/>
                    </a:ext>
                  </a:extLst>
                </a:gridCol>
                <a:gridCol w="1867535">
                  <a:extLst>
                    <a:ext uri="{9D8B030D-6E8A-4147-A177-3AD203B41FA5}">
                      <a16:colId xmlns:a16="http://schemas.microsoft.com/office/drawing/2014/main" val="20001"/>
                    </a:ext>
                  </a:extLst>
                </a:gridCol>
                <a:gridCol w="3571240">
                  <a:extLst>
                    <a:ext uri="{9D8B030D-6E8A-4147-A177-3AD203B41FA5}">
                      <a16:colId xmlns:a16="http://schemas.microsoft.com/office/drawing/2014/main" val="20002"/>
                    </a:ext>
                  </a:extLst>
                </a:gridCol>
                <a:gridCol w="2757170">
                  <a:extLst>
                    <a:ext uri="{9D8B030D-6E8A-4147-A177-3AD203B41FA5}">
                      <a16:colId xmlns:a16="http://schemas.microsoft.com/office/drawing/2014/main" val="20003"/>
                    </a:ext>
                  </a:extLst>
                </a:gridCol>
              </a:tblGrid>
              <a:tr h="457200">
                <a:tc>
                  <a:txBody>
                    <a:bodyPr/>
                    <a:lstStyle/>
                    <a:p>
                      <a:pPr>
                        <a:spcAft>
                          <a:spcPts val="0"/>
                        </a:spcAft>
                        <a:buNone/>
                      </a:pPr>
                      <a:r>
                        <a:rPr lang="zh-CN" altLang="en-US" sz="2400"/>
                        <a:t>周</a:t>
                      </a:r>
                    </a:p>
                  </a:txBody>
                  <a:tcPr/>
                </a:tc>
                <a:tc>
                  <a:txBody>
                    <a:bodyPr/>
                    <a:lstStyle/>
                    <a:p>
                      <a:pPr>
                        <a:buNone/>
                      </a:pPr>
                      <a:r>
                        <a:rPr lang="zh-CN" altLang="en-US" sz="2400"/>
                        <a:t>日期</a:t>
                      </a:r>
                    </a:p>
                  </a:txBody>
                  <a:tcPr/>
                </a:tc>
                <a:tc>
                  <a:txBody>
                    <a:bodyPr/>
                    <a:lstStyle/>
                    <a:p>
                      <a:pPr>
                        <a:buNone/>
                      </a:pPr>
                      <a:r>
                        <a:rPr lang="zh-CN" altLang="en-US" sz="2400"/>
                        <a:t>内容</a:t>
                      </a:r>
                    </a:p>
                  </a:txBody>
                  <a:tcPr/>
                </a:tc>
                <a:tc>
                  <a:txBody>
                    <a:bodyPr/>
                    <a:lstStyle/>
                    <a:p>
                      <a:pPr>
                        <a:buNone/>
                      </a:pPr>
                      <a:r>
                        <a:rPr lang="zh-CN" altLang="en-US" sz="2400" dirty="0"/>
                        <a:t>节点要求</a:t>
                      </a:r>
                    </a:p>
                  </a:txBody>
                  <a:tcPr/>
                </a:tc>
                <a:extLst>
                  <a:ext uri="{0D108BD9-81ED-4DB2-BD59-A6C34878D82A}">
                    <a16:rowId xmlns:a16="http://schemas.microsoft.com/office/drawing/2014/main" val="10000"/>
                  </a:ext>
                </a:extLst>
              </a:tr>
              <a:tr h="594360">
                <a:tc>
                  <a:txBody>
                    <a:bodyPr/>
                    <a:lstStyle/>
                    <a:p>
                      <a:pPr algn="l">
                        <a:buClrTx/>
                        <a:buSzTx/>
                        <a:buFontTx/>
                        <a:buNone/>
                      </a:pPr>
                      <a:r>
                        <a:rPr lang="en-US" altLang="zh-CN" sz="2400">
                          <a:solidFill>
                            <a:srgbClr val="0000FF"/>
                          </a:solidFill>
                        </a:rPr>
                        <a:t>1</a:t>
                      </a:r>
                    </a:p>
                  </a:txBody>
                  <a:tcPr/>
                </a:tc>
                <a:tc>
                  <a:txBody>
                    <a:bodyPr/>
                    <a:lstStyle/>
                    <a:p>
                      <a:pPr algn="l">
                        <a:buClrTx/>
                        <a:buSzTx/>
                        <a:buFontTx/>
                        <a:buNone/>
                      </a:pPr>
                      <a:r>
                        <a:rPr lang="en-US" altLang="zh-CN" sz="2400" dirty="0">
                          <a:solidFill>
                            <a:srgbClr val="0000FF"/>
                          </a:solidFill>
                        </a:rPr>
                        <a:t>2026-08-31</a:t>
                      </a:r>
                    </a:p>
                  </a:txBody>
                  <a:tcPr/>
                </a:tc>
                <a:tc>
                  <a:txBody>
                    <a:bodyPr/>
                    <a:lstStyle/>
                    <a:p>
                      <a:pPr algn="l">
                        <a:buClrTx/>
                        <a:buSzTx/>
                        <a:buFontTx/>
                        <a:buNone/>
                      </a:pPr>
                      <a:r>
                        <a:rPr lang="zh-CN" altLang="en-US" sz="2400">
                          <a:solidFill>
                            <a:srgbClr val="0000FF"/>
                          </a:solidFill>
                        </a:rPr>
                        <a:t>概述&amp;文献检索</a:t>
                      </a:r>
                    </a:p>
                  </a:txBody>
                  <a:tcPr/>
                </a:tc>
                <a:tc>
                  <a:txBody>
                    <a:bodyPr/>
                    <a:lstStyle/>
                    <a:p>
                      <a:pPr>
                        <a:buNone/>
                      </a:pPr>
                      <a:r>
                        <a:rPr lang="zh-CN" altLang="en-US" sz="2400" dirty="0">
                          <a:solidFill>
                            <a:srgbClr val="0000FF"/>
                          </a:solidFill>
                        </a:rPr>
                        <a:t>分组</a:t>
                      </a:r>
                    </a:p>
                  </a:txBody>
                  <a:tcPr/>
                </a:tc>
                <a:extLst>
                  <a:ext uri="{0D108BD9-81ED-4DB2-BD59-A6C34878D82A}">
                    <a16:rowId xmlns:a16="http://schemas.microsoft.com/office/drawing/2014/main" val="10001"/>
                  </a:ext>
                </a:extLst>
              </a:tr>
              <a:tr h="595630">
                <a:tc>
                  <a:txBody>
                    <a:bodyPr/>
                    <a:lstStyle/>
                    <a:p>
                      <a:pPr algn="l">
                        <a:buClrTx/>
                        <a:buSzTx/>
                        <a:buFontTx/>
                        <a:buNone/>
                      </a:pPr>
                      <a:r>
                        <a:rPr lang="en-US" altLang="zh-CN" sz="2400">
                          <a:solidFill>
                            <a:srgbClr val="0000FF"/>
                          </a:solidFill>
                        </a:rPr>
                        <a:t>2</a:t>
                      </a:r>
                    </a:p>
                  </a:txBody>
                  <a:tcPr/>
                </a:tc>
                <a:tc>
                  <a:txBody>
                    <a:bodyPr/>
                    <a:lstStyle/>
                    <a:p>
                      <a:pPr algn="l">
                        <a:buClrTx/>
                        <a:buSzTx/>
                        <a:buFontTx/>
                        <a:buNone/>
                      </a:pPr>
                      <a:r>
                        <a:rPr lang="en-US" altLang="zh-CN" sz="2400" dirty="0">
                          <a:solidFill>
                            <a:srgbClr val="0000FF"/>
                          </a:solidFill>
                          <a:sym typeface="+mn-ea"/>
                        </a:rPr>
                        <a:t>2026-09-14</a:t>
                      </a:r>
                    </a:p>
                  </a:txBody>
                  <a:tcPr/>
                </a:tc>
                <a:tc>
                  <a:txBody>
                    <a:bodyPr/>
                    <a:lstStyle/>
                    <a:p>
                      <a:pPr algn="l">
                        <a:buClrTx/>
                        <a:buSzTx/>
                        <a:buFontTx/>
                        <a:buNone/>
                      </a:pPr>
                      <a:r>
                        <a:rPr lang="zh-CN" altLang="en-US" sz="2400">
                          <a:solidFill>
                            <a:srgbClr val="0000FF"/>
                          </a:solidFill>
                        </a:rPr>
                        <a:t>文献综述论文撰写</a:t>
                      </a:r>
                    </a:p>
                  </a:txBody>
                  <a:tcPr/>
                </a:tc>
                <a:tc>
                  <a:txBody>
                    <a:bodyPr/>
                    <a:lstStyle/>
                    <a:p>
                      <a:pPr>
                        <a:buNone/>
                      </a:pPr>
                      <a:r>
                        <a:rPr lang="zh-CN" altLang="en-US" sz="2400" dirty="0">
                          <a:solidFill>
                            <a:srgbClr val="0000FF"/>
                          </a:solidFill>
                          <a:sym typeface="+mn-ea"/>
                        </a:rPr>
                        <a:t>小组选题</a:t>
                      </a:r>
                      <a:endParaRPr lang="zh-CN" altLang="en-US" sz="2400" dirty="0">
                        <a:solidFill>
                          <a:srgbClr val="0000FF"/>
                        </a:solidFill>
                      </a:endParaRPr>
                    </a:p>
                  </a:txBody>
                  <a:tcPr/>
                </a:tc>
                <a:extLst>
                  <a:ext uri="{0D108BD9-81ED-4DB2-BD59-A6C34878D82A}">
                    <a16:rowId xmlns:a16="http://schemas.microsoft.com/office/drawing/2014/main" val="10002"/>
                  </a:ext>
                </a:extLst>
              </a:tr>
              <a:tr h="594360">
                <a:tc>
                  <a:txBody>
                    <a:bodyPr/>
                    <a:lstStyle/>
                    <a:p>
                      <a:pPr algn="l">
                        <a:buClrTx/>
                        <a:buSzTx/>
                        <a:buFontTx/>
                        <a:buNone/>
                      </a:pPr>
                      <a:r>
                        <a:rPr lang="en-US" altLang="zh-CN" sz="2400">
                          <a:solidFill>
                            <a:srgbClr val="0000FF"/>
                          </a:solidFill>
                        </a:rPr>
                        <a:t>3</a:t>
                      </a:r>
                    </a:p>
                  </a:txBody>
                  <a:tcPr/>
                </a:tc>
                <a:tc>
                  <a:txBody>
                    <a:bodyPr/>
                    <a:lstStyle/>
                    <a:p>
                      <a:pPr algn="l">
                        <a:buClrTx/>
                        <a:buSzTx/>
                        <a:buFontTx/>
                        <a:buNone/>
                      </a:pPr>
                      <a:r>
                        <a:rPr lang="en-US" altLang="zh-CN" sz="2400" dirty="0">
                          <a:solidFill>
                            <a:srgbClr val="0000FF"/>
                          </a:solidFill>
                          <a:sym typeface="+mn-ea"/>
                        </a:rPr>
                        <a:t>2026-09-21</a:t>
                      </a:r>
                    </a:p>
                  </a:txBody>
                  <a:tcPr/>
                </a:tc>
                <a:tc>
                  <a:txBody>
                    <a:bodyPr/>
                    <a:lstStyle/>
                    <a:p>
                      <a:pPr algn="l">
                        <a:buClrTx/>
                        <a:buSzTx/>
                        <a:buFontTx/>
                        <a:buNone/>
                      </a:pPr>
                      <a:r>
                        <a:rPr lang="zh-CN" altLang="en-US" sz="2400">
                          <a:solidFill>
                            <a:srgbClr val="0000FF"/>
                          </a:solidFill>
                          <a:sym typeface="+mn-ea"/>
                        </a:rPr>
                        <a:t>学位论文写作规范</a:t>
                      </a:r>
                      <a:endParaRPr lang="zh-CN" altLang="en-US" sz="2400">
                        <a:solidFill>
                          <a:srgbClr val="0000FF"/>
                        </a:solidFill>
                      </a:endParaRPr>
                    </a:p>
                  </a:txBody>
                  <a:tcPr/>
                </a:tc>
                <a:tc>
                  <a:txBody>
                    <a:bodyPr/>
                    <a:lstStyle/>
                    <a:p>
                      <a:pPr>
                        <a:buNone/>
                      </a:pPr>
                      <a:r>
                        <a:rPr lang="zh-CN" altLang="en-US" sz="2400">
                          <a:solidFill>
                            <a:srgbClr val="0000FF"/>
                          </a:solidFill>
                        </a:rPr>
                        <a:t>提交论文大纲</a:t>
                      </a:r>
                    </a:p>
                  </a:txBody>
                  <a:tcPr/>
                </a:tc>
                <a:extLst>
                  <a:ext uri="{0D108BD9-81ED-4DB2-BD59-A6C34878D82A}">
                    <a16:rowId xmlns:a16="http://schemas.microsoft.com/office/drawing/2014/main" val="10003"/>
                  </a:ext>
                </a:extLst>
              </a:tr>
              <a:tr h="595630">
                <a:tc>
                  <a:txBody>
                    <a:bodyPr/>
                    <a:lstStyle/>
                    <a:p>
                      <a:pPr algn="l">
                        <a:buClrTx/>
                        <a:buSzTx/>
                        <a:buFontTx/>
                        <a:buNone/>
                      </a:pPr>
                      <a:r>
                        <a:rPr lang="en-US" altLang="zh-CN" sz="2400">
                          <a:solidFill>
                            <a:srgbClr val="0000FF"/>
                          </a:solidFill>
                        </a:rPr>
                        <a:t>4</a:t>
                      </a:r>
                    </a:p>
                  </a:txBody>
                  <a:tcPr/>
                </a:tc>
                <a:tc>
                  <a:txBody>
                    <a:bodyPr/>
                    <a:lstStyle/>
                    <a:p>
                      <a:pPr algn="l">
                        <a:buClrTx/>
                        <a:buSzTx/>
                        <a:buFontTx/>
                        <a:buNone/>
                      </a:pPr>
                      <a:r>
                        <a:rPr lang="en-US" altLang="zh-CN" sz="2400" dirty="0">
                          <a:solidFill>
                            <a:srgbClr val="0000FF"/>
                          </a:solidFill>
                          <a:sym typeface="+mn-ea"/>
                        </a:rPr>
                        <a:t>2026-09-28</a:t>
                      </a:r>
                    </a:p>
                  </a:txBody>
                  <a:tcPr/>
                </a:tc>
                <a:tc>
                  <a:txBody>
                    <a:bodyPr/>
                    <a:lstStyle/>
                    <a:p>
                      <a:pPr algn="l">
                        <a:buClrTx/>
                        <a:buSzTx/>
                        <a:buFontTx/>
                        <a:buNone/>
                      </a:pPr>
                      <a:r>
                        <a:rPr lang="zh-CN" altLang="en-US" sz="2400" dirty="0">
                          <a:solidFill>
                            <a:srgbClr val="0000FF"/>
                          </a:solidFill>
                          <a:sym typeface="+mn-ea"/>
                        </a:rPr>
                        <a:t>论文/报告/专利写作</a:t>
                      </a:r>
                      <a:endParaRPr lang="zh-CN" altLang="en-US" sz="2400" dirty="0">
                        <a:solidFill>
                          <a:srgbClr val="0000FF"/>
                        </a:solidFill>
                      </a:endParaRPr>
                    </a:p>
                  </a:txBody>
                  <a:tcPr/>
                </a:tc>
                <a:tc>
                  <a:txBody>
                    <a:bodyPr/>
                    <a:lstStyle/>
                    <a:p>
                      <a:pPr>
                        <a:buNone/>
                      </a:pPr>
                      <a:r>
                        <a:rPr lang="zh-CN" altLang="en-US" sz="2400" dirty="0">
                          <a:solidFill>
                            <a:srgbClr val="0000FF"/>
                          </a:solidFill>
                        </a:rPr>
                        <a:t>提交第</a:t>
                      </a:r>
                      <a:r>
                        <a:rPr lang="en-US" altLang="zh-CN" sz="2400" dirty="0">
                          <a:solidFill>
                            <a:srgbClr val="0000FF"/>
                          </a:solidFill>
                        </a:rPr>
                        <a:t>1</a:t>
                      </a:r>
                      <a:r>
                        <a:rPr lang="zh-CN" altLang="en-US" sz="2400" dirty="0">
                          <a:solidFill>
                            <a:srgbClr val="0000FF"/>
                          </a:solidFill>
                        </a:rPr>
                        <a:t>次初稿</a:t>
                      </a:r>
                    </a:p>
                  </a:txBody>
                  <a:tcPr/>
                </a:tc>
                <a:extLst>
                  <a:ext uri="{0D108BD9-81ED-4DB2-BD59-A6C34878D82A}">
                    <a16:rowId xmlns:a16="http://schemas.microsoft.com/office/drawing/2014/main" val="10004"/>
                  </a:ext>
                </a:extLst>
              </a:tr>
              <a:tr h="594360">
                <a:tc>
                  <a:txBody>
                    <a:bodyPr/>
                    <a:lstStyle/>
                    <a:p>
                      <a:pPr algn="l">
                        <a:buClrTx/>
                        <a:buSzTx/>
                        <a:buFontTx/>
                        <a:buNone/>
                      </a:pPr>
                      <a:r>
                        <a:rPr lang="en-US" altLang="zh-CN" sz="2400">
                          <a:solidFill>
                            <a:srgbClr val="0000FF"/>
                          </a:solidFill>
                        </a:rPr>
                        <a:t>5</a:t>
                      </a:r>
                    </a:p>
                  </a:txBody>
                  <a:tcPr/>
                </a:tc>
                <a:tc>
                  <a:txBody>
                    <a:bodyPr/>
                    <a:lstStyle/>
                    <a:p>
                      <a:pPr algn="l">
                        <a:buClrTx/>
                        <a:buSzTx/>
                        <a:buFontTx/>
                        <a:buNone/>
                      </a:pPr>
                      <a:r>
                        <a:rPr lang="en-US" altLang="zh-CN" sz="2400" dirty="0">
                          <a:solidFill>
                            <a:srgbClr val="0000FF"/>
                          </a:solidFill>
                        </a:rPr>
                        <a:t>2026-10-12</a:t>
                      </a:r>
                    </a:p>
                  </a:txBody>
                  <a:tcPr/>
                </a:tc>
                <a:tc>
                  <a:txBody>
                    <a:bodyPr/>
                    <a:lstStyle/>
                    <a:p>
                      <a:pPr algn="l">
                        <a:buClrTx/>
                        <a:buSzTx/>
                        <a:buFontTx/>
                        <a:buNone/>
                      </a:pPr>
                      <a:r>
                        <a:rPr lang="zh-CN" altLang="en-US" sz="2400" dirty="0">
                          <a:solidFill>
                            <a:srgbClr val="0000FF"/>
                          </a:solidFill>
                          <a:sym typeface="+mn-ea"/>
                        </a:rPr>
                        <a:t>范文讲解与写作问题研讨</a:t>
                      </a:r>
                    </a:p>
                  </a:txBody>
                  <a:tcPr/>
                </a:tc>
                <a:tc>
                  <a:txBody>
                    <a:bodyPr/>
                    <a:lstStyle/>
                    <a:p>
                      <a:pPr>
                        <a:buNone/>
                      </a:pPr>
                      <a:r>
                        <a:rPr lang="zh-CN" altLang="en-US" sz="2400">
                          <a:solidFill>
                            <a:srgbClr val="0000FF"/>
                          </a:solidFill>
                          <a:sym typeface="+mn-ea"/>
                        </a:rPr>
                        <a:t>提交第</a:t>
                      </a:r>
                      <a:r>
                        <a:rPr lang="en-US" altLang="zh-CN" sz="2400">
                          <a:solidFill>
                            <a:srgbClr val="0000FF"/>
                          </a:solidFill>
                          <a:sym typeface="+mn-ea"/>
                        </a:rPr>
                        <a:t>2</a:t>
                      </a:r>
                      <a:r>
                        <a:rPr lang="zh-CN" altLang="en-US" sz="2400">
                          <a:solidFill>
                            <a:srgbClr val="0000FF"/>
                          </a:solidFill>
                          <a:sym typeface="+mn-ea"/>
                        </a:rPr>
                        <a:t>次初稿</a:t>
                      </a:r>
                      <a:endParaRPr lang="zh-CN" altLang="en-US" sz="2400">
                        <a:solidFill>
                          <a:srgbClr val="0000FF"/>
                        </a:solidFill>
                      </a:endParaRPr>
                    </a:p>
                  </a:txBody>
                  <a:tcPr/>
                </a:tc>
                <a:extLst>
                  <a:ext uri="{0D108BD9-81ED-4DB2-BD59-A6C34878D82A}">
                    <a16:rowId xmlns:a16="http://schemas.microsoft.com/office/drawing/2014/main" val="10005"/>
                  </a:ext>
                </a:extLst>
              </a:tr>
              <a:tr h="595630">
                <a:tc>
                  <a:txBody>
                    <a:bodyPr/>
                    <a:lstStyle/>
                    <a:p>
                      <a:pPr algn="l">
                        <a:buClrTx/>
                        <a:buSzTx/>
                        <a:buFontTx/>
                        <a:buNone/>
                      </a:pPr>
                      <a:r>
                        <a:rPr lang="en-US" altLang="zh-CN" sz="2400">
                          <a:solidFill>
                            <a:srgbClr val="0000FF"/>
                          </a:solidFill>
                        </a:rPr>
                        <a:t>6</a:t>
                      </a:r>
                    </a:p>
                  </a:txBody>
                  <a:tcPr/>
                </a:tc>
                <a:tc>
                  <a:txBody>
                    <a:bodyPr/>
                    <a:lstStyle/>
                    <a:p>
                      <a:pPr algn="l">
                        <a:buClrTx/>
                        <a:buSzTx/>
                        <a:buFontTx/>
                        <a:buNone/>
                      </a:pPr>
                      <a:r>
                        <a:rPr lang="en-US" altLang="zh-CN" sz="2400" dirty="0">
                          <a:solidFill>
                            <a:srgbClr val="0000FF"/>
                          </a:solidFill>
                        </a:rPr>
                        <a:t>2026-10-19</a:t>
                      </a:r>
                    </a:p>
                  </a:txBody>
                  <a:tcPr/>
                </a:tc>
                <a:tc>
                  <a:txBody>
                    <a:bodyPr/>
                    <a:lstStyle/>
                    <a:p>
                      <a:pPr algn="l">
                        <a:buClrTx/>
                        <a:buSzTx/>
                        <a:buFontTx/>
                        <a:buNone/>
                      </a:pPr>
                      <a:r>
                        <a:rPr lang="zh-CN" altLang="en-US" sz="2400" dirty="0">
                          <a:solidFill>
                            <a:srgbClr val="0000FF"/>
                          </a:solidFill>
                          <a:sym typeface="+mn-ea"/>
                        </a:rPr>
                        <a:t>专利等写作范文讲解</a:t>
                      </a:r>
                    </a:p>
                  </a:txBody>
                  <a:tcPr/>
                </a:tc>
                <a:tc>
                  <a:txBody>
                    <a:bodyPr/>
                    <a:lstStyle/>
                    <a:p>
                      <a:pPr algn="l">
                        <a:buClrTx/>
                        <a:buSzTx/>
                        <a:buFontTx/>
                        <a:buNone/>
                      </a:pPr>
                      <a:r>
                        <a:rPr lang="zh-CN" altLang="en-US" sz="2400">
                          <a:solidFill>
                            <a:srgbClr val="0000FF"/>
                          </a:solidFill>
                          <a:sym typeface="+mn-ea"/>
                        </a:rPr>
                        <a:t>提交论文初稿</a:t>
                      </a:r>
                      <a:endParaRPr lang="zh-CN" altLang="en-US" sz="2400">
                        <a:solidFill>
                          <a:srgbClr val="0000FF"/>
                        </a:solidFill>
                      </a:endParaRPr>
                    </a:p>
                  </a:txBody>
                  <a:tcPr/>
                </a:tc>
                <a:extLst>
                  <a:ext uri="{0D108BD9-81ED-4DB2-BD59-A6C34878D82A}">
                    <a16:rowId xmlns:a16="http://schemas.microsoft.com/office/drawing/2014/main" val="10006"/>
                  </a:ext>
                </a:extLst>
              </a:tr>
              <a:tr h="594360">
                <a:tc>
                  <a:txBody>
                    <a:bodyPr/>
                    <a:lstStyle/>
                    <a:p>
                      <a:pPr algn="l">
                        <a:buClrTx/>
                        <a:buSzTx/>
                        <a:buFontTx/>
                        <a:buNone/>
                      </a:pPr>
                      <a:r>
                        <a:rPr lang="en-US" altLang="zh-CN" sz="2400">
                          <a:solidFill>
                            <a:srgbClr val="0000FF"/>
                          </a:solidFill>
                        </a:rPr>
                        <a:t>7</a:t>
                      </a:r>
                    </a:p>
                  </a:txBody>
                  <a:tcPr/>
                </a:tc>
                <a:tc>
                  <a:txBody>
                    <a:bodyPr/>
                    <a:lstStyle/>
                    <a:p>
                      <a:pPr algn="l">
                        <a:buClrTx/>
                        <a:buSzTx/>
                        <a:buFontTx/>
                        <a:buNone/>
                      </a:pPr>
                      <a:r>
                        <a:rPr lang="en-US" altLang="zh-CN" sz="2400" dirty="0">
                          <a:solidFill>
                            <a:srgbClr val="0000FF"/>
                          </a:solidFill>
                        </a:rPr>
                        <a:t>2026-10-26</a:t>
                      </a:r>
                    </a:p>
                  </a:txBody>
                  <a:tcPr/>
                </a:tc>
                <a:tc>
                  <a:txBody>
                    <a:bodyPr/>
                    <a:lstStyle/>
                    <a:p>
                      <a:pPr algn="l">
                        <a:buClrTx/>
                        <a:buSzTx/>
                        <a:buFontTx/>
                        <a:buNone/>
                      </a:pPr>
                      <a:r>
                        <a:rPr lang="zh-CN" altLang="en-US" sz="2400">
                          <a:solidFill>
                            <a:srgbClr val="0000FF"/>
                          </a:solidFill>
                          <a:sym typeface="+mn-ea"/>
                        </a:rPr>
                        <a:t>习作评讲</a:t>
                      </a:r>
                    </a:p>
                  </a:txBody>
                  <a:tcPr/>
                </a:tc>
                <a:tc>
                  <a:txBody>
                    <a:bodyPr/>
                    <a:lstStyle/>
                    <a:p>
                      <a:pPr algn="l">
                        <a:buClrTx/>
                        <a:buSzTx/>
                        <a:buFontTx/>
                        <a:buNone/>
                      </a:pPr>
                      <a:r>
                        <a:rPr lang="zh-CN" altLang="en-US" sz="2400" dirty="0">
                          <a:solidFill>
                            <a:srgbClr val="0000FF"/>
                          </a:solidFill>
                        </a:rPr>
                        <a:t>提交第</a:t>
                      </a:r>
                      <a:r>
                        <a:rPr lang="en-US" altLang="zh-CN" sz="2400" dirty="0">
                          <a:solidFill>
                            <a:srgbClr val="0000FF"/>
                          </a:solidFill>
                        </a:rPr>
                        <a:t>3</a:t>
                      </a:r>
                      <a:r>
                        <a:rPr lang="zh-CN" altLang="en-US" sz="2400" dirty="0">
                          <a:solidFill>
                            <a:srgbClr val="0000FF"/>
                          </a:solidFill>
                        </a:rPr>
                        <a:t>版论文</a:t>
                      </a:r>
                    </a:p>
                  </a:txBody>
                  <a:tcPr/>
                </a:tc>
                <a:extLst>
                  <a:ext uri="{0D108BD9-81ED-4DB2-BD59-A6C34878D82A}">
                    <a16:rowId xmlns:a16="http://schemas.microsoft.com/office/drawing/2014/main" val="10007"/>
                  </a:ext>
                </a:extLst>
              </a:tr>
              <a:tr h="822960">
                <a:tc>
                  <a:txBody>
                    <a:bodyPr/>
                    <a:lstStyle/>
                    <a:p>
                      <a:pPr algn="l">
                        <a:buClrTx/>
                        <a:buSzTx/>
                        <a:buFontTx/>
                        <a:buNone/>
                      </a:pPr>
                      <a:r>
                        <a:rPr lang="en-US" altLang="zh-CN" sz="2400">
                          <a:solidFill>
                            <a:srgbClr val="0000FF"/>
                          </a:solidFill>
                        </a:rPr>
                        <a:t>8</a:t>
                      </a:r>
                    </a:p>
                  </a:txBody>
                  <a:tcPr/>
                </a:tc>
                <a:tc>
                  <a:txBody>
                    <a:bodyPr/>
                    <a:lstStyle/>
                    <a:p>
                      <a:pPr algn="l">
                        <a:buClrTx/>
                        <a:buSzTx/>
                        <a:buFontTx/>
                        <a:buNone/>
                      </a:pPr>
                      <a:r>
                        <a:rPr lang="en-US" altLang="zh-CN" sz="2400" dirty="0">
                          <a:solidFill>
                            <a:srgbClr val="0000FF"/>
                          </a:solidFill>
                        </a:rPr>
                        <a:t>2026-11-02</a:t>
                      </a:r>
                    </a:p>
                  </a:txBody>
                  <a:tcPr/>
                </a:tc>
                <a:tc>
                  <a:txBody>
                    <a:bodyPr/>
                    <a:lstStyle/>
                    <a:p>
                      <a:pPr algn="l">
                        <a:buClrTx/>
                        <a:buSzTx/>
                        <a:buFontTx/>
                        <a:buNone/>
                      </a:pPr>
                      <a:r>
                        <a:rPr lang="zh-CN" altLang="en-US" sz="2400">
                          <a:solidFill>
                            <a:srgbClr val="0000FF"/>
                          </a:solidFill>
                          <a:sym typeface="+mn-ea"/>
                        </a:rPr>
                        <a:t>课程汇报与研讨</a:t>
                      </a:r>
                    </a:p>
                  </a:txBody>
                  <a:tcPr/>
                </a:tc>
                <a:tc>
                  <a:txBody>
                    <a:bodyPr/>
                    <a:lstStyle/>
                    <a:p>
                      <a:pPr algn="l">
                        <a:buClrTx/>
                        <a:buSzTx/>
                        <a:buFontTx/>
                        <a:buNone/>
                      </a:pPr>
                      <a:r>
                        <a:rPr lang="zh-CN" altLang="en-US" sz="2400" dirty="0">
                          <a:solidFill>
                            <a:srgbClr val="0000FF"/>
                          </a:solidFill>
                        </a:rPr>
                        <a:t>再次修改并汇报</a:t>
                      </a:r>
                    </a:p>
                  </a:txBody>
                  <a:tcP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10310457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00b49236-b6c3-463b-acfa-1f1dd902b5b7"/>
  <p:tag name="COMMONDATA" val="eyJoZGlkIjoiMmUzNzE3MjMxYWEyMjk4NTA5YTc5NmVlYjhmNWJkOTIifQ=="/>
  <p:tag name="RESOURCE_RECORD_KEY" val="{&quot;13&quot;:[4563120],&quot;65&quot;:[20180699]}"/>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604_1"/>
  <p:tag name="KSO_WM_TEMPLATE_CATEGORY" val="custom"/>
  <p:tag name="KSO_WM_TEMPLATE_INDEX" val="20180699"/>
  <p:tag name="KSO_WM_TEMPLATE_SUBCATEGORY" val="0"/>
  <p:tag name="KSO_WM_TEMPLATE_THUMBS_INDEX" val="1、4、5、6、11、12、16、18、26、27、"/>
  <p:tag name="KSO_WM_TEMPLATE_MASTER_TYPE" val="1"/>
  <p:tag name="KSO_WM_TEMPLATE_COLOR_TYPE" val="0"/>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Lst>
</file>

<file path=ppt/tags/tag8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87.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
  <p:tag name="KSO_WM_SLIDE_LAYOUT_CNT" val="1_1"/>
  <p:tag name="KSO_WM_SLIDE_TYPE" val="title"/>
  <p:tag name="KSO_WM_BEAUTIFY_FLAG" val="#wm#"/>
  <p:tag name="KSO_WM_COMBINE_RELATE_SLIDE_ID" val="background20177604_1"/>
  <p:tag name="KSO_WM_TEMPLATE_CATEGORY" val="custom"/>
  <p:tag name="KSO_WM_TEMPLATE_INDEX" val="20180699"/>
  <p:tag name="KSO_WM_SLIDE_ID" val="custom20180699_1"/>
  <p:tag name="KSO_WM_SLIDE_INDEX" val="1"/>
  <p:tag name="KSO_WM_TEMPLATE_SUBCATEGORY" val="0"/>
  <p:tag name="KSO_WM_TEMPLATE_THUMBS_INDEX" val="1、4、5、6、11、12、16、18、26、27、"/>
  <p:tag name="KSO_WM_TEMPLATE_MASTER_TYPE" val="1"/>
  <p:tag name="KSO_WM_TEMPLATE_COLOR_TYPE" val="0"/>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26"/>
  <p:tag name="KSO_WM_UNIT_TYPE" val="b"/>
  <p:tag name="KSO_WM_UNIT_INDEX" val="1"/>
  <p:tag name="KSO_WM_UNIT_PRESET_TEXT" val="单击此处添加副标题内容"/>
  <p:tag name="KSO_WM_TEMPLATE_CATEGORY" val="custom"/>
  <p:tag name="KSO_WM_TEMPLATE_INDEX" val="20204735"/>
  <p:tag name="KSO_WM_UNIT_ID" val="custom20204735_1*b*1"/>
  <p:tag name="KSO_WM_UNIT_ISNUMDGMTITLE" val="0"/>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b"/>
  <p:tag name="KSO_WM_UNIT_INDEX" val="1"/>
  <p:tag name="KSO_WM_UNIT_LAYERLEVEL" val="1"/>
  <p:tag name="KSO_WM_UNIT_VALUE" val="52"/>
  <p:tag name="KSO_WM_UNIT_ISCONTENTSTITLE" val="0"/>
  <p:tag name="KSO_WM_UNIT_HIGHLIGHT" val="0"/>
  <p:tag name="KSO_WM_UNIT_COMPATIBLE" val="0"/>
  <p:tag name="KSO_WM_UNIT_PRESET_TEXT_INDEX" val="4"/>
  <p:tag name="KSO_WM_UNIT_PRESET_TEXT_LEN" val="57"/>
  <p:tag name="KSO_WM_UNIT_ID" val="custom20180699_1*b*1"/>
  <p:tag name="KSO_WM_UNIT_ISNUMDGMTITLE" val="0"/>
  <p:tag name="KSO_WM_UNIT_NOCLEAR" val="0"/>
  <p:tag name="KSO_WM_UNIT_DIAGRAM_ISNUMVISUAL" val="0"/>
  <p:tag name="KSO_WM_UNIT_DIAGRAM_ISREFERUNIT" val="0"/>
  <p:tag name="KSO_WM_UNIT_TEXT_FILL_FORE_SCHEMECOLOR_INDEX_BRIGHTNESS" val="0"/>
  <p:tag name="KSO_WM_UNIT_TEXT_FILL_FORE_SCHEMECOLOR_INDEX" val="14"/>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a"/>
  <p:tag name="KSO_WM_UNIT_INDEX" val="1"/>
  <p:tag name="KSO_WM_UNIT_LAYERLEVEL" val="1"/>
  <p:tag name="KSO_WM_UNIT_VALUE" val="11"/>
  <p:tag name="KSO_WM_UNIT_ISCONTENTSTITLE" val="0"/>
  <p:tag name="KSO_WM_UNIT_HIGHLIGHT" val="0"/>
  <p:tag name="KSO_WM_UNIT_COMPATIBLE" val="0"/>
  <p:tag name="KSO_WM_UNIT_ID" val="custom20180699_1*a*1"/>
  <p:tag name="KSO_WM_UNIT_PRESET_TEXT" val="科技风深蓝色计划书"/>
  <p:tag name="KSO_WM_UNIT_ISNUMDGMTITLE" val="0"/>
  <p:tag name="KSO_WM_UNIT_NOCLEAR" val="0"/>
  <p:tag name="KSO_WM_UNIT_DIAGRAM_ISNUMVISUAL" val="0"/>
  <p:tag name="KSO_WM_UNIT_DIAGRAM_ISREFERUNIT" val="0"/>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AINPROBLEM" val="Polling"/>
  <p:tag name="PROBLEMSCORE" val="0.0"/>
  <p:tag name="ANONYMOUSPOLLING" val="False"/>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Body"/>
  <p:tag name="KSO_WM_DIAGRAM_VIRTUALLY_FRAME" val="{&quot;height&quot;:422.45,&quot;left&quot;:72,&quot;top&quot;:50,&quot;width&quot;:576}"/>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422.45,&quot;left&quot;:72,&quot;top&quot;:50,&quot;width&quot;:576}"/>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422.45,&quot;left&quot;:72,&quot;top&quot;:50,&quot;width&quot;:576}"/>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422.45,&quot;left&quot;:72,&quot;top&quot;:50,&quot;width&quot;:576}"/>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422.45,&quot;left&quot;:72,&quot;top&quot;:50,&quot;width&quot;:576}"/>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675_3*l_h_i*1_1_1"/>
  <p:tag name="KSO_WM_TEMPLATE_CATEGORY" val="diagram"/>
  <p:tag name="KSO_WM_TEMPLATE_INDEX" val="20228675"/>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DIAGRAM_VIRTUALLY_FRAME" val="{&quot;height&quot;:178.2,&quot;left&quot;:30.86251968503937,&quot;top&quot;:118.42503937007874,&quot;width&quot;:638.3250393700788}"/>
</p:tagLst>
</file>

<file path=ppt/tags/tag1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输入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28675_3*l_h_a*1_1_1"/>
  <p:tag name="KSO_WM_TEMPLATE_CATEGORY" val="diagram"/>
  <p:tag name="KSO_WM_TEMPLATE_INDEX" val="20228675"/>
  <p:tag name="KSO_WM_UNIT_LAYERLEVEL" val="1_1_1"/>
  <p:tag name="KSO_WM_TAG_VERSION" val="1.0"/>
  <p:tag name="KSO_WM_BEAUTIFY_FLAG" val="#wm#"/>
  <p:tag name="KSO_WM_UNIT_TEXT_FILL_FORE_SCHEMECOLOR_INDEX" val="14"/>
  <p:tag name="KSO_WM_UNIT_TEXT_FILL_TYPE" val="1"/>
  <p:tag name="KSO_WM_UNIT_TEXT_SHADOW_SCHEMECOLOR_INDEX" val="6"/>
  <p:tag name="KSO_WM_DIAGRAM_VIRTUALLY_FRAME" val="{&quot;height&quot;:178.2,&quot;left&quot;:30.86251968503937,&quot;top&quot;:118.42503937007874,&quot;width&quot;:638.3250393700788}"/>
</p:tagLst>
</file>

<file path=ppt/tags/tag15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您的内容打在这里，或者通过复制您的文本后。&#10;您的内容打在这里，并选择只保留文字。"/>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675_3*l_h_f*1_1_1"/>
  <p:tag name="KSO_WM_TEMPLATE_CATEGORY" val="diagram"/>
  <p:tag name="KSO_WM_TEMPLATE_INDEX" val="20228675"/>
  <p:tag name="KSO_WM_UNIT_LAYERLEVEL" val="1_1_1"/>
  <p:tag name="KSO_WM_TAG_VERSION" val="1.0"/>
  <p:tag name="KSO_WM_BEAUTIFY_FLAG" val="#wm#"/>
  <p:tag name="KSO_WM_UNIT_TEXT_FILL_FORE_SCHEMECOLOR_INDEX" val="14"/>
  <p:tag name="KSO_WM_UNIT_TEXT_FILL_TYPE" val="1"/>
  <p:tag name="KSO_WM_DIAGRAM_VIRTUALLY_FRAME" val="{&quot;height&quot;:178.2,&quot;left&quot;:30.86251968503937,&quot;top&quot;:118.42503937007874,&quot;width&quot;:638.3250393700788}"/>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28675_3*l_h_i*1_2_1"/>
  <p:tag name="KSO_WM_TEMPLATE_CATEGORY" val="diagram"/>
  <p:tag name="KSO_WM_TEMPLATE_INDEX" val="20228675"/>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DIAGRAM_VIRTUALLY_FRAME" val="{&quot;height&quot;:178.2,&quot;left&quot;:30.86251968503937,&quot;top&quot;:118.42503937007874,&quot;width&quot;:638.3250393700788}"/>
</p:tagLst>
</file>

<file path=ppt/tags/tag1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输入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28675_3*l_h_a*1_2_1"/>
  <p:tag name="KSO_WM_TEMPLATE_CATEGORY" val="diagram"/>
  <p:tag name="KSO_WM_TEMPLATE_INDEX" val="20228675"/>
  <p:tag name="KSO_WM_UNIT_LAYERLEVEL" val="1_1_1"/>
  <p:tag name="KSO_WM_TAG_VERSION" val="1.0"/>
  <p:tag name="KSO_WM_BEAUTIFY_FLAG" val="#wm#"/>
  <p:tag name="KSO_WM_UNIT_TEXT_FILL_FORE_SCHEMECOLOR_INDEX" val="14"/>
  <p:tag name="KSO_WM_UNIT_TEXT_FILL_TYPE" val="1"/>
  <p:tag name="KSO_WM_UNIT_TEXT_SHADOW_SCHEMECOLOR_INDEX" val="6"/>
  <p:tag name="KSO_WM_DIAGRAM_VIRTUALLY_FRAME" val="{&quot;height&quot;:178.2,&quot;left&quot;:30.86251968503937,&quot;top&quot;:118.42503937007874,&quot;width&quot;:638.3250393700788}"/>
</p:tagLst>
</file>

<file path=ppt/tags/tag16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您的内容打在这里，或者通过复制您的文本后。&#10;您的内容打在这里，并选择只保留文字。"/>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28675_3*l_h_f*1_2_1"/>
  <p:tag name="KSO_WM_TEMPLATE_CATEGORY" val="diagram"/>
  <p:tag name="KSO_WM_TEMPLATE_INDEX" val="20228675"/>
  <p:tag name="KSO_WM_UNIT_LAYERLEVEL" val="1_1_1"/>
  <p:tag name="KSO_WM_TAG_VERSION" val="1.0"/>
  <p:tag name="KSO_WM_BEAUTIFY_FLAG" val="#wm#"/>
  <p:tag name="KSO_WM_UNIT_TEXT_FILL_FORE_SCHEMECOLOR_INDEX" val="14"/>
  <p:tag name="KSO_WM_UNIT_TEXT_FILL_TYPE" val="1"/>
  <p:tag name="KSO_WM_DIAGRAM_VIRTUALLY_FRAME" val="{&quot;height&quot;:178.2,&quot;left&quot;:30.86251968503937,&quot;top&quot;:118.42503937007874,&quot;width&quot;:638.3250393700788}"/>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28675_3*l_h_i*1_3_1"/>
  <p:tag name="KSO_WM_TEMPLATE_CATEGORY" val="diagram"/>
  <p:tag name="KSO_WM_TEMPLATE_INDEX" val="20228675"/>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DIAGRAM_VIRTUALLY_FRAME" val="{&quot;height&quot;:178.2,&quot;left&quot;:30.86251968503937,&quot;top&quot;:118.42503937007874,&quot;width&quot;:638.3250393700788}"/>
</p:tagLst>
</file>

<file path=ppt/tags/tag16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输入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28675_3*l_h_a*1_3_1"/>
  <p:tag name="KSO_WM_TEMPLATE_CATEGORY" val="diagram"/>
  <p:tag name="KSO_WM_TEMPLATE_INDEX" val="20228675"/>
  <p:tag name="KSO_WM_UNIT_LAYERLEVEL" val="1_1_1"/>
  <p:tag name="KSO_WM_TAG_VERSION" val="1.0"/>
  <p:tag name="KSO_WM_BEAUTIFY_FLAG" val="#wm#"/>
  <p:tag name="KSO_WM_UNIT_TEXT_FILL_FORE_SCHEMECOLOR_INDEX" val="14"/>
  <p:tag name="KSO_WM_UNIT_TEXT_FILL_TYPE" val="1"/>
  <p:tag name="KSO_WM_UNIT_TEXT_SHADOW_SCHEMECOLOR_INDEX" val="6"/>
  <p:tag name="KSO_WM_DIAGRAM_VIRTUALLY_FRAME" val="{&quot;height&quot;:178.2,&quot;left&quot;:30.86251968503937,&quot;top&quot;:118.42503937007874,&quot;width&quot;:638.3250393700788}"/>
</p:tagLst>
</file>

<file path=ppt/tags/tag16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您的内容打在这里，或者通过复制您的文本后。&#10;您的内容打在这里，并选择只保留文字。"/>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28675_3*l_h_f*1_3_1"/>
  <p:tag name="KSO_WM_TEMPLATE_CATEGORY" val="diagram"/>
  <p:tag name="KSO_WM_TEMPLATE_INDEX" val="20228675"/>
  <p:tag name="KSO_WM_UNIT_LAYERLEVEL" val="1_1_1"/>
  <p:tag name="KSO_WM_TAG_VERSION" val="1.0"/>
  <p:tag name="KSO_WM_BEAUTIFY_FLAG" val="#wm#"/>
  <p:tag name="KSO_WM_UNIT_TEXT_FILL_FORE_SCHEMECOLOR_INDEX" val="14"/>
  <p:tag name="KSO_WM_UNIT_TEXT_FILL_TYPE" val="1"/>
  <p:tag name="KSO_WM_DIAGRAM_VIRTUALLY_FRAME" val="{&quot;height&quot;:178.2,&quot;left&quot;:30.86251968503937,&quot;top&quot;:118.42503937007874,&quot;width&quot;:638.3250393700788}"/>
</p:tagLst>
</file>

<file path=ppt/tags/tag16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16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16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167.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168.xml><?xml version="1.0" encoding="utf-8"?>
<p:tagLst xmlns:a="http://schemas.openxmlformats.org/drawingml/2006/main" xmlns:r="http://schemas.openxmlformats.org/officeDocument/2006/relationships" xmlns:p="http://schemas.openxmlformats.org/presentationml/2006/main">
  <p:tag name="KSO_WM_UNIT_TABLE_BEAUTIFY" val="smartTable{6e618c8a-eafc-4121-83d3-47f11163acc9}"/>
  <p:tag name="TABLE_ENDDRAG_ORIGIN_RECT" val="700*413"/>
  <p:tag name="TABLE_ENDDRAG_RECT" val="19*65*700*414"/>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17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184.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AINPROBLEM" val="MultipleChoiceMA"/>
  <p:tag name="PROBLEMSCORE" val="1.0"/>
  <p:tag name="PROBLEMSCORE_HALF" val="0.0"/>
</p:tagLst>
</file>

<file path=ppt/tags/tag18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188.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 name="KSO_WM_DIAGRAM_VIRTUALLY_FRAME" val="{&quot;height&quot;:253.1,&quot;left&quot;:87.75,&quot;top&quot;:219.35,&quot;width&quot;:560.25}"/>
</p:tagLst>
</file>

<file path=ppt/tags/tag1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 name="KSO_WM_DIAGRAM_VIRTUALLY_FRAME" val="{&quot;height&quot;:253.1,&quot;left&quot;:87.75,&quot;top&quot;:219.35,&quot;width&quot;:560.25}"/>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 name="KSO_WM_DIAGRAM_VIRTUALLY_FRAME" val="{&quot;height&quot;:253.1,&quot;left&quot;:87.75,&quot;top&quot;:219.35,&quot;width&quot;:560.25}"/>
</p:tagLst>
</file>

<file path=ppt/tags/tag1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 name="KSO_WM_DIAGRAM_VIRTUALLY_FRAME" val="{&quot;height&quot;:253.1,&quot;left&quot;:87.75,&quot;top&quot;:219.35,&quot;width&quot;:560.25}"/>
</p:tagLst>
</file>

<file path=ppt/tags/tag19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00.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0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0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08.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0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1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1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1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1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51,&quot;width&quot;:4372}"/>
</p:tagLst>
</file>

<file path=ppt/tags/tag219.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2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2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24.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2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2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2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28.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2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3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4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4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4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9000,&quot;width&quot;:9000}"/>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49.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5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5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5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5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54.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5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5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5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58.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5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6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6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6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6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6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67.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68.xml><?xml version="1.0" encoding="utf-8"?>
<p:tagLst xmlns:a="http://schemas.openxmlformats.org/drawingml/2006/main" xmlns:r="http://schemas.openxmlformats.org/officeDocument/2006/relationships" xmlns:p="http://schemas.openxmlformats.org/presentationml/2006/main">
  <p:tag name="KSO_WM_UNIT_TABLE_BEAUTIFY" val="smartTable{6e618c8a-eafc-4121-83d3-47f11163acc9}"/>
  <p:tag name="TABLE_ENDDRAG_ORIGIN_RECT" val="700*413"/>
  <p:tag name="TABLE_ENDDRAG_RECT" val="19*65*700*414"/>
  <p:tag name="KSO_WM_BEAUTIFY_FLAG" val=""/>
</p:tagLst>
</file>

<file path=ppt/theme/theme1.xml><?xml version="1.0" encoding="utf-8"?>
<a:theme xmlns:a="http://schemas.openxmlformats.org/drawingml/2006/main" name="Notebook">
  <a:themeElements>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Notebook">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20180699">
      <a:dk1>
        <a:srgbClr val="404040"/>
      </a:dk1>
      <a:lt1>
        <a:srgbClr val="FFFFFF"/>
      </a:lt1>
      <a:dk2>
        <a:srgbClr val="ECECEC"/>
      </a:dk2>
      <a:lt2>
        <a:srgbClr val="FFFFFF"/>
      </a:lt2>
      <a:accent1>
        <a:srgbClr val="FFC000"/>
      </a:accent1>
      <a:accent2>
        <a:srgbClr val="E2C85F"/>
      </a:accent2>
      <a:accent3>
        <a:srgbClr val="BDCF95"/>
      </a:accent3>
      <a:accent4>
        <a:srgbClr val="92CCB7"/>
      </a:accent4>
      <a:accent5>
        <a:srgbClr val="68BFC6"/>
      </a:accent5>
      <a:accent6>
        <a:srgbClr val="00B2D5"/>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Designs\Notebook.pot</Template>
  <TotalTime>7622</TotalTime>
  <Words>10396</Words>
  <Application>Microsoft Office PowerPoint</Application>
  <PresentationFormat>全屏显示(4:3)</PresentationFormat>
  <Paragraphs>629</Paragraphs>
  <Slides>63</Slides>
  <Notes>8</Notes>
  <HiddenSlides>1</HiddenSlides>
  <MMClips>2</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63</vt:i4>
      </vt:variant>
    </vt:vector>
  </HeadingPairs>
  <TitlesOfParts>
    <vt:vector size="84" baseType="lpstr">
      <vt:lpstr>Helvetica Neue</vt:lpstr>
      <vt:lpstr>PingFangSC-Regular</vt:lpstr>
      <vt:lpstr>方正粗黑宋简体</vt:lpstr>
      <vt:lpstr>方正大黑简体</vt:lpstr>
      <vt:lpstr>方正楷体_GB2312</vt:lpstr>
      <vt:lpstr>仿宋</vt:lpstr>
      <vt:lpstr>仿宋_GB2312</vt:lpstr>
      <vt:lpstr>黑体</vt:lpstr>
      <vt:lpstr>华文楷体</vt:lpstr>
      <vt:lpstr>华文新魏</vt:lpstr>
      <vt:lpstr>楷体</vt:lpstr>
      <vt:lpstr>宋体</vt:lpstr>
      <vt:lpstr>微软雅黑</vt:lpstr>
      <vt:lpstr>微软雅黑</vt:lpstr>
      <vt:lpstr>Arial</vt:lpstr>
      <vt:lpstr>Arial Black</vt:lpstr>
      <vt:lpstr>Calibri</vt:lpstr>
      <vt:lpstr>Times New Roman</vt:lpstr>
      <vt:lpstr>Wingdings</vt:lpstr>
      <vt:lpstr>Notebook</vt:lpstr>
      <vt:lpstr>3_Office 主题​​</vt:lpstr>
      <vt:lpstr>  《专业写作基础》 </vt:lpstr>
      <vt:lpstr>PowerPoint 演示文稿</vt:lpstr>
      <vt:lpstr>选课学生分布</vt:lpstr>
      <vt:lpstr>PowerPoint 演示文稿</vt:lpstr>
      <vt:lpstr>分组名单（雨课堂-自由分组）</vt:lpstr>
      <vt:lpstr>《专业写作基础》课程简介</vt:lpstr>
      <vt:lpstr>课程目标</vt:lpstr>
      <vt:lpstr>课程简介（续）</vt:lpstr>
      <vt:lpstr>课时安排与节点要求</vt:lpstr>
      <vt:lpstr>课程简介（续）</vt:lpstr>
      <vt:lpstr>自学内容和要求</vt:lpstr>
      <vt:lpstr>实践性教学环节和要求</vt:lpstr>
      <vt:lpstr>1.专业内容写作环节要求</vt:lpstr>
      <vt:lpstr>课程实践专业内容写作环节的内容形式</vt:lpstr>
      <vt:lpstr>2. 课堂/课下作业环节</vt:lpstr>
      <vt:lpstr>3.课堂汇报环节</vt:lpstr>
      <vt:lpstr>教材与参考文献</vt:lpstr>
      <vt:lpstr>第一章 概述</vt:lpstr>
      <vt:lpstr>PowerPoint 演示文稿</vt:lpstr>
      <vt:lpstr>第一章 概述</vt:lpstr>
      <vt:lpstr>第一章 概述</vt:lpstr>
      <vt:lpstr>第一章 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第一章 概述</vt:lpstr>
      <vt:lpstr>第一章 概述</vt:lpstr>
      <vt:lpstr>PowerPoint 演示文稿</vt:lpstr>
      <vt:lpstr>第一章 概述</vt:lpstr>
      <vt:lpstr>第一章 概述</vt:lpstr>
      <vt:lpstr>各位同学未来的职业理想/类型？ 写作对这些职业重要吗？</vt:lpstr>
      <vt:lpstr>第一章 概述</vt:lpstr>
      <vt:lpstr>第一章 概述</vt:lpstr>
      <vt:lpstr>第一章 概述</vt:lpstr>
      <vt:lpstr>PowerPoint 演示文稿</vt:lpstr>
      <vt:lpstr>PowerPoint 演示文稿</vt:lpstr>
      <vt:lpstr>第一章 概述</vt:lpstr>
      <vt:lpstr>第一章 概述</vt:lpstr>
      <vt:lpstr>鲁迅说写作《作文秘诀》</vt:lpstr>
      <vt:lpstr>钱学森讲写作</vt:lpstr>
      <vt:lpstr>莫言谈写作</vt:lpstr>
      <vt:lpstr>第一章 概述</vt:lpstr>
      <vt:lpstr>PowerPoint 演示文稿</vt:lpstr>
      <vt:lpstr>PowerPoint 演示文稿</vt:lpstr>
      <vt:lpstr>文献检索（示例）</vt:lpstr>
      <vt:lpstr>ChatGPT-4 Technical Report</vt:lpstr>
      <vt:lpstr>Nature教我们用ChatGPT</vt:lpstr>
      <vt:lpstr>第一章 概述</vt:lpstr>
      <vt:lpstr>第一章 概述</vt:lpstr>
      <vt:lpstr>PowerPoint 演示文稿</vt:lpstr>
      <vt:lpstr>第一章 概述</vt:lpstr>
      <vt:lpstr>第一章 概述</vt:lpstr>
      <vt:lpstr>第一章 概述</vt:lpstr>
      <vt:lpstr>第一章 概述</vt:lpstr>
      <vt:lpstr>第一章 概述</vt:lpstr>
      <vt:lpstr>课时安排与节点要求</vt:lpstr>
    </vt:vector>
  </TitlesOfParts>
  <Company>dna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电子系统RF与天线</dc:title>
  <dc:creator>yyw</dc:creator>
  <cp:lastModifiedBy>Jiang Wu</cp:lastModifiedBy>
  <cp:revision>923</cp:revision>
  <dcterms:created xsi:type="dcterms:W3CDTF">2021-03-08T06:41:00Z</dcterms:created>
  <dcterms:modified xsi:type="dcterms:W3CDTF">2026-09-14T02:58:43Z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42272DCEF484440BA29066F67E19C434_13</vt:lpwstr>
  </property>
</Properties>
</file>
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9"/>
  </p:notesMasterIdLst>
  <p:handoutMasterIdLst>
    <p:handoutMasterId r:id="rId40"/>
  </p:handoutMasterIdLst>
  <p:sldIdLst>
    <p:sldId id="1376" r:id="rId3"/>
    <p:sldId id="842" r:id="rId4"/>
    <p:sldId id="625" r:id="rId5"/>
    <p:sldId id="626" r:id="rId6"/>
    <p:sldId id="1355" r:id="rId7"/>
    <p:sldId id="628" r:id="rId8"/>
    <p:sldId id="1356" r:id="rId9"/>
    <p:sldId id="629" r:id="rId10"/>
    <p:sldId id="630" r:id="rId11"/>
    <p:sldId id="631" r:id="rId12"/>
    <p:sldId id="632" r:id="rId13"/>
    <p:sldId id="633" r:id="rId14"/>
    <p:sldId id="634" r:id="rId15"/>
    <p:sldId id="851" r:id="rId16"/>
    <p:sldId id="852" r:id="rId17"/>
    <p:sldId id="853" r:id="rId18"/>
    <p:sldId id="854" r:id="rId19"/>
    <p:sldId id="855" r:id="rId20"/>
    <p:sldId id="856" r:id="rId21"/>
    <p:sldId id="859" r:id="rId22"/>
    <p:sldId id="860" r:id="rId23"/>
    <p:sldId id="861" r:id="rId24"/>
    <p:sldId id="862" r:id="rId25"/>
    <p:sldId id="863" r:id="rId26"/>
    <p:sldId id="864" r:id="rId27"/>
    <p:sldId id="865" r:id="rId28"/>
    <p:sldId id="866" r:id="rId29"/>
    <p:sldId id="867" r:id="rId30"/>
    <p:sldId id="869" r:id="rId31"/>
    <p:sldId id="870" r:id="rId32"/>
    <p:sldId id="871" r:id="rId33"/>
    <p:sldId id="872" r:id="rId34"/>
    <p:sldId id="873" r:id="rId35"/>
    <p:sldId id="874" r:id="rId36"/>
    <p:sldId id="875" r:id="rId37"/>
    <p:sldId id="868" r:id="rId38"/>
  </p:sldIdLst>
  <p:sldSz cx="9144000" cy="6858000" type="screen4x3"/>
  <p:notesSz cx="6797675" cy="9926638"/>
  <p:custDataLst>
    <p:tags r:id="rId4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06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5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zhou" initials="LZ" lastIdx="3" clrIdx="0"/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FF"/>
    <a:srgbClr val="00FF00"/>
    <a:srgbClr val="000000"/>
    <a:srgbClr val="EBDEC9"/>
    <a:srgbClr val="BE3A3A"/>
    <a:srgbClr val="806858"/>
    <a:srgbClr val="735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8361" autoAdjust="0"/>
  </p:normalViewPr>
  <p:slideViewPr>
    <p:cSldViewPr showGuides="1">
      <p:cViewPr varScale="1">
        <p:scale>
          <a:sx n="90" d="100"/>
          <a:sy n="90" d="100"/>
        </p:scale>
        <p:origin x="1056" y="96"/>
      </p:cViewPr>
      <p:guideLst>
        <p:guide orient="horz" pos="4306"/>
        <p:guide pos="57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2388"/>
    </p:cViewPr>
  </p:sorterViewPr>
  <p:notesViewPr>
    <p:cSldViewPr>
      <p:cViewPr varScale="1">
        <p:scale>
          <a:sx n="57" d="100"/>
          <a:sy n="57" d="100"/>
        </p:scale>
        <p:origin x="-1836" y="-84"/>
      </p:cViewPr>
      <p:guideLst>
        <p:guide orient="horz" pos="3115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tags" Target="tags/tag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2.xml"/><Relationship Id="rId3" Type="http://schemas.openxmlformats.org/officeDocument/2006/relationships/slide" Target="slides/slide6.xml"/><Relationship Id="rId7" Type="http://schemas.openxmlformats.org/officeDocument/2006/relationships/slide" Target="slides/slide11.xml"/><Relationship Id="rId2" Type="http://schemas.openxmlformats.org/officeDocument/2006/relationships/slide" Target="slides/slide4.xml"/><Relationship Id="rId1" Type="http://schemas.openxmlformats.org/officeDocument/2006/relationships/slide" Target="slides/slide3.xml"/><Relationship Id="rId6" Type="http://schemas.openxmlformats.org/officeDocument/2006/relationships/slide" Target="slides/slide10.xml"/><Relationship Id="rId5" Type="http://schemas.openxmlformats.org/officeDocument/2006/relationships/slide" Target="slides/slide9.xml"/><Relationship Id="rId4" Type="http://schemas.openxmlformats.org/officeDocument/2006/relationships/slide" Target="slides/slide8.xml"/><Relationship Id="rId9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4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4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260D01-227B-43E1-94BF-0B6B7C86EE31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1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81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39A2B6A-FBA7-4BC0-9B3E-A5B9F96A0C1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image" Target="../media/image5.png"/><Relationship Id="rId3" Type="http://schemas.openxmlformats.org/officeDocument/2006/relationships/tags" Target="../tags/tag11.xml"/><Relationship Id="rId21" Type="http://schemas.openxmlformats.org/officeDocument/2006/relationships/image" Target="../media/image8.png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image" Target="../media/image4.jpeg"/><Relationship Id="rId25" Type="http://schemas.openxmlformats.org/officeDocument/2006/relationships/image" Target="../media/image12.png"/><Relationship Id="rId2" Type="http://schemas.openxmlformats.org/officeDocument/2006/relationships/tags" Target="../tags/tag10.xml"/><Relationship Id="rId16" Type="http://schemas.openxmlformats.org/officeDocument/2006/relationships/slideMaster" Target="../slideMasters/slideMaster2.xml"/><Relationship Id="rId20" Type="http://schemas.openxmlformats.org/officeDocument/2006/relationships/image" Target="../media/image7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image" Target="../media/image11.png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image" Target="../media/image10.png"/><Relationship Id="rId10" Type="http://schemas.openxmlformats.org/officeDocument/2006/relationships/tags" Target="../tags/tag18.xml"/><Relationship Id="rId19" Type="http://schemas.openxmlformats.org/officeDocument/2006/relationships/image" Target="../media/image6.pn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image" Target="../media/image13.png"/><Relationship Id="rId5" Type="http://schemas.openxmlformats.org/officeDocument/2006/relationships/tags" Target="../tags/tag3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32.xml"/><Relationship Id="rId9" Type="http://schemas.openxmlformats.org/officeDocument/2006/relationships/tags" Target="../tags/tag37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9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9" Type="http://schemas.openxmlformats.org/officeDocument/2006/relationships/image" Target="../media/image1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image" Target="../media/image15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9" Type="http://schemas.openxmlformats.org/officeDocument/2006/relationships/image" Target="../media/image15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10" Type="http://schemas.openxmlformats.org/officeDocument/2006/relationships/image" Target="../media/image15.png"/><Relationship Id="rId4" Type="http://schemas.openxmlformats.org/officeDocument/2006/relationships/tags" Target="../tags/tag96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10" Type="http://schemas.openxmlformats.org/officeDocument/2006/relationships/image" Target="../media/image15.png"/><Relationship Id="rId4" Type="http://schemas.openxmlformats.org/officeDocument/2006/relationships/tags" Target="../tags/tag104.xml"/><Relationship Id="rId9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10" Type="http://schemas.openxmlformats.org/officeDocument/2006/relationships/image" Target="../media/image15.png"/><Relationship Id="rId4" Type="http://schemas.openxmlformats.org/officeDocument/2006/relationships/tags" Target="../tags/tag112.xml"/><Relationship Id="rId9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12" Type="http://schemas.openxmlformats.org/officeDocument/2006/relationships/image" Target="../media/image15.png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21.xml"/><Relationship Id="rId10" Type="http://schemas.openxmlformats.org/officeDocument/2006/relationships/tags" Target="../tags/tag126.xml"/><Relationship Id="rId4" Type="http://schemas.openxmlformats.org/officeDocument/2006/relationships/tags" Target="../tags/tag120.xml"/><Relationship Id="rId9" Type="http://schemas.openxmlformats.org/officeDocument/2006/relationships/tags" Target="../tags/tag125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9" Type="http://schemas.openxmlformats.org/officeDocument/2006/relationships/image" Target="../media/image15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2122805"/>
            <a:ext cx="6076315" cy="1294765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3771900"/>
            <a:ext cx="4800600" cy="1328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dt" sz="quarter" idx="10"/>
          </p:nvPr>
        </p:nvSpPr>
        <p:spPr>
          <a:xfrm>
            <a:off x="675402" y="6309360"/>
            <a:ext cx="1428750" cy="3429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4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2504202" y="6309360"/>
            <a:ext cx="2171700" cy="3429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5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075952" y="6309360"/>
            <a:ext cx="1428750" cy="342900"/>
          </a:xfrm>
        </p:spPr>
        <p:txBody>
          <a:bodyPr/>
          <a:lstStyle>
            <a:lvl1pPr>
              <a:defRPr/>
            </a:lvl1pPr>
          </a:lstStyle>
          <a:p>
            <a:fld id="{B21AD18D-EE60-45AB-9B92-49E2B08496C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 b="1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8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3F876-A004-4157-8DFA-8947287857F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4162425"/>
            <a:ext cx="58293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3037285"/>
            <a:ext cx="58293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A71B8E-4303-4212-8612-CB623E26E3E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00100" y="918845"/>
            <a:ext cx="4049395" cy="5474335"/>
          </a:xfrm>
        </p:spPr>
        <p:txBody>
          <a:bodyPr/>
          <a:lstStyle>
            <a:lvl1pPr>
              <a:defRPr sz="2000" b="1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800" b="1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 b="1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400" b="1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 b="1">
                <a:latin typeface="微软雅黑" panose="020B0503020204020204" charset="-122"/>
                <a:ea typeface="微软雅黑" panose="020B050302020402020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71745" y="918845"/>
            <a:ext cx="3983355" cy="5485130"/>
          </a:xfrm>
        </p:spPr>
        <p:txBody>
          <a:bodyPr/>
          <a:lstStyle>
            <a:lvl1pPr>
              <a:defRPr sz="2000" b="1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800" b="1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 b="1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400" b="1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 b="1">
                <a:latin typeface="微软雅黑" panose="020B0503020204020204" charset="-122"/>
                <a:ea typeface="微软雅黑" panose="020B050302020402020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517FC4-93D2-4A92-A1E1-F033239B64C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1063229"/>
            <a:ext cx="6172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2008585"/>
            <a:ext cx="3030141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2488406"/>
            <a:ext cx="3030141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69" y="2008585"/>
            <a:ext cx="3031331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69" y="2488406"/>
            <a:ext cx="3031331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F92706-1655-4DF6-A6C8-AD41CFF3717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F8EA99-4C44-45B3-9C7D-4DD52C7DC4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D4FD8C-102E-4513-8292-E315F57F4DC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1062038"/>
            <a:ext cx="2256235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8" y="1062038"/>
            <a:ext cx="383381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1933575"/>
            <a:ext cx="2256235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6F023-568E-4386-9D91-820BD20CCCF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4457700"/>
            <a:ext cx="41148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1316831"/>
            <a:ext cx="41148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882754"/>
            <a:ext cx="41148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2DB38A-08E1-4201-9227-A72FAE209E4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7E7A8-F14B-42FA-A558-3F30ECFB86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086350" y="1143000"/>
            <a:ext cx="1428750" cy="4114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0100" y="1143000"/>
            <a:ext cx="4171950" cy="4114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38A59-C190-4615-A4F8-7883026CC68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00100" y="1143000"/>
            <a:ext cx="5715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E80AED-7EE1-4767-8416-B0BA005C72E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1143000"/>
            <a:ext cx="5715000" cy="6119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00100" y="1808560"/>
            <a:ext cx="2800350" cy="34492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3714750" y="1808560"/>
            <a:ext cx="2800350" cy="1666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714750" y="3589735"/>
            <a:ext cx="2800350" cy="16680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FDCDC-E881-474B-A331-7BE3416267F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1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545007" y="0"/>
                <a:ext cx="3646993" cy="6858000"/>
                <a:chOff x="8545007" y="0"/>
                <a:chExt cx="3646993" cy="6858000"/>
              </a:xfrm>
            </p:grpSpPr>
            <p:pic>
              <p:nvPicPr>
                <p:cNvPr id="10" name="图片 9"/>
                <p:cNvPicPr>
                  <a:picLocks noChangeAspect="1"/>
                </p:cNvPicPr>
                <p:nvPr>
                  <p:custDataLst>
                    <p:tags r:id="rId14"/>
                  </p:custDataLst>
                </p:nvPr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45007" y="0"/>
                  <a:ext cx="3646993" cy="2982191"/>
                </a:xfrm>
                <a:prstGeom prst="rect">
                  <a:avLst/>
                </a:prstGeom>
              </p:spPr>
            </p:pic>
            <p:pic>
              <p:nvPicPr>
                <p:cNvPr id="11" name="图片 10"/>
                <p:cNvPicPr>
                  <a:picLocks noChangeAspect="1"/>
                </p:cNvPicPr>
                <p:nvPr>
                  <p:custDataLst>
                    <p:tags r:id="rId15"/>
                  </p:custDataLst>
                </p:nvPr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02436" y="4066720"/>
                  <a:ext cx="2925924" cy="2791280"/>
                </a:xfrm>
                <a:prstGeom prst="rect">
                  <a:avLst/>
                </a:prstGeom>
              </p:spPr>
            </p:pic>
          </p:grpSp>
          <p:pic>
            <p:nvPicPr>
              <p:cNvPr id="9" name="图片 8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20"/>
              <a:stretch>
                <a:fillRect/>
              </a:stretch>
            </p:blipFill>
            <p:spPr>
              <a:xfrm>
                <a:off x="0" y="0"/>
                <a:ext cx="7137443" cy="6858000"/>
              </a:xfrm>
              <a:prstGeom prst="rect">
                <a:avLst/>
              </a:prstGeom>
            </p:spPr>
          </p:pic>
        </p:grpSp>
        <p:pic>
          <p:nvPicPr>
            <p:cNvPr id="12" name="图片 11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812461" y="1029461"/>
              <a:ext cx="4909467" cy="4653606"/>
            </a:xfrm>
            <a:prstGeom prst="rect">
              <a:avLst/>
            </a:prstGeom>
          </p:spPr>
        </p:pic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3B358A95-C3A6-445A-9253-6EEA2DB226D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EB8C49CF-321A-4DB1-9C29-37DB4312281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3586441" y="2188860"/>
            <a:ext cx="4894709" cy="1030733"/>
            <a:chOff x="4781921" y="2017071"/>
            <a:chExt cx="6526279" cy="1374310"/>
          </a:xfrm>
        </p:grpSpPr>
        <p:pic>
          <p:nvPicPr>
            <p:cNvPr id="15" name="图片 1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4931680" y="2017071"/>
              <a:ext cx="6376520" cy="595076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4781921" y="2943045"/>
              <a:ext cx="6462076" cy="448336"/>
            </a:xfrm>
            <a:prstGeom prst="rect">
              <a:avLst/>
            </a:prstGeom>
          </p:spPr>
        </p:pic>
      </p:grpSp>
      <p:pic>
        <p:nvPicPr>
          <p:cNvPr id="17" name="图片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3276286" y="2666598"/>
            <a:ext cx="5059183" cy="117962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/>
          <a:stretch>
            <a:fillRect/>
          </a:stretch>
        </p:blipFill>
        <p:spPr>
          <a:xfrm rot="10800000" flipV="1">
            <a:off x="3524259" y="3233189"/>
            <a:ext cx="112112" cy="225369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3627905" y="3552912"/>
            <a:ext cx="4761279" cy="509267"/>
          </a:xfrm>
        </p:spPr>
        <p:txBody>
          <a:bodyPr>
            <a:normAutofit/>
          </a:bodyPr>
          <a:lstStyle>
            <a:lvl1pPr marL="0" indent="0" algn="ctr">
              <a:buNone/>
              <a:defRPr sz="1015">
                <a:solidFill>
                  <a:schemeClr val="bg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3627905" y="2335611"/>
            <a:ext cx="4761279" cy="779977"/>
          </a:xfrm>
        </p:spPr>
        <p:txBody>
          <a:bodyPr anchor="ctr">
            <a:normAutofit/>
          </a:bodyPr>
          <a:lstStyle>
            <a:lvl1pPr algn="ctr">
              <a:defRPr sz="2700" b="1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</p:spTree>
    <p:extLst>
      <p:ext uri="{BB962C8B-B14F-4D97-AF65-F5344CB8AC3E}">
        <p14:creationId xmlns:p14="http://schemas.microsoft.com/office/powerpoint/2010/main" val="792336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35610" y="0"/>
            <a:ext cx="8079740" cy="994410"/>
          </a:xfrm>
        </p:spPr>
        <p:txBody>
          <a:bodyPr/>
          <a:lstStyle>
            <a:lvl1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61010" y="1014730"/>
            <a:ext cx="8655050" cy="5358130"/>
          </a:xfrm>
        </p:spPr>
        <p:txBody>
          <a:bodyPr/>
          <a:lstStyle>
            <a:lvl1pPr eaLnBrk="1" fontAlgn="auto" latinLnBrk="0" hangingPunct="1">
              <a:lnSpc>
                <a:spcPct val="100000"/>
              </a:lnSpc>
              <a:spcBef>
                <a:spcPts val="600"/>
              </a:spcBef>
              <a:defRPr sz="2400">
                <a:solidFill>
                  <a:srgbClr val="0000FF"/>
                </a:solidFill>
              </a:defRPr>
            </a:lvl1pPr>
            <a:lvl2pPr eaLnBrk="1" fontAlgn="auto" latinLnBrk="0" hangingPunct="1">
              <a:lnSpc>
                <a:spcPct val="100000"/>
              </a:lnSpc>
              <a:spcBef>
                <a:spcPts val="600"/>
              </a:spcBef>
              <a:defRPr sz="200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defRPr>
            </a:lvl2pPr>
            <a:lvl3pPr eaLnBrk="1" fontAlgn="auto" latinLnBrk="0" hangingPunct="1">
              <a:lnSpc>
                <a:spcPct val="100000"/>
              </a:lnSpc>
              <a:spcBef>
                <a:spcPts val="600"/>
              </a:spcBef>
              <a:defRPr sz="1800">
                <a:solidFill>
                  <a:srgbClr val="FF0000"/>
                </a:solidFill>
              </a:defRPr>
            </a:lvl3pPr>
            <a:lvl4pPr eaLnBrk="1" fontAlgn="auto" latinLnBrk="0" hangingPunct="1">
              <a:lnSpc>
                <a:spcPct val="100000"/>
              </a:lnSpc>
              <a:spcBef>
                <a:spcPts val="600"/>
              </a:spcBef>
              <a:defRPr sz="1600">
                <a:solidFill>
                  <a:srgbClr val="BE3A3A"/>
                </a:solidFill>
              </a:defRPr>
            </a:lvl4pPr>
            <a:lvl5pPr eaLnBrk="1" fontAlgn="auto" latinLnBrk="0" hangingPunct="1">
              <a:lnSpc>
                <a:spcPct val="100000"/>
              </a:lnSpc>
              <a:spcBef>
                <a:spcPts val="600"/>
              </a:spcBef>
              <a:defRPr sz="140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3B358A95-C3A6-445A-9253-6EEA2DB226D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EB8C49CF-321A-4DB1-9C29-37DB43122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368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>
            <p:custDataLst>
              <p:tags r:id="rId1"/>
            </p:custDataLst>
          </p:nvPr>
        </p:nvSpPr>
        <p:spPr>
          <a:xfrm>
            <a:off x="1174711" y="2326714"/>
            <a:ext cx="2204573" cy="220457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08538" y="1877974"/>
            <a:ext cx="3272606" cy="3102052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104212" y="2369798"/>
            <a:ext cx="2226298" cy="236471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934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zh-CN" altLang="en-US" sz="934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/>
            <a:endParaRPr lang="zh-CN" altLang="en-US" sz="1575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3B358A95-C3A6-445A-9253-6EEA2DB226D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EB8C49CF-321A-4DB1-9C29-37DB431228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3771792" y="3510454"/>
            <a:ext cx="4652591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3413349" y="3695478"/>
            <a:ext cx="5378830" cy="621410"/>
          </a:xfrm>
        </p:spPr>
        <p:txBody>
          <a:bodyPr>
            <a:normAutofit/>
          </a:bodyPr>
          <a:lstStyle>
            <a:lvl1pPr marL="0" indent="0" algn="ctr">
              <a:buNone/>
              <a:defRPr sz="1015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3413349" y="1619469"/>
            <a:ext cx="5378830" cy="1551026"/>
          </a:xfrm>
        </p:spPr>
        <p:txBody>
          <a:bodyPr anchor="b">
            <a:normAutofit/>
          </a:bodyPr>
          <a:lstStyle>
            <a:lvl1pPr algn="ctr">
              <a:defRPr sz="3715" b="1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92853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530820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28650" y="2369542"/>
            <a:ext cx="3886200" cy="32635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29150" y="2369542"/>
            <a:ext cx="3886200" cy="326350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3B358A95-C3A6-445A-9253-6EEA2DB226D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EB8C49CF-321A-4DB1-9C29-37DB43122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204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9841" y="530820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29841" y="1848026"/>
            <a:ext cx="3868340" cy="48577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9841" y="2965649"/>
            <a:ext cx="3868340" cy="276344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29150" y="1848026"/>
            <a:ext cx="3887391" cy="48577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2965649"/>
            <a:ext cx="3887391" cy="276344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3B358A95-C3A6-445A-9253-6EEA2DB226D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EB8C49CF-321A-4DB1-9C29-37DB43122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0734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132080"/>
            <a:ext cx="7886700" cy="657225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方正粗黑宋简体" panose="02000000000000000000" charset="-122"/>
                <a:ea typeface="方正粗黑宋简体" panose="02000000000000000000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474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3B358A95-C3A6-445A-9253-6EEA2DB226D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EB8C49CF-321A-4DB1-9C29-37DB431228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3181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9840" y="657225"/>
            <a:ext cx="3123900" cy="1200150"/>
          </a:xfrm>
        </p:spPr>
        <p:txBody>
          <a:bodyPr anchor="t" anchorCtr="0">
            <a:normAutofit/>
          </a:bodyPr>
          <a:lstStyle>
            <a:lvl1pPr>
              <a:defRPr sz="2475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888000" y="1132650"/>
            <a:ext cx="4627800" cy="40527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9840" y="2592397"/>
            <a:ext cx="3123900" cy="2801489"/>
          </a:xfrm>
        </p:spPr>
        <p:txBody>
          <a:bodyPr>
            <a:normAutofit/>
          </a:bodyPr>
          <a:lstStyle>
            <a:lvl1pPr marL="0" indent="0">
              <a:buNone/>
              <a:defRPr sz="1015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2026/10/19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91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7725747" y="1091605"/>
            <a:ext cx="789603" cy="4358879"/>
          </a:xfrm>
        </p:spPr>
        <p:txBody>
          <a:bodyPr vert="eaVert">
            <a:normAutofit/>
          </a:bodyPr>
          <a:lstStyle>
            <a:lvl1pPr>
              <a:defRPr sz="202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28650" y="1091605"/>
            <a:ext cx="6803183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1856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28650" y="1246414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860423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293369" y="2495952"/>
            <a:ext cx="4404947" cy="994172"/>
          </a:xfrm>
        </p:spPr>
        <p:txBody>
          <a:bodyPr anchor="b">
            <a:normAutofit/>
          </a:bodyPr>
          <a:lstStyle>
            <a:lvl1pPr algn="l">
              <a:defRPr sz="304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3B358A95-C3A6-445A-9253-6EEA2DB226D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EB8C49CF-321A-4DB1-9C29-37DB4312281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901536" y="2349199"/>
            <a:ext cx="2456303" cy="2328291"/>
          </a:xfrm>
          <a:prstGeom prst="rect">
            <a:avLst/>
          </a:prstGeom>
        </p:spPr>
      </p:pic>
      <p:cxnSp>
        <p:nvCxnSpPr>
          <p:cNvPr id="7" name="直接连接符 6"/>
          <p:cNvCxnSpPr/>
          <p:nvPr>
            <p:custDataLst>
              <p:tags r:id="rId6"/>
            </p:custDataLst>
          </p:nvPr>
        </p:nvCxnSpPr>
        <p:spPr>
          <a:xfrm>
            <a:off x="3344169" y="3729639"/>
            <a:ext cx="2468521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3293369" y="3888337"/>
            <a:ext cx="4404947" cy="509267"/>
          </a:xfrm>
        </p:spPr>
        <p:txBody>
          <a:bodyPr>
            <a:normAutofit/>
          </a:bodyPr>
          <a:lstStyle>
            <a:lvl1pPr marL="0" indent="0" algn="l">
              <a:buNone/>
              <a:defRPr sz="1015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单击编辑副标题</a:t>
            </a:r>
          </a:p>
        </p:txBody>
      </p:sp>
    </p:spTree>
    <p:extLst>
      <p:ext uri="{BB962C8B-B14F-4D97-AF65-F5344CB8AC3E}">
        <p14:creationId xmlns:p14="http://schemas.microsoft.com/office/powerpoint/2010/main" val="367425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8577" y="249238"/>
            <a:ext cx="1127284" cy="10687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530820"/>
            <a:ext cx="7886700" cy="99417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13636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219600" y="304200"/>
            <a:ext cx="87048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577" y="249238"/>
            <a:ext cx="1127284" cy="10687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961200" y="1339650"/>
            <a:ext cx="7219800" cy="542700"/>
          </a:xfrm>
        </p:spPr>
        <p:txBody>
          <a:bodyPr anchor="ctr"/>
          <a:lstStyle>
            <a:lvl1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60835" y="259425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90691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3617595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8577" y="249238"/>
            <a:ext cx="1127284" cy="10687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880650"/>
            <a:ext cx="2970000" cy="661500"/>
          </a:xfrm>
        </p:spPr>
        <p:txBody>
          <a:bodyPr anchor="ctr"/>
          <a:lstStyle>
            <a:lvl1pPr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227565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25900" y="1405930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943538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9000" y="859500"/>
            <a:ext cx="8232300" cy="469800"/>
          </a:xfrm>
        </p:spPr>
        <p:txBody>
          <a:bodyPr anchor="ctr"/>
          <a:lstStyle>
            <a:lvl1pPr algn="ctr">
              <a:defRPr sz="202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59000" y="17631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459581" y="323685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8577" y="249238"/>
            <a:ext cx="1127284" cy="106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0713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8577" y="249238"/>
            <a:ext cx="1127284" cy="1068705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3600" y="740250"/>
            <a:ext cx="8232300" cy="423900"/>
          </a:xfrm>
        </p:spPr>
        <p:txBody>
          <a:bodyPr anchor="ctr"/>
          <a:lstStyle>
            <a:lvl1pPr algn="ctr"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53628" y="20826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445500" y="530685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975836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8577" y="249238"/>
            <a:ext cx="1127284" cy="10687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92846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20250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20250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91445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91085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820036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15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577" y="249238"/>
            <a:ext cx="1127284" cy="10687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42100" y="1637550"/>
            <a:ext cx="6858000" cy="1790100"/>
          </a:xfrm>
        </p:spPr>
        <p:txBody>
          <a:bodyPr anchor="b"/>
          <a:lstStyle>
            <a:lvl1pPr algn="ctr">
              <a:defRPr sz="337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6401991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141810" y="4069800"/>
            <a:ext cx="6858000" cy="12420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编辑副标题</a:t>
            </a:r>
          </a:p>
        </p:txBody>
      </p:sp>
    </p:spTree>
    <p:extLst>
      <p:ext uri="{BB962C8B-B14F-4D97-AF65-F5344CB8AC3E}">
        <p14:creationId xmlns:p14="http://schemas.microsoft.com/office/powerpoint/2010/main" val="29599828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101012" y="6405440"/>
            <a:ext cx="1042988" cy="365125"/>
          </a:xfrm>
        </p:spPr>
        <p:txBody>
          <a:bodyPr/>
          <a:lstStyle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119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tags" Target="../tags/tag7.xml"/><Relationship Id="rId3" Type="http://schemas.openxmlformats.org/officeDocument/2006/relationships/slideLayout" Target="../slideLayouts/slideLayout16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tags" Target="../tags/tag4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tags" Target="../tags/tag3.xml"/><Relationship Id="rId27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Line 3"/>
          <p:cNvSpPr>
            <a:spLocks noChangeShapeType="1"/>
          </p:cNvSpPr>
          <p:nvPr/>
        </p:nvSpPr>
        <p:spPr bwMode="ltGray">
          <a:xfrm>
            <a:off x="827405" y="798195"/>
            <a:ext cx="8077200" cy="3937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eaLnBrk="1" hangingPunct="1"/>
            <a:endParaRPr lang="zh-CN" altLang="en-US" sz="1350"/>
          </a:p>
        </p:txBody>
      </p:sp>
      <p:pic>
        <p:nvPicPr>
          <p:cNvPr id="1027" name="Picture 4" descr="minispir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798195"/>
            <a:ext cx="782320" cy="3244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5" descr="minispir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3936365"/>
            <a:ext cx="791845" cy="290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28015" y="24765"/>
            <a:ext cx="816737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82320" y="927735"/>
            <a:ext cx="8173085" cy="549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99875" y="6514783"/>
            <a:ext cx="142875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35772" y="6524943"/>
            <a:ext cx="21717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0"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14933" y="6493193"/>
            <a:ext cx="142875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/>
            </a:lvl1pPr>
          </a:lstStyle>
          <a:p>
            <a:fld id="{04A934A1-3A04-43B1-A4E6-8746F596F150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035" name="图片 12"/>
          <p:cNvPicPr>
            <a:picLocks noChangeAspect="1" noChangeArrowheads="1"/>
          </p:cNvPicPr>
          <p:nvPr userDrawn="1"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8" y="44212"/>
            <a:ext cx="463154" cy="46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rgbClr val="0033CC"/>
          </a:solidFill>
          <a:latin typeface="微软雅黑" panose="020B0503020204020204" charset="-122"/>
          <a:ea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rgbClr val="FF0000"/>
          </a:solidFill>
          <a:latin typeface="微软雅黑" panose="020B0503020204020204" charset="-122"/>
          <a:ea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rgbClr val="C00000"/>
          </a:solidFill>
          <a:latin typeface="微软雅黑" panose="020B0503020204020204" charset="-122"/>
          <a:ea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400" b="1">
          <a:solidFill>
            <a:schemeClr val="accent5">
              <a:lumMod val="50000"/>
            </a:schemeClr>
          </a:solidFill>
          <a:latin typeface="微软雅黑" panose="020B0503020204020204" charset="-122"/>
          <a:ea typeface="微软雅黑" panose="020B050302020402020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372110" y="0"/>
            <a:ext cx="8143240" cy="710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marR="0" lvl="0" algn="l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noProof="1"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383540" y="822325"/>
            <a:ext cx="813181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algn="l">
              <a:lnSpc>
                <a:spcPct val="100000"/>
              </a:lnSpc>
              <a:spcBef>
                <a:spcPts val="600"/>
              </a:spcBef>
              <a:buClrTx/>
              <a:buSzTx/>
            </a:pPr>
            <a:r>
              <a:rPr lang="zh-CN" altLang="en-US" dirty="0"/>
              <a:t>编辑母版文本样式</a:t>
            </a:r>
          </a:p>
          <a:p>
            <a:pPr lvl="1" algn="l">
              <a:lnSpc>
                <a:spcPct val="100000"/>
              </a:lnSpc>
              <a:spcBef>
                <a:spcPts val="600"/>
              </a:spcBef>
              <a:buClrTx/>
              <a:buSzTx/>
            </a:pPr>
            <a:r>
              <a:rPr lang="zh-CN" altLang="en-US" dirty="0"/>
              <a:t>第二级</a:t>
            </a:r>
          </a:p>
          <a:p>
            <a:pPr lvl="2" algn="l">
              <a:lnSpc>
                <a:spcPct val="100000"/>
              </a:lnSpc>
              <a:spcBef>
                <a:spcPts val="600"/>
              </a:spcBef>
              <a:buClrTx/>
              <a:buSzTx/>
            </a:pPr>
            <a:r>
              <a:rPr lang="zh-CN" altLang="en-US" dirty="0"/>
              <a:t>第三级</a:t>
            </a:r>
          </a:p>
          <a:p>
            <a:pPr lvl="3" algn="l">
              <a:lnSpc>
                <a:spcPct val="100000"/>
              </a:lnSpc>
              <a:spcBef>
                <a:spcPts val="600"/>
              </a:spcBef>
              <a:buClrTx/>
              <a:buSzTx/>
            </a:pPr>
            <a:r>
              <a:rPr lang="zh-CN" altLang="en-US" dirty="0"/>
              <a:t>第四级</a:t>
            </a:r>
          </a:p>
          <a:p>
            <a:pPr lvl="4" algn="l">
              <a:lnSpc>
                <a:spcPct val="100000"/>
              </a:lnSpc>
              <a:spcBef>
                <a:spcPts val="600"/>
              </a:spcBef>
              <a:buClrTx/>
              <a:buSzTx/>
            </a:pPr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2865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B358A95-C3A6-445A-9253-6EEA2DB226D8}" type="datetimeFigureOut">
              <a:rPr lang="zh-CN" altLang="en-US" smtClean="0"/>
              <a:t>2026/10/19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EB8C49CF-321A-4DB1-9C29-37DB4312281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lt1"/>
              </a:solidFill>
            </a:endParaRPr>
          </a:p>
        </p:txBody>
      </p:sp>
      <p:pic>
        <p:nvPicPr>
          <p:cNvPr id="1035" name="图片 12"/>
          <p:cNvPicPr>
            <a:picLocks noChangeAspect="1"/>
          </p:cNvPicPr>
          <p:nvPr userDrawn="1">
            <p:custDataLst>
              <p:tags r:id="rId27"/>
            </p:custDataLst>
          </p:nvPr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15350" y="63183"/>
            <a:ext cx="617538" cy="62388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25882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905" indent="-128270" algn="l" defTabSz="514350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3860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36.xml"/><Relationship Id="rId7" Type="http://schemas.openxmlformats.org/officeDocument/2006/relationships/image" Target="../media/image16.jpe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38.xml"/><Relationship Id="rId4" Type="http://schemas.openxmlformats.org/officeDocument/2006/relationships/tags" Target="../tags/tag1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image" Target="../media/image15.png"/><Relationship Id="rId4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4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9610" y="3877866"/>
            <a:ext cx="4569619" cy="27765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375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125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1pPr>
            <a:lvl2pPr marL="257175" indent="0" algn="ctr" defTabSz="51435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905510" algn="l"/>
              </a:tabLst>
              <a:defRPr sz="9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2pPr>
            <a:lvl3pPr marL="514350" indent="0" algn="ctr" defTabSz="51435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9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3pPr>
            <a:lvl4pPr marL="771525" indent="0" algn="ctr" defTabSz="51435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9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4pPr>
            <a:lvl5pPr marL="1028700" indent="0" algn="ctr" defTabSz="51435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9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5pPr>
            <a:lvl6pPr marL="1285875" indent="0" algn="ctr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Arial" panose="020B0604020202020204" pitchFamily="34" charset="0"/>
              <a:buNone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3050" indent="0" algn="ctr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Arial" panose="020B0604020202020204" pitchFamily="34" charset="0"/>
              <a:buNone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00225" indent="0" algn="ctr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Arial" panose="020B0604020202020204" pitchFamily="34" charset="0"/>
              <a:buNone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0" algn="ctr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Arial" panose="020B0604020202020204" pitchFamily="34" charset="0"/>
              <a:buNone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285750" algn="l" defTabSz="914400" rtl="0" eaLnBrk="1" fontAlgn="ctr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None/>
              <a:tabLst/>
              <a:defRPr/>
            </a:pPr>
            <a:r>
              <a:rPr kumimoji="0" lang="zh-CN" altLang="en-US" sz="1000" b="0" i="0" u="none" strike="noStrike" kern="120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rPr>
              <a:t>第一讲  课程概述、文献检索与综述</a:t>
            </a:r>
          </a:p>
          <a:p>
            <a:pPr marL="0" marR="0" lvl="0" indent="-285750" algn="l" defTabSz="914400" rtl="0" eaLnBrk="1" fontAlgn="ctr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None/>
              <a:tabLst/>
              <a:defRPr/>
            </a:pPr>
            <a:r>
              <a:rPr kumimoji="0" lang="zh-CN" altLang="en-US" sz="1000" b="0" i="0" u="none" strike="noStrike" kern="120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rPr>
              <a:t>部分幻灯片素材源自：武刚  姚佰承 黄勇军 杨鍊 邬震宇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016568" y="3552825"/>
            <a:ext cx="4761230" cy="1692275"/>
          </a:xfrm>
        </p:spPr>
        <p:txBody>
          <a:bodyPr>
            <a:noAutofit/>
          </a:bodyPr>
          <a:lstStyle/>
          <a:p>
            <a:pPr marL="0" lvl="0" indent="-285750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400" dirty="0">
                <a:solidFill>
                  <a:schemeClr val="lt1"/>
                </a:solidFill>
              </a:rPr>
              <a:t>巫江</a:t>
            </a:r>
            <a:endParaRPr lang="en-US" altLang="zh-CN" sz="2400" dirty="0">
              <a:solidFill>
                <a:schemeClr val="lt1"/>
              </a:solidFill>
            </a:endParaRPr>
          </a:p>
          <a:p>
            <a:pPr marL="0" lvl="0" indent="-285750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400" u="none" strike="noStrike" baseline="0" dirty="0">
                <a:solidFill>
                  <a:schemeClr val="lt1"/>
                </a:solidFill>
                <a:uLnTx/>
                <a:uFillTx/>
              </a:rPr>
              <a:t>电子科技大学 </a:t>
            </a:r>
          </a:p>
          <a:p>
            <a:pPr marL="0" lvl="0" indent="-285750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zh-CN" altLang="en-US" sz="2400" u="none" strike="noStrike" baseline="0" dirty="0">
                <a:solidFill>
                  <a:schemeClr val="lt1"/>
                </a:solidFill>
                <a:uLnTx/>
                <a:uFillTx/>
              </a:rPr>
              <a:t>基础与前沿研究院</a:t>
            </a:r>
            <a:endParaRPr lang="en-US" altLang="zh-CN" sz="2400" u="none" strike="noStrike" baseline="0" dirty="0">
              <a:solidFill>
                <a:schemeClr val="lt1"/>
              </a:solidFill>
              <a:uLnTx/>
              <a:uFillTx/>
            </a:endParaRPr>
          </a:p>
          <a:p>
            <a:pPr marL="0" lvl="0" indent="-285750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en-US" altLang="zh-CN" sz="2400" dirty="0">
                <a:solidFill>
                  <a:schemeClr val="lt1"/>
                </a:solidFill>
              </a:rPr>
              <a:t>jiangwu@uestc.edu.cn</a:t>
            </a:r>
            <a:endParaRPr lang="zh-CN" altLang="en-US" sz="2400" u="none" strike="noStrike" baseline="0" dirty="0">
              <a:solidFill>
                <a:schemeClr val="lt1"/>
              </a:solidFill>
              <a:uLnTx/>
              <a:uFillTx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3829878" y="1341120"/>
            <a:ext cx="5134610" cy="1867535"/>
          </a:xfrm>
        </p:spPr>
        <p:txBody>
          <a:bodyPr>
            <a:normAutofit fontScale="90000"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br>
              <a:rPr lang="en-US" altLang="zh-CN" sz="3600" u="none" strike="noStrike" baseline="0" dirty="0">
                <a:solidFill>
                  <a:schemeClr val="accent1"/>
                </a:solidFill>
                <a:uLnTx/>
                <a:uFillTx/>
              </a:rPr>
            </a:br>
            <a:br>
              <a:rPr lang="en-US" altLang="zh-CN" sz="3600" u="none" strike="noStrike" baseline="0" dirty="0">
                <a:solidFill>
                  <a:schemeClr val="accent1"/>
                </a:solidFill>
                <a:uLnTx/>
                <a:uFillTx/>
              </a:rPr>
            </a:br>
            <a:r>
              <a:rPr lang="en-US" altLang="zh-CN" sz="3600" u="none" strike="noStrike" baseline="0" dirty="0">
                <a:solidFill>
                  <a:schemeClr val="accent1"/>
                </a:solidFill>
                <a:uLnTx/>
                <a:uFillTx/>
              </a:rPr>
              <a:t>《</a:t>
            </a:r>
            <a:r>
              <a:rPr lang="en-US" altLang="zh-CN" sz="3600" u="none" strike="noStrike" baseline="0" dirty="0" err="1">
                <a:solidFill>
                  <a:schemeClr val="accent1"/>
                </a:solidFill>
                <a:uLnTx/>
                <a:uFillTx/>
              </a:rPr>
              <a:t>专业写作</a:t>
            </a:r>
            <a:r>
              <a:rPr lang="zh-CN" altLang="en-US" sz="3600" u="none" strike="noStrike" baseline="0" dirty="0">
                <a:solidFill>
                  <a:schemeClr val="accent1"/>
                </a:solidFill>
                <a:uLnTx/>
                <a:uFillTx/>
              </a:rPr>
              <a:t>基础</a:t>
            </a:r>
            <a:r>
              <a:rPr lang="en-US" altLang="zh-CN" sz="3600" u="none" strike="noStrike" baseline="0" dirty="0">
                <a:solidFill>
                  <a:schemeClr val="accent1"/>
                </a:solidFill>
                <a:uLnTx/>
                <a:uFillTx/>
              </a:rPr>
              <a:t>》</a:t>
            </a:r>
            <a:br>
              <a:rPr lang="en-US" altLang="zh-CN" sz="3600" u="none" strike="noStrike" baseline="0" dirty="0">
                <a:solidFill>
                  <a:schemeClr val="accent1"/>
                </a:solidFill>
                <a:uLnTx/>
                <a:uFillTx/>
              </a:rPr>
            </a:br>
            <a:r>
              <a:rPr lang="zh-CN" altLang="en-US" u="none" strike="noStrike" baseline="0" dirty="0">
                <a:uLnTx/>
                <a:uFillTx/>
              </a:rPr>
              <a:t>第</a:t>
            </a:r>
            <a:r>
              <a:rPr lang="en-US" altLang="zh-CN" dirty="0"/>
              <a:t>4</a:t>
            </a:r>
            <a:r>
              <a:rPr lang="zh-CN" altLang="en-US" u="none" strike="noStrike" baseline="0" dirty="0">
                <a:uLnTx/>
                <a:uFillTx/>
              </a:rPr>
              <a:t>讲 科技报告写作与范文讲解</a:t>
            </a:r>
            <a:br>
              <a:rPr lang="en-US" altLang="zh-CN" u="none" strike="noStrike" baseline="0" dirty="0">
                <a:solidFill>
                  <a:schemeClr val="accent1"/>
                </a:solidFill>
                <a:uLnTx/>
                <a:uFillTx/>
              </a:rPr>
            </a:br>
            <a:endParaRPr lang="en-US" altLang="zh-CN" sz="3600" u="none" strike="noStrike" baseline="0" dirty="0">
              <a:solidFill>
                <a:schemeClr val="accent1"/>
              </a:solidFill>
              <a:uLnTx/>
              <a:uFillTx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932045" y="116840"/>
            <a:ext cx="39649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2026-2027-01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学期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4E61D1-F0AB-2035-E7E7-5C18B836AD97}"/>
              </a:ext>
            </a:extLst>
          </p:cNvPr>
          <p:cNvSpPr txBox="1"/>
          <p:nvPr/>
        </p:nvSpPr>
        <p:spPr>
          <a:xfrm>
            <a:off x="4200107" y="6237312"/>
            <a:ext cx="4394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助教：周翔宇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QQ:2661829386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89AB82A-77EA-89B2-F472-DD5CC19CD0F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0F0E13"/>
              </a:clrFrom>
              <a:clrTo>
                <a:srgbClr val="0F0E1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184" y="-13841"/>
            <a:ext cx="3857062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577" y="249238"/>
            <a:ext cx="1127284" cy="1068705"/>
          </a:xfrm>
          <a:prstGeom prst="rect">
            <a:avLst/>
          </a:prstGeom>
        </p:spPr>
      </p:pic>
      <p:sp>
        <p:nvSpPr>
          <p:cNvPr id="162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03680" y="20955"/>
            <a:ext cx="5805170" cy="815975"/>
          </a:xfr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defTabSz="914400" eaLnBrk="1" hangingPunct="1"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4800" b="0" spc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latin typeface="黑体" panose="02010609060101010101" charset="-122"/>
                <a:ea typeface="黑体" panose="02010609060101010101" charset="-122"/>
                <a:sym typeface="+mn-ea"/>
              </a:rPr>
              <a:t>课时安排与节点要求</a:t>
            </a:r>
          </a:p>
        </p:txBody>
      </p:sp>
      <p:graphicFrame>
        <p:nvGraphicFramePr>
          <p:cNvPr id="4" name="表格 1">
            <a:extLst>
              <a:ext uri="{FF2B5EF4-FFF2-40B4-BE49-F238E27FC236}">
                <a16:creationId xmlns:a16="http://schemas.microsoft.com/office/drawing/2014/main" id="{0E91B18D-868A-0202-28AC-B7E37FFB73A3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39689148"/>
              </p:ext>
            </p:extLst>
          </p:nvPr>
        </p:nvGraphicFramePr>
        <p:xfrm>
          <a:off x="179705" y="981075"/>
          <a:ext cx="8897620" cy="54444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zh-CN" altLang="en-US" sz="2400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节点要求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</a:rPr>
                        <a:t>2026-08-31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>
                          <a:solidFill>
                            <a:srgbClr val="0000FF"/>
                          </a:solidFill>
                        </a:rPr>
                        <a:t>概述&amp;文献检索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</a:rPr>
                        <a:t>分组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>
                          <a:solidFill>
                            <a:srgbClr val="0000FF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  <a:sym typeface="+mn-ea"/>
                        </a:rPr>
                        <a:t>2026-09-14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>
                          <a:solidFill>
                            <a:srgbClr val="0000FF"/>
                          </a:solidFill>
                        </a:rPr>
                        <a:t>文献综述论文撰写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  <a:sym typeface="+mn-ea"/>
                        </a:rPr>
                        <a:t>小组选题</a:t>
                      </a:r>
                      <a:endParaRPr lang="zh-CN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>
                          <a:solidFill>
                            <a:srgbClr val="0000FF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  <a:sym typeface="+mn-ea"/>
                        </a:rPr>
                        <a:t>2026-09-21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>
                          <a:solidFill>
                            <a:srgbClr val="0000FF"/>
                          </a:solidFill>
                          <a:sym typeface="+mn-ea"/>
                        </a:rPr>
                        <a:t>学位论文写作规范</a:t>
                      </a:r>
                      <a:endParaRPr lang="zh-CN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</a:rPr>
                        <a:t>提交论文大纲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>
                          <a:solidFill>
                            <a:srgbClr val="0000FF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  <a:sym typeface="+mn-ea"/>
                        </a:rPr>
                        <a:t>2026-09-28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  <a:sym typeface="+mn-ea"/>
                        </a:rPr>
                        <a:t>论文/报告/专利写作</a:t>
                      </a:r>
                      <a:endParaRPr lang="zh-CN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</a:rPr>
                        <a:t>提交论文大纲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>
                          <a:solidFill>
                            <a:srgbClr val="0000FF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</a:rPr>
                        <a:t>2026-10-12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  <a:sym typeface="+mn-ea"/>
                        </a:rPr>
                        <a:t>范文讲解与写作问题研讨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</a:rPr>
                        <a:t>提交</a:t>
                      </a:r>
                      <a:r>
                        <a:rPr lang="zh-CN" altLang="en-US" sz="2400" dirty="0">
                          <a:solidFill>
                            <a:srgbClr val="0000FF"/>
                          </a:solidFill>
                          <a:sym typeface="+mn-ea"/>
                        </a:rPr>
                        <a:t>论文</a:t>
                      </a:r>
                      <a:r>
                        <a:rPr lang="zh-CN" altLang="en-US" sz="2400" dirty="0">
                          <a:solidFill>
                            <a:srgbClr val="0000FF"/>
                          </a:solidFill>
                        </a:rPr>
                        <a:t>初稿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>
                          <a:solidFill>
                            <a:srgbClr val="0000FF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</a:rPr>
                        <a:t>2026-10-19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  <a:sym typeface="+mn-ea"/>
                        </a:rPr>
                        <a:t>专利等写作范文讲解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  <a:sym typeface="+mn-ea"/>
                        </a:rPr>
                        <a:t>提交论文初稿</a:t>
                      </a:r>
                      <a:endParaRPr lang="zh-CN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>
                          <a:solidFill>
                            <a:srgbClr val="0000FF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</a:rPr>
                        <a:t>2026-10-26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>
                          <a:solidFill>
                            <a:srgbClr val="0000FF"/>
                          </a:solidFill>
                          <a:sym typeface="+mn-ea"/>
                        </a:rPr>
                        <a:t>习作评讲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</a:rPr>
                        <a:t>提交第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400" dirty="0">
                          <a:solidFill>
                            <a:srgbClr val="0000FF"/>
                          </a:solidFill>
                        </a:rPr>
                        <a:t>版论文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>
                          <a:solidFill>
                            <a:srgbClr val="0000FF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400" dirty="0">
                          <a:solidFill>
                            <a:srgbClr val="0000FF"/>
                          </a:solidFill>
                        </a:rPr>
                        <a:t>2026-11-02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  <a:sym typeface="+mn-ea"/>
                        </a:rPr>
                        <a:t>课程汇报与研讨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400" dirty="0">
                          <a:solidFill>
                            <a:srgbClr val="0000FF"/>
                          </a:solidFill>
                        </a:rPr>
                        <a:t>再次修改并汇报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77215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64E720-A166-40A4-8697-0F669E6884B4}" type="slidenum">
              <a:rPr kumimoji="0" lang="en-US" altLang="zh-CN" sz="2000" smtClean="0"/>
              <a:t>3</a:t>
            </a:fld>
            <a:endParaRPr kumimoji="0" lang="en-US" altLang="zh-CN" sz="200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44450"/>
            <a:ext cx="6624637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7" name="Rectangle 15"/>
          <p:cNvSpPr/>
          <p:nvPr/>
        </p:nvSpPr>
        <p:spPr>
          <a:xfrm>
            <a:off x="812800" y="1216025"/>
            <a:ext cx="8223250" cy="58356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chemeClr val="bg1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什么是科技报告？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28688" y="1844675"/>
            <a:ext cx="7954962" cy="3968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Ø"/>
              <a:defRPr/>
            </a:pPr>
            <a:r>
              <a:rPr kumimoji="0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记录某一科研项目调查、实验、研究的成果或进展情况的报告。又称研究报告、报告文献。</a:t>
            </a:r>
          </a:p>
          <a:p>
            <a:pPr marL="457200" indent="-457200" eaLnBrk="1" hangingPunct="1">
              <a:buFont typeface="Wingdings" panose="05000000000000000000" charset="0"/>
              <a:buChar char="Ø"/>
              <a:defRPr/>
            </a:pPr>
            <a:r>
              <a:rPr kumimoji="0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出现于20世纪初，第二次世界大战后迅速发展，成为科技文献中的一大门类。</a:t>
            </a:r>
          </a:p>
          <a:p>
            <a:pPr marL="457200" indent="-457200" eaLnBrk="1" hangingPunct="1">
              <a:buFont typeface="Wingdings" panose="05000000000000000000" charset="0"/>
              <a:buChar char="Ø"/>
              <a:defRPr/>
            </a:pPr>
            <a:r>
              <a:rPr kumimoji="0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每份报告自成一册，通常载有主持单位、报告撰写者、密级、报告号、研究项目号和合同号等。</a:t>
            </a:r>
          </a:p>
          <a:p>
            <a:pPr marL="457200" indent="-457200" eaLnBrk="1" hangingPunct="1">
              <a:buFont typeface="Wingdings" panose="05000000000000000000" charset="0"/>
              <a:buChar char="Ø"/>
              <a:defRPr/>
            </a:pPr>
            <a:r>
              <a:rPr kumimoji="0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按内容可分为报告书、论文、通报、札记、技术译文、备忘录、特种出版物。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377DCC-02FC-4E39-B33A-7E64962DDEC2}" type="slidenum">
              <a:rPr kumimoji="0" lang="en-US" altLang="zh-CN" sz="2000" smtClean="0"/>
              <a:t>4</a:t>
            </a:fld>
            <a:endParaRPr kumimoji="0" lang="en-US" altLang="zh-CN" sz="200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44450"/>
            <a:ext cx="6624637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6" name="Rectangle 15"/>
          <p:cNvSpPr/>
          <p:nvPr/>
        </p:nvSpPr>
        <p:spPr>
          <a:xfrm>
            <a:off x="1003300" y="1177925"/>
            <a:ext cx="7747000" cy="58356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spAutoFit/>
          </a:bodyPr>
          <a:lstStyle/>
          <a:p>
            <a:pPr marL="457200" lvl="0" indent="-457200" algn="l" eaLnBrk="1" hangingPunct="1"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chemeClr val="bg1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常见形式：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00430" y="1788160"/>
            <a:ext cx="7953375" cy="129667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kumimoji="0" lang="en-US" altLang="zh-CN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kumimoji="0" lang="zh-CN" altLang="en-US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kumimoji="0" lang="zh-CN" altLang="en-US" sz="2800" b="1" u="sng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调查报告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：调查报告是对某项工作、某个事件、某个问题，经过深入细致的调查后，将收集到的材料加以整理分析研究，形成的书面汇报。</a:t>
            </a:r>
            <a:endParaRPr kumimoji="0" lang="zh-CN" altLang="en-US" sz="2800" kern="0">
              <a:solidFill>
                <a:srgbClr val="0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47738" y="3084513"/>
            <a:ext cx="7959725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kumimoji="0" lang="en-US" altLang="zh-CN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kumimoji="0" lang="zh-CN" altLang="en-US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kumimoji="0" lang="zh-CN" altLang="en-US" sz="2800" b="1" u="sng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实验报告</a:t>
            </a:r>
            <a:r>
              <a:rPr kumimoji="0" lang="zh-CN" altLang="en-US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实验报告是把实验的目的、方法、过程、结果等记录下来，经过整理，写成的书面汇报。</a:t>
            </a:r>
            <a:endParaRPr kumimoji="0" lang="zh-CN" altLang="en-US" sz="2800" kern="0">
              <a:solidFill>
                <a:srgbClr val="0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47738" y="4468813"/>
            <a:ext cx="7997825" cy="18145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kumimoji="0" lang="en-US" altLang="zh-CN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kumimoji="0" lang="zh-CN" altLang="en-US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kumimoji="0" lang="zh-CN" altLang="en-US" sz="2800" b="1" u="sng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研究报告</a:t>
            </a:r>
            <a:r>
              <a:rPr kumimoji="0" lang="zh-CN" altLang="en-US" sz="2800" b="1" kern="0" dirty="0">
                <a:solidFill>
                  <a:srgbClr val="00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研究报告是对需要研究的问题进行具体调查、研究、分析，评估其可行性、效果效益程度，提出建设性意见建议对策等一种报告形式。</a:t>
            </a:r>
            <a:endParaRPr kumimoji="0" lang="zh-CN" altLang="en-US" sz="2800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FC4-93D2-4A92-A1E1-F033239B64CA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82320" y="927735"/>
            <a:ext cx="8257540" cy="5494655"/>
          </a:xfrm>
        </p:spPr>
        <p:txBody>
          <a:bodyPr/>
          <a:lstStyle/>
          <a:p>
            <a:pPr lvl="0"/>
            <a:r>
              <a:rPr lang="zh-CN" altLang="en-US"/>
              <a:t>科学技术报告编写规则（GB/T 7713.3-2014）</a:t>
            </a:r>
          </a:p>
          <a:p>
            <a:pPr lvl="1"/>
            <a:r>
              <a:rPr lang="zh-CN" altLang="en-US"/>
              <a:t>国家标准《科技报告编写规则》由TC4（全国信息与文献标准化技术委员会）归口上报及执行，主管部门为国家标准委。</a:t>
            </a:r>
          </a:p>
          <a:p>
            <a:pPr lvl="1"/>
            <a:r>
              <a:rPr lang="zh-CN" altLang="en-US"/>
              <a:t>主要起草单位 中国科学技术信息研究所 、中国国防科技信息中心 、中华人民共和国科学技术部 。</a:t>
            </a:r>
          </a:p>
          <a:p>
            <a:pPr lvl="1"/>
            <a:r>
              <a:rPr lang="zh-CN" altLang="en-US"/>
              <a:t>全国标准信息公共服务平台</a:t>
            </a:r>
          </a:p>
          <a:p>
            <a:pPr lvl="2"/>
            <a:r>
              <a:rPr lang="zh-CN" altLang="en-US"/>
              <a:t>https://std.samr.gov.cn/gb/search/gbDetailedCNF?id=71F772D7EA50D3A7E05397BE0A0AB82A</a:t>
            </a:r>
          </a:p>
          <a:p>
            <a:pPr lvl="0"/>
            <a:r>
              <a:rPr lang="zh-CN" altLang="en-US" sz="2400">
                <a:sym typeface="+mn-ea"/>
              </a:rPr>
              <a:t>科技部：科技报告标准</a:t>
            </a:r>
            <a:endParaRPr lang="zh-CN" altLang="en-US" sz="2400"/>
          </a:p>
          <a:p>
            <a:pPr lvl="1"/>
            <a:r>
              <a:rPr lang="zh-CN" altLang="en-US" sz="2400">
                <a:sym typeface="+mn-ea"/>
              </a:rPr>
              <a:t>https://www.most.gov.cn/ztzl/jlkjbg/kjbgxxjl/201409/t20140915_115564.html</a:t>
            </a:r>
            <a:endParaRPr lang="zh-CN" altLang="en-US" sz="2400"/>
          </a:p>
          <a:p>
            <a:pPr lvl="1"/>
            <a:r>
              <a:rPr lang="zh-CN" altLang="en-US"/>
              <a:t>科技报告编号规则（GB/T 15416-2014）</a:t>
            </a:r>
          </a:p>
          <a:p>
            <a:pPr lvl="1"/>
            <a:r>
              <a:rPr lang="zh-CN" altLang="en-US"/>
              <a:t>科技报告保密等级代码与标识（GB/T 30534-2014）</a:t>
            </a:r>
          </a:p>
          <a:p>
            <a:pPr lvl="1"/>
            <a:r>
              <a:rPr lang="zh-CN" altLang="en-US"/>
              <a:t>科技报告元数据规范（GB/T 30535-2014）</a:t>
            </a:r>
          </a:p>
          <a:p>
            <a:pPr lvl="0"/>
            <a:endParaRPr lang="zh-CN" alt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975" y="0"/>
            <a:ext cx="955675" cy="1384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9A1F8A-AAC5-4B29-95F4-FA62AAEB13E1}" type="slidenum">
              <a:rPr kumimoji="0" lang="en-US" altLang="zh-CN" sz="2000" smtClean="0"/>
              <a:t>6</a:t>
            </a:fld>
            <a:endParaRPr kumimoji="0" lang="en-US" altLang="zh-CN" sz="200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44450"/>
            <a:ext cx="6624637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8" name="Rectangle 15"/>
          <p:cNvSpPr/>
          <p:nvPr>
            <p:custDataLst>
              <p:tags r:id="rId1"/>
            </p:custDataLst>
          </p:nvPr>
        </p:nvSpPr>
        <p:spPr>
          <a:xfrm>
            <a:off x="725488" y="1484313"/>
            <a:ext cx="8361362" cy="582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特点：</a:t>
            </a:r>
            <a:endParaRPr kumimoji="0" lang="zh-CN" altLang="en-US" sz="2800" b="1" kern="0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725488" y="1946275"/>
            <a:ext cx="8351837" cy="2244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（1）写实性：在占有大量资料基础上，用叙述性语言实事求是地反映某一客观事实。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（2）针对性：围绕某一个综合性或专题性问题展开。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（3）逻辑性：对核实无误的数据和事实进行严密的逻辑论证，得出科学的结论。</a:t>
            </a:r>
            <a:endParaRPr kumimoji="0" lang="zh-CN" altLang="en-US" sz="2800" kern="0">
              <a:solidFill>
                <a:srgbClr val="000000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808038" y="4098925"/>
            <a:ext cx="83439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种类：</a:t>
            </a: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795338" y="4562475"/>
            <a:ext cx="8356600" cy="2244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（1）情况调查报告：为了弄清情况，供决策者参考。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（2）典型经验调查报告：分析典型事例，总结工作中的新经验。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（3）问题调查报告：针对问题，进行专项调查，为问题处理提供依据。</a:t>
            </a:r>
            <a:endParaRPr kumimoji="0" lang="zh-CN" altLang="en-US" sz="2800" kern="0">
              <a:solidFill>
                <a:srgbClr val="000000"/>
              </a:solidFill>
            </a:endParaRPr>
          </a:p>
        </p:txBody>
      </p:sp>
      <p:sp>
        <p:nvSpPr>
          <p:cNvPr id="13" name="标题 1"/>
          <p:cNvSpPr/>
          <p:nvPr/>
        </p:nvSpPr>
        <p:spPr>
          <a:xfrm>
            <a:off x="795338" y="912813"/>
            <a:ext cx="8229600" cy="58356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spAutoFit/>
          </a:bodyPr>
          <a:lstStyle/>
          <a:p>
            <a:pPr marL="457200" lvl="0" indent="-457200" algn="l" eaLnBrk="1" hangingPunct="1"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chemeClr val="bg1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调查报告：特点与种类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举例：</a:t>
            </a:r>
            <a:r>
              <a:rPr lang="zh-CN" altLang="en-US">
                <a:solidFill>
                  <a:srgbClr val="0000FF"/>
                </a:solidFill>
              </a:rPr>
              <a:t>电子科技大学暑期社会实践报告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17FC4-93D2-4A92-A1E1-F033239B64CA}" type="slidenum">
              <a:rPr lang="en-US" altLang="zh-CN"/>
              <a:t>7</a:t>
            </a:fld>
            <a:endParaRPr lang="en-US" altLang="zh-CN"/>
          </a:p>
        </p:txBody>
      </p:sp>
      <p:sp>
        <p:nvSpPr>
          <p:cNvPr id="9" name="Rectangle 2"/>
          <p:cNvSpPr>
            <a:spLocks noGrp="1" noChangeArrowheads="1"/>
          </p:cNvSpPr>
          <p:nvPr/>
        </p:nvSpPr>
        <p:spPr>
          <a:xfrm>
            <a:off x="1547813" y="44450"/>
            <a:ext cx="6624637" cy="7921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楷体" panose="02010609060101010101" charset="-122"/>
                <a:ea typeface="楷体" panose="02010609060101010101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05" y="1484630"/>
            <a:ext cx="3343275" cy="4856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0" y="1556385"/>
            <a:ext cx="3970020" cy="4385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0DE1D1-8AEB-480F-B3A3-3F45C76C37BB}" type="slidenum">
              <a:rPr kumimoji="0" lang="en-US" altLang="zh-CN" sz="2000" smtClean="0"/>
              <a:t>8</a:t>
            </a:fld>
            <a:endParaRPr kumimoji="0" lang="en-US" altLang="zh-CN" sz="200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44450"/>
            <a:ext cx="6624637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9795" y="1572578"/>
            <a:ext cx="8364538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（1）标题：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0738" y="2060893"/>
            <a:ext cx="8439150" cy="52622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规范化的标题，即“</a:t>
            </a:r>
            <a:r>
              <a:rPr kumimoji="0" lang="zh-CN" altLang="en-US" sz="2800" b="1" kern="0" dirty="0">
                <a:solidFill>
                  <a:srgbClr val="0000FF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发文主题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”加“</a:t>
            </a:r>
            <a:r>
              <a:rPr kumimoji="0" lang="zh-CN" altLang="en-US" sz="2800" b="1" kern="0" dirty="0">
                <a:solidFill>
                  <a:srgbClr val="0000FF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文种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”：基本格式为“</a:t>
            </a:r>
            <a:r>
              <a:rPr kumimoji="0" lang="zh-CN" altLang="en-US" sz="2800" b="1" kern="0" dirty="0">
                <a:solidFill>
                  <a:srgbClr val="0000FF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xx关于xxxx的调查报告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”、“</a:t>
            </a:r>
            <a:r>
              <a:rPr kumimoji="0" lang="zh-CN" altLang="en-US" sz="2800" b="1" kern="0" dirty="0">
                <a:solidFill>
                  <a:srgbClr val="0000FF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关于xxxx的调查报告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”，“</a:t>
            </a:r>
            <a:r>
              <a:rPr kumimoji="0" lang="zh-CN" altLang="en-US" sz="2800" b="1" kern="0" dirty="0">
                <a:solidFill>
                  <a:srgbClr val="0000FF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xxxx调查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”等。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自由式标题，包括陈述式、提问式和正副题结合式：如</a:t>
            </a: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kumimoji="0" lang="zh-CN" altLang="en-US" sz="2800" b="1" kern="0" dirty="0">
                <a:solidFill>
                  <a:srgbClr val="0000FF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电子科大硕士毕业生就业情况调查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kumimoji="0" lang="zh-CN" altLang="en-US" sz="2800" b="1" kern="0" dirty="0">
                <a:solidFill>
                  <a:srgbClr val="0000FF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为什么大学本科毕业生倾向继续深造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”，</a:t>
            </a: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kumimoji="0" lang="zh-CN" altLang="en-US" sz="2800" b="1" kern="0" dirty="0">
                <a:solidFill>
                  <a:srgbClr val="0000FF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高校发展重在学科建设--电子科大电子信息类学科建设实践思考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说明：</a:t>
            </a:r>
            <a:r>
              <a:rPr kumimoji="0" lang="zh-CN" altLang="en-US" sz="2800" b="1" kern="0" dirty="0">
                <a:solidFill>
                  <a:srgbClr val="FF0000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作为公文，建议使用规范化标题或自由式标题中正副题结合式标题。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2800" b="1" kern="0" dirty="0">
              <a:solidFill>
                <a:srgbClr val="FF0000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标题 1"/>
          <p:cNvSpPr/>
          <p:nvPr/>
        </p:nvSpPr>
        <p:spPr>
          <a:xfrm>
            <a:off x="795338" y="912813"/>
            <a:ext cx="8229600" cy="58356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spAutoFit/>
          </a:bodyPr>
          <a:lstStyle/>
          <a:p>
            <a:pPr marL="457200" lvl="0" indent="-457200" algn="l" eaLnBrk="1" hangingPunct="1"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chemeClr val="bg1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调查报告的写法：标题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A53291-2FEB-47BC-9A86-89B2B8DBA634}" type="slidenum">
              <a:rPr kumimoji="0" lang="en-US" altLang="zh-CN" sz="2000" smtClean="0"/>
              <a:t>9</a:t>
            </a:fld>
            <a:endParaRPr kumimoji="0" lang="en-US" altLang="zh-CN" sz="200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44450"/>
            <a:ext cx="6624637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5650" y="1545590"/>
            <a:ext cx="8351838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（2）正文：一般分前言、主体、结尾三部分。</a:t>
            </a:r>
            <a:endParaRPr kumimoji="0" lang="zh-CN" altLang="en-US" sz="2800" kern="0" dirty="0">
              <a:solidFill>
                <a:srgbClr val="0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7405" y="2061210"/>
            <a:ext cx="8335963" cy="483108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引言，起到画龙点睛作用，要精炼概括，直切主题。常有以下几种写法：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写明调查的</a:t>
            </a:r>
            <a:r>
              <a:rPr kumimoji="0" lang="zh-CN" altLang="en-US" sz="2800" b="1" u="sng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起因或目的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、时间和地点、对象或范围、经过与方法，以及人员组成等调查本身的情况，从中引出中心问题或基本结论。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写明</a:t>
            </a:r>
            <a:r>
              <a:rPr kumimoji="0" lang="zh-CN" altLang="en-US" sz="2800" b="1" u="sng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调查对象的历史背景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、大致发展经过、现实状况、主要成绩、突出问题等基本情况，进而提出</a:t>
            </a:r>
            <a:r>
              <a:rPr kumimoji="0" lang="zh-CN" altLang="en-US" sz="2800" b="1" u="sng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中心思想和主要观点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u="sng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开门见山直接概括出调查结果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，如肯定做法，指出问题，提示影响，说明中心内容等。</a:t>
            </a:r>
            <a:endParaRPr kumimoji="0" lang="zh-CN" altLang="en-US" sz="2800" b="1" kern="0" dirty="0">
              <a:solidFill>
                <a:srgbClr val="000000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2800" kern="0">
              <a:solidFill>
                <a:srgbClr val="000000"/>
              </a:solidFill>
            </a:endParaRPr>
          </a:p>
        </p:txBody>
      </p:sp>
      <p:sp>
        <p:nvSpPr>
          <p:cNvPr id="13" name="标题 1"/>
          <p:cNvSpPr/>
          <p:nvPr/>
        </p:nvSpPr>
        <p:spPr>
          <a:xfrm>
            <a:off x="795338" y="835978"/>
            <a:ext cx="8229600" cy="58356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spAutoFit/>
          </a:bodyPr>
          <a:lstStyle/>
          <a:p>
            <a:pPr marL="457200" lvl="0" indent="-457200" algn="l" eaLnBrk="1" hangingPunct="1"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chemeClr val="bg1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调查报告的写法：正文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F36ACA-03DC-455E-A06E-2D6F14D25484}" type="slidenum">
              <a:rPr kumimoji="0" lang="en-US" altLang="zh-CN" sz="2000" smtClean="0"/>
              <a:t>10</a:t>
            </a:fld>
            <a:endParaRPr kumimoji="0" lang="en-US" altLang="zh-CN" sz="200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44450"/>
            <a:ext cx="6624637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7255" y="1509395"/>
            <a:ext cx="8369300" cy="268351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marL="457200" indent="-457200" eaLnBrk="1" hangingPunct="1">
              <a:buFont typeface="Wingdings" panose="05000000000000000000" charset="0"/>
              <a:buChar char="Ø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主体：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这是调查报告最主要的部分，这部分详述调查研究的</a:t>
            </a:r>
            <a:r>
              <a:rPr kumimoji="0" lang="zh-CN" altLang="en-US" sz="2800" b="1" u="sng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基本情况、做法、经验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，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还包括分析调查研究所得材料中得出的各种具体</a:t>
            </a:r>
            <a:r>
              <a:rPr kumimoji="0" lang="zh-CN" altLang="en-US" sz="2800" b="1" u="sng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认识、观点和基本结论</a:t>
            </a: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36625" y="3735705"/>
            <a:ext cx="8393430" cy="263398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结尾：有几种写法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可以提出解决问题的方法，对策或下一步建议；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总结全文的主要观点，进一步深化主题；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提出问题，引发思考；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展望前景，发出鼓舞和号召。</a:t>
            </a:r>
            <a:endParaRPr kumimoji="0" lang="zh-CN" altLang="en-US" sz="2800" kern="0">
              <a:solidFill>
                <a:srgbClr val="000000"/>
              </a:solidFill>
            </a:endParaRPr>
          </a:p>
        </p:txBody>
      </p:sp>
      <p:sp>
        <p:nvSpPr>
          <p:cNvPr id="13" name="标题 1"/>
          <p:cNvSpPr/>
          <p:nvPr/>
        </p:nvSpPr>
        <p:spPr>
          <a:xfrm>
            <a:off x="795338" y="836613"/>
            <a:ext cx="8229600" cy="58356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spAutoFit/>
          </a:bodyPr>
          <a:lstStyle/>
          <a:p>
            <a:pPr marL="457200" lvl="0" indent="-457200" algn="l" eaLnBrk="1" hangingPunct="1"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chemeClr val="bg1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调查报告的写法：正文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56E999-189F-4D78-AD8C-391B3CD040E8}" type="slidenum">
              <a:rPr kumimoji="0" lang="en-US" altLang="zh-CN" sz="2000" smtClean="0"/>
              <a:t>11</a:t>
            </a:fld>
            <a:endParaRPr kumimoji="0" lang="en-US" altLang="zh-CN" sz="200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44450"/>
            <a:ext cx="6624637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/>
          <p:nvPr/>
        </p:nvSpPr>
        <p:spPr>
          <a:xfrm>
            <a:off x="852488" y="908685"/>
            <a:ext cx="8229600" cy="58356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spAutoFit/>
          </a:bodyPr>
          <a:lstStyle/>
          <a:p>
            <a:pPr marL="457200" lvl="0" indent="-457200" algn="l" eaLnBrk="1" hangingPunct="1"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chemeClr val="bg1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实验报告的特点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42950" y="1459230"/>
            <a:ext cx="8223250" cy="58718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（1）正确性：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内容科学，表述真实、质朴，判断恰当。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（2）客观性：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对科学实验的过程和结果的真实记录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虽然也要表明对某些问题的观点和意见，但这些观点和意见都是在客观事实的基础上提出的。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（3）确证性：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记载的实验结果能被任何人所重复和证实。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（4）可读性：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除了文字叙述外，常借助画图像，列表格、作曲线图等文式，说明实验的基本原理和各步骤之间的关系，解释实验结果等。</a:t>
            </a:r>
            <a:endParaRPr kumimoji="0" lang="zh-CN" altLang="en-US" sz="2800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5F4101-179A-4292-B4C4-48091D2F82B7}" type="slidenum">
              <a:rPr kumimoji="0" lang="en-US" altLang="zh-CN" sz="2000" smtClean="0"/>
              <a:t>12</a:t>
            </a:fld>
            <a:endParaRPr kumimoji="0" lang="en-US" altLang="zh-CN" sz="200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44450"/>
            <a:ext cx="6624637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0113" y="2159635"/>
            <a:ext cx="8002587" cy="3968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（1）实验目的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（2）实验原理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（3）实验内容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（4）实验步骤、数据记录及结果分析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（5）实验结论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（6）思考题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（7）总结及心得体会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（8）对本实验过程及方法、手段的改进建议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2800" kern="0">
              <a:solidFill>
                <a:srgbClr val="000000"/>
              </a:solidFill>
            </a:endParaRPr>
          </a:p>
        </p:txBody>
      </p:sp>
      <p:sp>
        <p:nvSpPr>
          <p:cNvPr id="2" name="标题 1"/>
          <p:cNvSpPr/>
          <p:nvPr/>
        </p:nvSpPr>
        <p:spPr>
          <a:xfrm>
            <a:off x="852488" y="908685"/>
            <a:ext cx="8229600" cy="58356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spAutoFit/>
          </a:bodyPr>
          <a:lstStyle/>
          <a:p>
            <a:pPr marL="457200" lvl="0" indent="-457200" algn="l" eaLnBrk="1" hangingPunct="1"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b="1" kern="0" dirty="0">
                <a:solidFill>
                  <a:schemeClr val="bg1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实验报告的写法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32C691-ACC5-4A10-A1AC-4E37267A6B1B}" type="slidenum">
              <a:rPr kumimoji="0" lang="en-US" altLang="zh-CN" sz="2000" smtClean="0"/>
              <a:t>13</a:t>
            </a:fld>
            <a:endParaRPr kumimoji="0" lang="en-US" altLang="zh-CN" sz="200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44450"/>
            <a:ext cx="6624637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6</a:t>
            </a:r>
            <a:r>
              <a:rPr lang="zh-CN" altLang="en-US" sz="4800" b="1" dirty="0">
                <a:solidFill>
                  <a:schemeClr val="tx1"/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  <a:sym typeface="+mn-ea"/>
              </a:rPr>
              <a:t>讲：科技报告写作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8" name="标题 1"/>
          <p:cNvSpPr/>
          <p:nvPr/>
        </p:nvSpPr>
        <p:spPr>
          <a:xfrm>
            <a:off x="914400" y="820738"/>
            <a:ext cx="8229600" cy="58356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lvl="0" indent="-457200" algn="l" eaLnBrk="1" hangingPunct="1"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研究报告：类型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69315" y="1557020"/>
            <a:ext cx="8052435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（1）实证性研究报告：实证性研究报告就是通过对研究对象大量的观察、实验和调查，获取客观材料，从个别到一般，归纳出事物的本质属性和发展规律的一种研究报告。</a:t>
            </a:r>
            <a:endParaRPr kumimoji="0" lang="zh-CN" altLang="en-US" sz="2800" kern="0" dirty="0">
              <a:solidFill>
                <a:srgbClr val="0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56615" y="3371850"/>
            <a:ext cx="803084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（2）文献性研究报告：文献性研究报告主要指通过搜集、鉴别、整理文献，并通过对文献的研究形成对事实的科学认识的方法而撰写的报告。 </a:t>
            </a:r>
            <a:endParaRPr kumimoji="0" lang="zh-CN" altLang="en-US" sz="2800" kern="0" dirty="0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7730" y="4723130"/>
            <a:ext cx="8058785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（3）理论性研究报告：理论性研究报告是指对社会现象、社会生活的内在联系及其规律的研究所形成的报告。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2800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研究报告撰写规范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927735"/>
            <a:ext cx="8173085" cy="620395"/>
          </a:xfrm>
          <a:solidFill>
            <a:schemeClr val="accent6"/>
          </a:solidFill>
          <a:ln w="9525">
            <a:noFill/>
          </a:ln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lvl="0" indent="-457200" algn="l" eaLnBrk="1" hangingPunct="1"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举例：HW公式设计报告模版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89" y="2193131"/>
            <a:ext cx="2406968" cy="35390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525" y="2192973"/>
            <a:ext cx="2479358" cy="3703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156" y="4010978"/>
            <a:ext cx="2705100" cy="16135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280" y="1916430"/>
            <a:ext cx="2981325" cy="1323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9126" y="3534728"/>
            <a:ext cx="2933700" cy="16959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研究报告撰写规范</a:t>
            </a:r>
            <a:r>
              <a:rPr lang="en-US" altLang="zh-CN">
                <a:sym typeface="+mn-ea"/>
              </a:rPr>
              <a:t>(2)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15</a:t>
            </a:fld>
            <a:endParaRPr lang="en-US" altLang="zh-CN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13960" y="1124585"/>
            <a:ext cx="3623310" cy="5327650"/>
          </a:xfrm>
          <a:prstGeom prst="rect">
            <a:avLst/>
          </a:prstGeom>
        </p:spPr>
      </p:pic>
      <p:sp>
        <p:nvSpPr>
          <p:cNvPr id="8" name="标题 1"/>
          <p:cNvSpPr/>
          <p:nvPr/>
        </p:nvSpPr>
        <p:spPr>
          <a:xfrm>
            <a:off x="1043940" y="1196340"/>
            <a:ext cx="3970020" cy="274447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algn="l" eaLnBrk="1" hangingPunct="1">
              <a:buClrTx/>
              <a:buSzTx/>
              <a:buNone/>
              <a:defRPr/>
            </a:pPr>
            <a:r>
              <a:rPr kumimoji="0" lang="zh-CN" altLang="en-US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你如果与另外两名同学合作参加一个竞赛，需要协同负责不同的模块，如何分工呢？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研究报告撰写规范</a:t>
            </a:r>
            <a:r>
              <a:rPr lang="en-US" altLang="zh-CN">
                <a:sym typeface="+mn-ea"/>
              </a:rPr>
              <a:t>(3)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16</a:t>
            </a:fld>
            <a:endParaRPr lang="en-US" altLang="zh-CN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3800" y="1052830"/>
            <a:ext cx="3566795" cy="5327650"/>
          </a:xfrm>
          <a:prstGeom prst="rect">
            <a:avLst/>
          </a:prstGeom>
        </p:spPr>
      </p:pic>
      <p:sp>
        <p:nvSpPr>
          <p:cNvPr id="8" name="标题 1"/>
          <p:cNvSpPr/>
          <p:nvPr/>
        </p:nvSpPr>
        <p:spPr>
          <a:xfrm>
            <a:off x="1043940" y="1196340"/>
            <a:ext cx="3970020" cy="274447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algn="l" eaLnBrk="1" hangingPunct="1">
              <a:buClrTx/>
              <a:buSzTx/>
              <a:buNone/>
              <a:defRPr/>
            </a:pPr>
            <a:r>
              <a:rPr kumimoji="0" lang="zh-CN" altLang="en-US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为什么还需要修订记录？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研究报告撰写规范</a:t>
            </a:r>
            <a:r>
              <a:rPr lang="en-US" altLang="zh-CN">
                <a:sym typeface="+mn-ea"/>
              </a:rPr>
              <a:t>(4)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表目录</a:t>
            </a:r>
          </a:p>
          <a:p>
            <a:r>
              <a:rPr lang="zh-CN" altLang="en-US"/>
              <a:t>图目录</a:t>
            </a:r>
          </a:p>
          <a:p>
            <a:r>
              <a:rPr lang="zh-CN" altLang="en-US"/>
              <a:t>缩略语表</a:t>
            </a: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17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465" y="1124585"/>
            <a:ext cx="4297680" cy="19088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855" y="3284855"/>
            <a:ext cx="4340225" cy="2509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sym typeface="+mn-ea"/>
              </a:rPr>
              <a:t>研究报告撰写规范</a:t>
            </a:r>
            <a:r>
              <a:rPr lang="en-US" altLang="zh-CN">
                <a:sym typeface="+mn-ea"/>
              </a:rPr>
              <a:t>(5)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研究报告的具体结构依据任务而不同</a:t>
            </a:r>
          </a:p>
        </p:txBody>
      </p:sp>
      <p:pic>
        <p:nvPicPr>
          <p:cNvPr id="5" name="内容占位符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0058"/>
            <a:ext cx="2626519" cy="3893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439" y="2071211"/>
            <a:ext cx="2805113" cy="340661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60" y="2227421"/>
            <a:ext cx="2339816" cy="33970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311" y="2071211"/>
            <a:ext cx="2339816" cy="33970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研究报告撰写规范</a:t>
            </a:r>
            <a:r>
              <a:rPr lang="en-US" altLang="zh-CN">
                <a:sym typeface="+mn-ea"/>
              </a:rPr>
              <a:t>(6)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19</a:t>
            </a:fld>
            <a:endParaRPr lang="en-US" altLang="zh-CN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1108075"/>
            <a:ext cx="4387850" cy="5327650"/>
          </a:xfrm>
          <a:prstGeom prst="rect">
            <a:avLst/>
          </a:prstGeom>
        </p:spPr>
      </p:pic>
      <p:sp>
        <p:nvSpPr>
          <p:cNvPr id="8" name="标题 1"/>
          <p:cNvSpPr/>
          <p:nvPr/>
        </p:nvSpPr>
        <p:spPr>
          <a:xfrm>
            <a:off x="1043940" y="1196340"/>
            <a:ext cx="3320415" cy="4270375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algn="l" eaLnBrk="1" hangingPunct="1">
              <a:buClrTx/>
              <a:buSzTx/>
              <a:buNone/>
              <a:defRPr/>
            </a:pPr>
            <a:r>
              <a:rPr kumimoji="0" lang="zh-CN" altLang="en-US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若是软件开发，需要什么结构？</a:t>
            </a:r>
          </a:p>
          <a:p>
            <a:pPr marL="0" lvl="0" indent="0" algn="l" eaLnBrk="1" hangingPunct="1">
              <a:buClrTx/>
              <a:buSzTx/>
              <a:buNone/>
              <a:defRPr/>
            </a:pPr>
            <a:endParaRPr kumimoji="0" lang="zh-CN" altLang="en-US" sz="3200" kern="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 eaLnBrk="1" hangingPunct="1">
              <a:buClrTx/>
              <a:buSzTx/>
              <a:buNone/>
              <a:defRPr/>
            </a:pPr>
            <a:r>
              <a:rPr kumimoji="0" lang="zh-CN" altLang="en-US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若是硬件设计，需要什么结构？</a:t>
            </a:r>
          </a:p>
          <a:p>
            <a:pPr marL="0" lvl="0" indent="0" algn="l" eaLnBrk="1" hangingPunct="1">
              <a:buClrTx/>
              <a:buSzTx/>
              <a:buNone/>
              <a:defRPr/>
            </a:pPr>
            <a:endParaRPr kumimoji="0" lang="zh-CN" altLang="en-US" sz="3200" kern="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lvl="0" indent="0" algn="l" eaLnBrk="1" hangingPunct="1">
              <a:buClrTx/>
              <a:buSzTx/>
              <a:buNone/>
              <a:defRPr/>
            </a:pPr>
            <a:r>
              <a:rPr kumimoji="0" lang="zh-CN" altLang="en-US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若是实验测试，需要记录什么？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范</a:t>
            </a:r>
            <a:r>
              <a:rPr lang="zh-CN" altLang="en-US">
                <a:sym typeface="+mn-ea"/>
              </a:rPr>
              <a:t>研究报告撰写规范</a:t>
            </a:r>
            <a:r>
              <a:rPr lang="en-US" altLang="zh-CN">
                <a:sym typeface="+mn-ea"/>
              </a:rPr>
              <a:t>(7)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举例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86" y="2209324"/>
            <a:ext cx="7809548" cy="3597116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914400" y="2693194"/>
            <a:ext cx="1972151" cy="1147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3GPP</a:t>
            </a:r>
            <a:r>
              <a:rPr lang="zh-CN" altLang="en-US"/>
              <a:t>的标准制订与提案撰写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5G</a:t>
            </a:r>
            <a:r>
              <a:rPr lang="zh-CN" altLang="en-US"/>
              <a:t>标准如何制订的呢？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21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2275205"/>
            <a:ext cx="6286500" cy="35839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98525" y="5871210"/>
            <a:ext cx="81838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dirty="0"/>
              <a:t>https://www.qualcomm.com/news/onq/2017/08/02/understanding-3gpp-starting-basics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82675" y="1494790"/>
            <a:ext cx="8033385" cy="645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800"/>
              <a:t>https://www.qualcomm.com/news/onq/2017/08/02/demystifying-3gpp-insiders-perspective-how-4g-and-5g-standards-get-created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3GPP</a:t>
            </a:r>
            <a:r>
              <a:rPr lang="zh-CN" altLang="en-US">
                <a:sym typeface="+mn-ea"/>
              </a:rPr>
              <a:t>的标准制订与提案撰写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22</a:t>
            </a:fld>
            <a:endParaRPr lang="en-US" altLang="zh-CN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835" y="3068955"/>
            <a:ext cx="8070215" cy="36461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95" y="981075"/>
            <a:ext cx="7460615" cy="1964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3GPP</a:t>
            </a:r>
            <a:r>
              <a:rPr lang="zh-CN" altLang="en-US">
                <a:sym typeface="+mn-ea"/>
              </a:rPr>
              <a:t>的标准制订与提案撰写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23</a:t>
            </a:fld>
            <a:endParaRPr lang="en-US" altLang="zh-CN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040" y="1844675"/>
            <a:ext cx="7934325" cy="40201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71550" y="6016625"/>
            <a:ext cx="81648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/>
              <a:t>https://www.qualcomm.com/news/onq/2017/08/02/understanding-3gpp-starting-basics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708660" y="1195070"/>
            <a:ext cx="8173085" cy="4848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3GPP</a:t>
            </a:r>
            <a:r>
              <a:rPr lang="zh-CN" altLang="en-US"/>
              <a:t>标准制订的流程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3GPP</a:t>
            </a:r>
            <a:r>
              <a:rPr lang="zh-CN" altLang="en-US">
                <a:sym typeface="+mn-ea"/>
              </a:rPr>
              <a:t>的标准制订与提案撰写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24</a:t>
            </a:fld>
            <a:endParaRPr lang="en-US" altLang="zh-CN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550" y="1640205"/>
            <a:ext cx="8197850" cy="45783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1550" y="6218555"/>
            <a:ext cx="78606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/>
              <a:t>https://www.qualcomm.com/news/onq/2017/08/02/top-5-drawbacks-contribution-counting-3gpp-dont-count-it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708660" y="1195070"/>
            <a:ext cx="8173085" cy="4848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8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3GPP</a:t>
            </a:r>
            <a:r>
              <a:rPr lang="zh-CN" altLang="en-US"/>
              <a:t>标准制订规范与产品研发的关系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3GPP</a:t>
            </a:r>
            <a:r>
              <a:rPr lang="zh-CN" altLang="en-US"/>
              <a:t>技术提案的模版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3GPP</a:t>
            </a:r>
            <a:r>
              <a:rPr lang="zh-CN" altLang="en-US"/>
              <a:t>技术报告的模版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41" y="1124744"/>
            <a:ext cx="3619024" cy="52301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3GPP</a:t>
            </a:r>
            <a:r>
              <a:rPr lang="zh-CN" altLang="en-US"/>
              <a:t>的技术规范（</a:t>
            </a:r>
            <a:r>
              <a:rPr lang="en-US" altLang="zh-CN"/>
              <a:t>TS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927735"/>
            <a:ext cx="8173085" cy="56737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/>
              <a:t>技术规范是最终成果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1、每个规范的制定都是基于数百个提交的提案；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2、每个提案都至少有一位报告人（编辑者和管理者），遵循工作组的指导；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3、特定的技术规范组负责在季度会议上对功能稳定的规范进行冻结；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4、下游制造商再利用技术规范进行产品开发。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5、每个技术规范都有一个五位数字的标识号，该识别号将规范分类至有意义的技术类别——前几位基本代表了它是3G、4G还是5G相关，中间几位代表它属于哪个层（比如物理层是211、212等等）。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6、每个技术规范都特别的详细，因此技术规范的文档会非常长，有的时候技术内容太多一个文档无法承载，甚至需要分成几个部分。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3GPP</a:t>
            </a:r>
            <a:r>
              <a:rPr lang="zh-CN" altLang="en-US"/>
              <a:t>的</a:t>
            </a:r>
            <a:r>
              <a:rPr lang="en-US" altLang="zh-CN"/>
              <a:t>Release</a:t>
            </a:r>
            <a:r>
              <a:rPr lang="zh-CN" altLang="en-US"/>
              <a:t>是什么意思？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2320" y="825500"/>
            <a:ext cx="8370570" cy="559689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/>
              <a:t>3GPP通过Release（版本）将最新的技术特性引入到蜂窝系统，保证技术在一定时期内能够满足市场需求。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根据预期完成的时间，Release到了某个规定的时间点就会冻结，冻结后就不大可能再引入新的特性了，但是可以进行一些小修小补。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通常，某一个时间段并非仅针对一个Release进行工作，因为之前完成的Release可能还需要进一步改正、完善和更新，同时未完成的Release需要继续完成，因此多个Release的不同阶段工作都是交错推进、并行展开的。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 当前，3GPP正在推进的是Release 1</a:t>
            </a:r>
            <a:r>
              <a:rPr lang="en-US" altLang="zh-CN" sz="2800"/>
              <a:t>9</a:t>
            </a:r>
            <a:r>
              <a:rPr lang="zh-CN" altLang="en-US" sz="280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27</a:t>
            </a:fld>
            <a:endParaRPr lang="en-US" altLang="zh-CN"/>
          </a:p>
        </p:txBody>
      </p:sp>
      <p:sp>
        <p:nvSpPr>
          <p:cNvPr id="8" name="标题 1"/>
          <p:cNvSpPr/>
          <p:nvPr/>
        </p:nvSpPr>
        <p:spPr>
          <a:xfrm>
            <a:off x="817880" y="5746115"/>
            <a:ext cx="7891145" cy="64008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algn="l" eaLnBrk="1" hangingPunct="1">
              <a:buClrTx/>
              <a:buSzTx/>
              <a:buNone/>
              <a:defRPr/>
            </a:pPr>
            <a:r>
              <a:rPr kumimoji="0" lang="zh-CN" altLang="en-US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在哪里下载查阅</a:t>
            </a:r>
            <a:r>
              <a:rPr kumimoji="0" lang="en-US" altLang="zh-CN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4G/5G</a:t>
            </a:r>
            <a:r>
              <a:rPr kumimoji="0" lang="zh-CN" altLang="en-US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的技术标准呢？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3GPP FAQ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https://www.3gpp.org/about-3gpp/3gpp-faqs</a:t>
            </a:r>
          </a:p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D4FD8C-102E-4513-8292-E315F57F4DCF}" type="slidenum">
              <a:rPr lang="en-US" altLang="zh-CN"/>
              <a:t>28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1917065"/>
            <a:ext cx="7974330" cy="451294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标准提案撰写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我国通信标准委员会</a:t>
            </a:r>
          </a:p>
          <a:p>
            <a:r>
              <a:rPr lang="en-US" altLang="zh-CN"/>
              <a:t>CCSA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1988820"/>
            <a:ext cx="2477770" cy="31610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87675" y="1340485"/>
            <a:ext cx="5384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http://www.ccsa.org.cn/detail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20" y="2060575"/>
            <a:ext cx="6062980" cy="2638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举例：如何参与标准制定？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举例：工业和信息化部办公厅关于印发2020年第一批行业标准制修订项目计划的通知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2276475"/>
            <a:ext cx="7651115" cy="4100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标准：最重要的成果之一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368" y="1781651"/>
            <a:ext cx="7505700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05" y="135096"/>
            <a:ext cx="8320088" cy="845820"/>
          </a:xfrm>
        </p:spPr>
        <p:txBody>
          <a:bodyPr/>
          <a:lstStyle/>
          <a:p>
            <a:r>
              <a:rPr lang="zh-CN" altLang="en-US"/>
              <a:t>可以个人参与的国际标准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/>
              <a:t>IEEE</a:t>
            </a:r>
            <a:r>
              <a:rPr lang="zh-CN" altLang="en-US" sz="2800"/>
              <a:t>标准化委员会（</a:t>
            </a:r>
            <a:r>
              <a:rPr lang="en-US" altLang="zh-CN" sz="2800"/>
              <a:t>SA</a:t>
            </a:r>
            <a:r>
              <a:rPr lang="zh-CN" altLang="en-US" sz="2800"/>
              <a:t>）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459" y="1778318"/>
            <a:ext cx="3067050" cy="3938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865" y="1287304"/>
            <a:ext cx="3095625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如何参与</a:t>
            </a:r>
            <a:r>
              <a:rPr lang="en-US" altLang="zh-CN"/>
              <a:t>IEEE</a:t>
            </a:r>
            <a:r>
              <a:rPr lang="zh-CN" altLang="en-US"/>
              <a:t>标准制订？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/>
              <a:t>IEEE</a:t>
            </a:r>
            <a:r>
              <a:rPr lang="zh-CN" altLang="en-US" sz="3200"/>
              <a:t>标准制订流程</a:t>
            </a:r>
          </a:p>
          <a:p>
            <a:pPr lvl="1"/>
            <a:r>
              <a:rPr lang="zh-CN" altLang="en-US" sz="2800"/>
              <a:t>加入IEEE SA 标准工作组</a:t>
            </a:r>
          </a:p>
          <a:p>
            <a:pPr lvl="1"/>
            <a:r>
              <a:rPr lang="zh-CN" altLang="en-US" sz="2800"/>
              <a:t>发起标准项目</a:t>
            </a:r>
          </a:p>
          <a:p>
            <a:pPr lvl="1"/>
            <a:r>
              <a:rPr lang="zh-CN" altLang="en-US" sz="2800"/>
              <a:t>建立正式工作组</a:t>
            </a:r>
          </a:p>
          <a:p>
            <a:pPr lvl="1"/>
            <a:r>
              <a:rPr lang="zh-CN" altLang="en-US" sz="2800"/>
              <a:t>召开有效和高效的会议，拟定标准草案</a:t>
            </a:r>
          </a:p>
          <a:p>
            <a:pPr lvl="1"/>
            <a:r>
              <a:rPr lang="zh-CN" altLang="en-US" sz="2800"/>
              <a:t>编辑过程</a:t>
            </a:r>
          </a:p>
          <a:p>
            <a:pPr lvl="1"/>
            <a:r>
              <a:rPr lang="zh-CN" altLang="en-US" sz="2800"/>
              <a:t>IEEE-SA 对标准投票</a:t>
            </a:r>
          </a:p>
          <a:p>
            <a:pPr lvl="1"/>
            <a:r>
              <a:rPr lang="zh-CN" altLang="en-US" sz="2800"/>
              <a:t>最终批准和出版</a:t>
            </a:r>
          </a:p>
          <a:p>
            <a:pPr lvl="1"/>
            <a:r>
              <a:rPr lang="zh-CN" altLang="en-US" sz="2800"/>
              <a:t>维护和更改标准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33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790" y="1125220"/>
            <a:ext cx="3095625" cy="17564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07635" y="908685"/>
            <a:ext cx="393382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zh-CN" altLang="en-US" sz="1600"/>
              <a:t>https://standards.ieee.org/develop/index.html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国家标准查询数据库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国家标准馆，中国标准化研究院</a:t>
            </a:r>
          </a:p>
          <a:p>
            <a:r>
              <a:rPr lang="zh-CN" altLang="en-US"/>
              <a:t>https://www.nssi.org.cn/nssi/front/84575083.html</a:t>
            </a:r>
          </a:p>
          <a:p>
            <a:pPr lvl="1"/>
            <a:r>
              <a:rPr lang="en-US" altLang="zh-CN"/>
              <a:t>PDT</a:t>
            </a:r>
            <a:r>
              <a:rPr lang="zh-CN" altLang="en-US"/>
              <a:t>标准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34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39565" y="1911350"/>
            <a:ext cx="417195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国家制定的行业标准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标准下载与查询网址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3F876-A004-4157-8DFA-8947287857F1}" type="slidenum">
              <a:rPr lang="en-US" altLang="zh-CN"/>
              <a:t>35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33035" y="1033145"/>
            <a:ext cx="3366135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sym typeface="+mn-ea"/>
              </a:rPr>
              <a:t>白皮书的撰写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305" y="1700371"/>
            <a:ext cx="2747010" cy="38938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804" y="1648301"/>
            <a:ext cx="2514600" cy="3848100"/>
          </a:xfrm>
          <a:prstGeom prst="rect">
            <a:avLst/>
          </a:prstGeom>
        </p:spPr>
      </p:pic>
      <p:sp>
        <p:nvSpPr>
          <p:cNvPr id="8" name="标题 1"/>
          <p:cNvSpPr/>
          <p:nvPr/>
        </p:nvSpPr>
        <p:spPr>
          <a:xfrm>
            <a:off x="827405" y="1008380"/>
            <a:ext cx="7891145" cy="64008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algn="l" eaLnBrk="1" hangingPunct="1">
              <a:buClrTx/>
              <a:buSzTx/>
              <a:buNone/>
              <a:defRPr/>
            </a:pPr>
            <a:r>
              <a:rPr kumimoji="0" lang="zh-CN" sz="3200" kern="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什么是白皮书？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ACB23A-5741-7C3D-525B-B7C92DFF7387}"/>
              </a:ext>
            </a:extLst>
          </p:cNvPr>
          <p:cNvSpPr txBox="1"/>
          <p:nvPr/>
        </p:nvSpPr>
        <p:spPr>
          <a:xfrm>
            <a:off x="888092" y="5646102"/>
            <a:ext cx="8076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白皮书是一个多功能的概念，其核心是一种权威性的报告或指南，旨在简明扼要地阐述一个复杂的问题，并通常旨在提出解决问题的方案或推介特定的政策、技术或观点。</a:t>
            </a:r>
          </a:p>
        </p:txBody>
      </p:sp>
    </p:spTree>
    <p:extLst>
      <p:ext uri="{BB962C8B-B14F-4D97-AF65-F5344CB8AC3E}">
        <p14:creationId xmlns:p14="http://schemas.microsoft.com/office/powerpoint/2010/main" val="83972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b85ce1b-b486-44fe-9a6d-955cce492572"/>
  <p:tag name="COMMONDATA" val="eyJoZGlkIjoiZGE2Mjg2YTZkZTMyMTYwY2M1OTQ5YzJlN2MyYmRj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069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069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77604_1"/>
  <p:tag name="KSO_WM_TEMPLATE_CATEGORY" val="custom"/>
  <p:tag name="KSO_WM_TEMPLATE_INDEX" val="20180699"/>
  <p:tag name="KSO_WM_TEMPLATE_SUBCATEGORY" val="0"/>
  <p:tag name="KSO_WM_TEMPLATE_THUMBS_INDEX" val="1、4、5、6、11、12、16、18、26、27、"/>
  <p:tag name="KSO_WM_TEMPLATE_MASTER_TYPE" val="1"/>
  <p:tag name="KSO_WM_TEMPLATE_COLOR_TYPE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f1772362-d663-4dc8-bf7a-d9b263158952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0"/>
  <p:tag name="KSO_WM_SLIDE_LAYOUT" val="a_b"/>
  <p:tag name="KSO_WM_SLIDE_LAYOUT_CNT" val="1_1"/>
  <p:tag name="KSO_WM_SLIDE_TYPE" val="title"/>
  <p:tag name="KSO_WM_BEAUTIFY_FLAG" val="#wm#"/>
  <p:tag name="KSO_WM_COMBINE_RELATE_SLIDE_ID" val="background20177604_1"/>
  <p:tag name="KSO_WM_TEMPLATE_CATEGORY" val="custom"/>
  <p:tag name="KSO_WM_TEMPLATE_INDEX" val="20180699"/>
  <p:tag name="KSO_WM_SLIDE_ID" val="custom20180699_1"/>
  <p:tag name="KSO_WM_SLIDE_INDEX" val="1"/>
  <p:tag name="KSO_WM_TEMPLATE_SUBCATEGORY" val="0"/>
  <p:tag name="KSO_WM_TEMPLATE_THUMBS_INDEX" val="1、4、5、6、11、12、16、18、26、27、"/>
  <p:tag name="KSO_WM_TEMPLATE_MASTER_TYPE" val="1"/>
  <p:tag name="KSO_WM_TEMPLATE_COLOR_TYPE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6"/>
  <p:tag name="KSO_WM_UNIT_TYPE" val="b"/>
  <p:tag name="KSO_WM_UNIT_INDEX" val="1"/>
  <p:tag name="KSO_WM_UNIT_PRESET_TEXT" val="单击此处添加副标题内容"/>
  <p:tag name="KSO_WM_TEMPLATE_CATEGORY" val="custom"/>
  <p:tag name="KSO_WM_TEMPLATE_INDEX" val="20204735"/>
  <p:tag name="KSO_WM_UNIT_ID" val="custom20204735_1*b*1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"/>
  <p:tag name="KSO_WM_TEMPLATE_CATEGORY" val="custom"/>
  <p:tag name="KSO_WM_TEMPLATE_INDEX" val="20180699"/>
  <p:tag name="KSO_WM_UNIT_TYPE" val="b"/>
  <p:tag name="KSO_WM_UNIT_INDEX" val="1"/>
  <p:tag name="KSO_WM_UNIT_LAYERLEVEL" val="1"/>
  <p:tag name="KSO_WM_UNIT_VALUE" val="52"/>
  <p:tag name="KSO_WM_UNIT_ISCONTENTSTITLE" val="0"/>
  <p:tag name="KSO_WM_UNIT_HIGHLIGHT" val="0"/>
  <p:tag name="KSO_WM_UNIT_COMPATIBLE" val="0"/>
  <p:tag name="KSO_WM_UNIT_PRESET_TEXT_INDEX" val="4"/>
  <p:tag name="KSO_WM_UNIT_PRESET_TEXT_LEN" val="57"/>
  <p:tag name="KSO_WM_UNIT_ID" val="custom20180699_1*b*1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4"/>
  <p:tag name="KSO_WM_UNIT_TEXT_FILL_TYP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"/>
  <p:tag name="KSO_WM_TEMPLATE_CATEGORY" val="custom"/>
  <p:tag name="KSO_WM_TEMPLATE_INDEX" val="20180699"/>
  <p:tag name="KSO_WM_UNIT_TYPE" val="a"/>
  <p:tag name="KSO_WM_UNIT_INDEX" val="1"/>
  <p:tag name="KSO_WM_UNIT_LAYERLEVEL" val="1"/>
  <p:tag name="KSO_WM_UNIT_VALUE" val="11"/>
  <p:tag name="KSO_WM_UNIT_ISCONTENTSTITLE" val="0"/>
  <p:tag name="KSO_WM_UNIT_HIGHLIGHT" val="0"/>
  <p:tag name="KSO_WM_UNIT_COMPATIBLE" val="0"/>
  <p:tag name="KSO_WM_UNIT_ID" val="custom20180699_1*a*1"/>
  <p:tag name="KSO_WM_UNIT_PRESET_TEXT" val="科技风深蓝色计划书"/>
  <p:tag name="KSO_WM_UNIT_ISNUMDGMTITLE" val="0"/>
  <p:tag name="KSO_WM_UNIT_NOCLEAR" val="0"/>
  <p:tag name="KSO_WM_UNIT_DIAGRAM_ISNUMVISUAL" val="0"/>
  <p:tag name="KSO_WM_UNIT_DIAGRAM_ISREFERUNIT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f1772362-d663-4dc8-bf7a-d9b263158952}"/>
  <p:tag name="KSO_WM_UNIT_TYPE" val="i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e618c8a-eafc-4121-83d3-47f11163acc9}"/>
  <p:tag name="TABLE_ENDDRAG_ORIGIN_RECT" val="700*413"/>
  <p:tag name="TABLE_ENDDRAG_RECT" val="19*65*700*414"/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12496062992125,&quot;left&quot;:57.12503937007874,&quot;top&quot;:116.87503937007872,&quot;width&quot;:663.5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12496062992125,&quot;left&quot;:57.12503937007874,&quot;top&quot;:116.87503937007872,&quot;width&quot;:663.5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12496062992125,&quot;left&quot;:57.12503937007874,&quot;top&quot;:116.87503937007872,&quot;width&quot;:663.5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12496062992125,&quot;left&quot;:57.12503937007874,&quot;top&quot;:116.87503937007872,&quot;width&quot;:663.5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390,&quot;width&quot;:5706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Notebook">
  <a:themeElements>
    <a:clrScheme name="Notebook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Notebook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otebook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20180699">
      <a:dk1>
        <a:srgbClr val="404040"/>
      </a:dk1>
      <a:lt1>
        <a:srgbClr val="FFFFFF"/>
      </a:lt1>
      <a:dk2>
        <a:srgbClr val="ECECEC"/>
      </a:dk2>
      <a:lt2>
        <a:srgbClr val="FFFFFF"/>
      </a:lt2>
      <a:accent1>
        <a:srgbClr val="FFC000"/>
      </a:accent1>
      <a:accent2>
        <a:srgbClr val="E2C85F"/>
      </a:accent2>
      <a:accent3>
        <a:srgbClr val="BDCF95"/>
      </a:accent3>
      <a:accent4>
        <a:srgbClr val="92CCB7"/>
      </a:accent4>
      <a:accent5>
        <a:srgbClr val="68BFC6"/>
      </a:accent5>
      <a:accent6>
        <a:srgbClr val="00B2D5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Designs\Notebook.pot</Template>
  <TotalTime>31</TotalTime>
  <Words>3950</Words>
  <Application>Microsoft Office PowerPoint</Application>
  <PresentationFormat>全屏显示(4:3)</PresentationFormat>
  <Paragraphs>235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方正粗黑宋简体</vt:lpstr>
      <vt:lpstr>方正楷体_GB2312</vt:lpstr>
      <vt:lpstr>黑体</vt:lpstr>
      <vt:lpstr>楷体</vt:lpstr>
      <vt:lpstr>宋体</vt:lpstr>
      <vt:lpstr>Arial</vt:lpstr>
      <vt:lpstr>Times New Roman</vt:lpstr>
      <vt:lpstr>Wingdings</vt:lpstr>
      <vt:lpstr>微软雅黑</vt:lpstr>
      <vt:lpstr>1_Notebook</vt:lpstr>
      <vt:lpstr>3_Office 主题​​</vt:lpstr>
      <vt:lpstr>  《专业写作基础》 第4讲 科技报告写作与范文讲解 </vt:lpstr>
      <vt:lpstr>课时安排与节点要求</vt:lpstr>
      <vt:lpstr>第6讲：科技报告写作</vt:lpstr>
      <vt:lpstr>第6讲：科技报告写作</vt:lpstr>
      <vt:lpstr>第6讲：科技报告写作</vt:lpstr>
      <vt:lpstr>第6讲：科技报告写作</vt:lpstr>
      <vt:lpstr>PowerPoint 演示文稿</vt:lpstr>
      <vt:lpstr>第6讲：科技报告写作</vt:lpstr>
      <vt:lpstr>第6讲：科技报告写作</vt:lpstr>
      <vt:lpstr>第6讲：科技报告写作</vt:lpstr>
      <vt:lpstr>第6讲：科技报告写作</vt:lpstr>
      <vt:lpstr>第6讲：科技报告写作</vt:lpstr>
      <vt:lpstr>第6讲：科技报告写作</vt:lpstr>
      <vt:lpstr>研究报告撰写规范</vt:lpstr>
      <vt:lpstr>研究报告撰写规范(2)</vt:lpstr>
      <vt:lpstr>研究报告撰写规范(3)</vt:lpstr>
      <vt:lpstr>研究报告撰写规范(4)</vt:lpstr>
      <vt:lpstr>研究报告撰写规范(5)</vt:lpstr>
      <vt:lpstr>研究报告撰写规范(6)</vt:lpstr>
      <vt:lpstr>范研究报告撰写规范(7)</vt:lpstr>
      <vt:lpstr>3GPP的标准制订与提案撰写</vt:lpstr>
      <vt:lpstr>3GPP的标准制订与提案撰写</vt:lpstr>
      <vt:lpstr>3GPP的标准制订与提案撰写</vt:lpstr>
      <vt:lpstr>3GPP的标准制订与提案撰写</vt:lpstr>
      <vt:lpstr>3GPP技术提案的模版</vt:lpstr>
      <vt:lpstr>3GPP的技术规范（TS）</vt:lpstr>
      <vt:lpstr>3GPP的Release是什么意思？</vt:lpstr>
      <vt:lpstr>3GPP FAQ</vt:lpstr>
      <vt:lpstr>标准提案撰写</vt:lpstr>
      <vt:lpstr>举例：如何参与标准制定？</vt:lpstr>
      <vt:lpstr>标准：最重要的成果之一</vt:lpstr>
      <vt:lpstr>可以个人参与的国际标准</vt:lpstr>
      <vt:lpstr>如何参与IEEE标准制订？</vt:lpstr>
      <vt:lpstr>国家标准查询数据库</vt:lpstr>
      <vt:lpstr>国家制定的行业标准</vt:lpstr>
      <vt:lpstr>白皮书的撰写</vt:lpstr>
    </vt:vector>
  </TitlesOfParts>
  <Company>dna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电子系统RF与天线</dc:title>
  <dc:creator>yyw</dc:creator>
  <cp:lastModifiedBy>Jiang Wu</cp:lastModifiedBy>
  <cp:revision>878</cp:revision>
  <dcterms:created xsi:type="dcterms:W3CDTF">2005-02-24T04:03:00Z</dcterms:created>
  <dcterms:modified xsi:type="dcterms:W3CDTF">2026-10-19T03:45:51Z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AA8AA0B6B5DD44498CAA86539901644B</vt:lpwstr>
  </property>
  <property fmtid="{D5CDD505-2E9C-101B-9397-08002B2CF9AE}" pid="3" name="KSOProductBuildVer">
    <vt:lpwstr>2052-12.1.0.18608</vt:lpwstr>
  </property>
  <property fmtid="{D5CDD505-2E9C-101B-9397-08002B2CF9AE}" pid="4" name="KSOSaveFontToCloudKey">
    <vt:lpwstr>13076337_cloud</vt:lpwstr>
  </property>
</Properties>
</file>